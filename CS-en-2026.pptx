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37" d="100"/>
          <a:sy n="137" d="100"/>
        </p:scale>
        <p:origin x="786" y="120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472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413601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F575FF-52D4-4730-8717-35E97D7F905E}" type="datetimeFigureOut">
              <a:rPr lang="en-US"/>
              <a:t>9/23/2025</a:t>
            </a:fld>
            <a:endParaRPr lang="en-US"/>
          </a:p>
        </p:txBody>
      </p:sp>
      <p:sp>
        <p:nvSpPr>
          <p:cNvPr id="50221751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53446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2557861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06507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6F37C4-3687-400D-BA5B-00C7165BEF3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71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732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889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854C87-9500-910A-E817-A210A540BB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8D8C68-B671-5FCB-1014-D8FF3DBC0D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0A4FB8-CC5E-4308-8634-D0E3AB5DB6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26A6F2-CA53-C7E9-D22A-50810EC69C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2239C9-A395-3490-33C2-4DB05DA8B8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006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2356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905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4C3986-BA73-FD47-DF76-1F70DF73E8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80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92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8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EF8D1E-B13A-BA95-84BE-B9E304548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686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6921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105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69791A-95B9-EDF5-23F0-EC10BF7E89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78FBB4-7F45-7938-5C4D-AB1E2489AC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670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4321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564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361009-8560-09FC-1670-3595AD52BD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F9D26F-F1E2-5B18-48F1-01C57FDF8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0CB387-126F-F054-889F-85FE9C489D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5DBDA5-0133-B57F-8ED8-657ED80086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329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372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487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BDB388-C816-A306-8D05-CD877260C3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55B2C7-2996-A19B-CE85-47B93EAF30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806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132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698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9F3E4-3114-E521-6046-901BC1B7CA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096123" name="Title 13"/>
          <p:cNvSpPr>
            <a:spLocks noGrp="1"/>
          </p:cNvSpPr>
          <p:nvPr>
            <p:ph type="ctrTitle"/>
          </p:nvPr>
        </p:nvSpPr>
        <p:spPr bwMode="auto"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91995550" name="Subtitle 21"/>
          <p:cNvSpPr>
            <a:spLocks noGrp="1"/>
          </p:cNvSpPr>
          <p:nvPr>
            <p:ph type="subTitle" idx="1"/>
          </p:nvPr>
        </p:nvSpPr>
        <p:spPr bwMode="auto"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59927576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341449495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9331663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957039631" name="Oval 7"/>
          <p:cNvSpPr/>
          <p:nvPr/>
        </p:nvSpPr>
        <p:spPr bwMode="auto"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08733589" name="Oval 8"/>
          <p:cNvSpPr/>
          <p:nvPr/>
        </p:nvSpPr>
        <p:spPr bwMode="auto"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90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578897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04103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7385302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0068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339545" name="Rectangle 6"/>
          <p:cNvSpPr/>
          <p:nvPr/>
        </p:nvSpPr>
        <p:spPr bwMode="auto"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8757315" name="Title 1"/>
          <p:cNvSpPr>
            <a:spLocks noGrp="1"/>
          </p:cNvSpPr>
          <p:nvPr>
            <p:ph type="title"/>
          </p:nvPr>
        </p:nvSpPr>
        <p:spPr bwMode="auto"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90533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12876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4732622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2166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85638354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2705264" name="Oval 7"/>
          <p:cNvSpPr/>
          <p:nvPr/>
        </p:nvSpPr>
        <p:spPr bwMode="auto"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/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96786520" name="Oval 8"/>
          <p:cNvSpPr/>
          <p:nvPr/>
        </p:nvSpPr>
        <p:spPr bwMode="auto"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134716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231138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12155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83906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4410125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91963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75157" name="Title 1"/>
          <p:cNvSpPr>
            <a:spLocks noGrp="1"/>
          </p:cNvSpPr>
          <p:nvPr>
            <p:ph type="title"/>
          </p:nvPr>
        </p:nvSpPr>
        <p:spPr bwMode="auto"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07763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456111" name="Text Placeholder 3"/>
          <p:cNvSpPr>
            <a:spLocks noGrp="1"/>
          </p:cNvSpPr>
          <p:nvPr>
            <p:ph type="body" sz="half" idx="3"/>
          </p:nvPr>
        </p:nvSpPr>
        <p:spPr bwMode="auto">
          <a:xfrm>
            <a:off x="4663440" y="246209"/>
            <a:ext cx="4023360" cy="480060"/>
          </a:xfrm>
          <a:prstGeom prst="rect">
            <a:avLst/>
          </a:prstGeo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1647264" name="Content Placeholder 4"/>
          <p:cNvSpPr>
            <a:spLocks noGrp="1"/>
          </p:cNvSpPr>
          <p:nvPr>
            <p:ph sz="quarter" idx="2"/>
          </p:nvPr>
        </p:nvSpPr>
        <p:spPr bwMode="auto">
          <a:xfrm>
            <a:off x="45720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053546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63440" y="727002"/>
            <a:ext cx="4023360" cy="3086100"/>
          </a:xfrm>
          <a:prstGeom prst="rect">
            <a:avLst/>
          </a:prstGeo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074327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398236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321181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997371" name="Title 1"/>
          <p:cNvSpPr>
            <a:spLocks noGrp="1"/>
          </p:cNvSpPr>
          <p:nvPr>
            <p:ph type="title"/>
          </p:nvPr>
        </p:nvSpPr>
        <p:spPr bwMode="auto">
          <a:xfrm>
            <a:off x="1435608" y="205740"/>
            <a:ext cx="7498080" cy="857250"/>
          </a:xfrm>
        </p:spPr>
        <p:txBody>
          <a:bodyPr anchor="ctr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195108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9448703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9012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366686" name="Rectangle 4"/>
          <p:cNvSpPr/>
          <p:nvPr/>
        </p:nvSpPr>
        <p:spPr bwMode="auto"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607188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847441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48881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782844961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64722" name="Title 1"/>
          <p:cNvSpPr>
            <a:spLocks noGrp="1"/>
          </p:cNvSpPr>
          <p:nvPr>
            <p:ph type="title"/>
          </p:nvPr>
        </p:nvSpPr>
        <p:spPr bwMode="auto">
          <a:xfrm>
            <a:off x="457200" y="162583"/>
            <a:ext cx="3810000" cy="871538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61417310" name="Text Placeholder 2"/>
          <p:cNvSpPr>
            <a:spLocks noGrp="1"/>
          </p:cNvSpPr>
          <p:nvPr>
            <p:ph type="body" idx="2"/>
          </p:nvPr>
        </p:nvSpPr>
        <p:spPr bwMode="auto"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4606677" name="Content Placeholder 3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8153399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04927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6489698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18113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121669" name="Title 1"/>
          <p:cNvSpPr>
            <a:spLocks noGrp="1"/>
          </p:cNvSpPr>
          <p:nvPr>
            <p:ph type="title"/>
          </p:nvPr>
        </p:nvSpPr>
        <p:spPr bwMode="auto"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413033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392597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88460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1928905061" name="Rectangle 7"/>
          <p:cNvSpPr/>
          <p:nvPr/>
        </p:nvSpPr>
        <p:spPr bwMode="auto"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</p:spPr>
        <p:txBody>
          <a:bodyPr lIns="91440" tIns="274320" rtlCol="0" anchor="t">
            <a:normAutofit/>
          </a:bodyPr>
          <a:lstStyle/>
          <a:p>
            <a:pPr marL="0" indent="-283464" algn="l" rtl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8131312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2745235" name="Flowchart: Process 8"/>
          <p:cNvSpPr/>
          <p:nvPr/>
        </p:nvSpPr>
        <p:spPr bwMode="auto"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5715699" name="Flowchart: Process 9"/>
          <p:cNvSpPr/>
          <p:nvPr/>
        </p:nvSpPr>
        <p:spPr bwMode="auto">
          <a:xfrm rot="2103353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63158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2854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868836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9391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1899091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250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52513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858000" y="205980"/>
            <a:ext cx="1828800" cy="438864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93672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43000" y="205980"/>
            <a:ext cx="5562600" cy="438864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8442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20676243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893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30435" name="Pie 6"/>
          <p:cNvSpPr/>
          <p:nvPr/>
        </p:nvSpPr>
        <p:spPr bwMode="auto"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6716650" name="Oval 7"/>
          <p:cNvSpPr/>
          <p:nvPr/>
        </p:nvSpPr>
        <p:spPr bwMode="auto"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5734887" name="Donut 10"/>
          <p:cNvSpPr/>
          <p:nvPr/>
        </p:nvSpPr>
        <p:spPr bwMode="auto">
          <a:xfrm rot="2315675">
            <a:off x="182882" y="791308"/>
            <a:ext cx="1125717" cy="826968"/>
          </a:xfrm>
          <a:prstGeom prst="donut">
            <a:avLst>
              <a:gd name="adj" fmla="val 11833"/>
            </a:avLst>
          </a:prstGeom>
          <a:gradFill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/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0915032" name="Rectangle 11"/>
          <p:cNvSpPr/>
          <p:nvPr/>
        </p:nvSpPr>
        <p:spPr bwMode="auto">
          <a:xfrm>
            <a:off x="1012874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220316" name="Title Placeholder 4"/>
          <p:cNvSpPr>
            <a:spLocks noGrp="1"/>
          </p:cNvSpPr>
          <p:nvPr>
            <p:ph type="title"/>
          </p:nvPr>
        </p:nvSpPr>
        <p:spPr bwMode="auto">
          <a:xfrm>
            <a:off x="1435608" y="205979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3455515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5650797" name="Date Placeholder 23"/>
          <p:cNvSpPr>
            <a:spLocks noGrp="1"/>
          </p:cNvSpPr>
          <p:nvPr>
            <p:ph type="dt" sz="half" idx="2"/>
          </p:nvPr>
        </p:nvSpPr>
        <p:spPr bwMode="auto"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20177E6E-5A08-415B-BB67-7F521B2F416A}" type="datetimeFigureOut">
              <a:rPr lang="en-US"/>
              <a:t>9/23/2025</a:t>
            </a:fld>
            <a:endParaRPr lang="en-US"/>
          </a:p>
        </p:txBody>
      </p:sp>
      <p:sp>
        <p:nvSpPr>
          <p:cNvPr id="1244377676" name="Footer Placeholder 9"/>
          <p:cNvSpPr>
            <a:spLocks noGrp="1"/>
          </p:cNvSpPr>
          <p:nvPr>
            <p:ph type="ftr" sz="quarter" idx="3"/>
          </p:nvPr>
        </p:nvSpPr>
        <p:spPr bwMode="auto"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6297613" name="Slide Number Placeholder 21"/>
          <p:cNvSpPr>
            <a:spLocks noGrp="1"/>
          </p:cNvSpPr>
          <p:nvPr>
            <p:ph type="sldNum" sz="quarter" idx="4"/>
          </p:nvPr>
        </p:nvSpPr>
        <p:spPr bwMode="auto"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AE413CA9-1EA5-407F-97A8-FFFB03D72574}" type="slidenum">
              <a:rPr lang="en-US"/>
              <a:t>‹#›</a:t>
            </a:fld>
            <a:endParaRPr lang="en-US"/>
          </a:p>
        </p:txBody>
      </p:sp>
      <p:sp>
        <p:nvSpPr>
          <p:cNvPr id="572499379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>
        <a:spcBef>
          <a:spcPts val="0"/>
        </a:spcBef>
        <a:buNone/>
        <a:defRPr sz="4300">
          <a:solidFill>
            <a:schemeClr val="tx2">
              <a:satMod val="130000"/>
            </a:schemeClr>
          </a:solidFill>
          <a:latin typeface="+mj-lt"/>
          <a:ea typeface="+mj-ea"/>
          <a:cs typeface="+mj-cs"/>
        </a:defRPr>
      </a:lvl1pPr>
    </p:titleStyle>
    <p:bodyStyle>
      <a:lvl1pPr marL="365760" indent="-283464" algn="l" rtl="0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>
        <a:lnSpc>
          <a:spcPct val="100000"/>
        </a:lnSpc>
        <a:spcBef>
          <a:spcPts val="0"/>
        </a:spcBef>
        <a:buClr>
          <a:schemeClr val="accent2"/>
        </a:buClr>
        <a:buFont typeface="Wingdings 2"/>
        <a:buChar char="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>
        <a:lnSpc>
          <a:spcPct val="100000"/>
        </a:lnSpc>
        <a:spcBef>
          <a:spcPts val="0"/>
        </a:spcBef>
        <a:buClr>
          <a:schemeClr val="accent3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>
        <a:lnSpc>
          <a:spcPct val="100000"/>
        </a:lnSpc>
        <a:spcBef>
          <a:spcPts val="0"/>
        </a:spcBef>
        <a:buClr>
          <a:schemeClr val="accent4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508759" indent="-182880" algn="l" rtl="0">
        <a:lnSpc>
          <a:spcPct val="100000"/>
        </a:lnSpc>
        <a:spcBef>
          <a:spcPts val="0"/>
        </a:spcBef>
        <a:buClr>
          <a:schemeClr val="accent5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>
        <a:lnSpc>
          <a:spcPct val="100000"/>
        </a:lnSpc>
        <a:spcBef>
          <a:spcPts val="0"/>
        </a:spcBef>
        <a:buClr>
          <a:schemeClr val="accent6"/>
        </a:buClr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5061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BPG WEB 001 Caps"/>
                <a:cs typeface="BPG Web 002"/>
              </a:rPr>
              <a:t>Computer Science</a:t>
            </a:r>
            <a:endParaRPr/>
          </a:p>
        </p:txBody>
      </p:sp>
      <p:sp>
        <p:nvSpPr>
          <p:cNvPr id="1572918905" name="Subtitle 2"/>
          <p:cNvSpPr txBox="1"/>
          <p:nvPr/>
        </p:nvSpPr>
        <p:spPr bwMode="auto">
          <a:xfrm>
            <a:off x="1215972" y="4721298"/>
            <a:ext cx="2136828" cy="36505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 2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Font typeface="Wingdings 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400">
                <a:latin typeface="BPG Web 002"/>
                <a:cs typeface="BPG Web 002"/>
              </a:rPr>
              <a:t>23 </a:t>
            </a:r>
            <a:r>
              <a:rPr lang="en-US" sz="1400">
                <a:latin typeface="BPG Web 002"/>
                <a:cs typeface="BPG Web 002"/>
              </a:rPr>
              <a:t>September </a:t>
            </a:r>
            <a:r>
              <a:rPr lang="en-US" sz="1400">
                <a:latin typeface="BPG Web 002"/>
                <a:cs typeface="BPG Web 002"/>
              </a:rPr>
              <a:t>2026</a:t>
            </a:r>
            <a:endParaRPr lang="en-US" sz="1400">
              <a:latin typeface="BPG Web 002"/>
              <a:cs typeface="BPG Web 002"/>
            </a:endParaRPr>
          </a:p>
        </p:txBody>
      </p:sp>
      <p:sp>
        <p:nvSpPr>
          <p:cNvPr id="561299910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665752758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391565940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pic>
        <p:nvPicPr>
          <p:cNvPr id="587554619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67600" y="2876550"/>
            <a:ext cx="1368118" cy="1368118"/>
          </a:xfrm>
          <a:prstGeom prst="rect">
            <a:avLst/>
          </a:prstGeom>
        </p:spPr>
      </p:pic>
      <p:sp>
        <p:nvSpPr>
          <p:cNvPr id="1353897125" name="TextBox 14"/>
          <p:cNvSpPr txBox="1"/>
          <p:nvPr/>
        </p:nvSpPr>
        <p:spPr bwMode="auto">
          <a:xfrm>
            <a:off x="6402613" y="4331313"/>
            <a:ext cx="2712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600">
                <a:latin typeface="BPG Web 002 Caps"/>
                <a:cs typeface="BPG Web 002 Caps"/>
              </a:rPr>
              <a:t>School of Technology</a:t>
            </a:r>
            <a:endParaRPr/>
          </a:p>
        </p:txBody>
      </p:sp>
      <p:sp>
        <p:nvSpPr>
          <p:cNvPr id="1916624795" name="TextBox 15"/>
          <p:cNvSpPr txBox="1"/>
          <p:nvPr/>
        </p:nvSpPr>
        <p:spPr bwMode="auto">
          <a:xfrm>
            <a:off x="4419600" y="4685265"/>
            <a:ext cx="4416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200">
                <a:latin typeface="BPG Web 002 Caps"/>
                <a:cs typeface="BPG Web 002 Caps"/>
              </a:rPr>
              <a:t>Faculty of Business, Technology and Education</a:t>
            </a:r>
            <a:endParaRPr/>
          </a:p>
        </p:txBody>
      </p:sp>
      <p:sp>
        <p:nvSpPr>
          <p:cNvPr id="584094608" name="Rectangle 2"/>
          <p:cNvSpPr/>
          <p:nvPr/>
        </p:nvSpPr>
        <p:spPr bwMode="auto">
          <a:xfrm>
            <a:off x="1274461" y="1440418"/>
            <a:ext cx="360233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>
                <a:latin typeface="BPG WEB 001 Caps"/>
              </a:rPr>
              <a:t>Paata Gogishvili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28567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Today's Meeting</a:t>
            </a:r>
            <a:endParaRPr/>
          </a:p>
        </p:txBody>
      </p:sp>
      <p:pic>
        <p:nvPicPr>
          <p:cNvPr id="62308100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403430596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525564588" name="TextBox 5001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Today we answer four questions:</a:t>
            </a:r>
            <a:endParaRPr/>
          </a:p>
        </p:txBody>
      </p:sp>
      <p:sp>
        <p:nvSpPr>
          <p:cNvPr id="267685444" name="Card 5002"/>
          <p:cNvSpPr/>
          <p:nvPr/>
        </p:nvSpPr>
        <p:spPr bwMode="auto">
          <a:xfrm>
            <a:off x="1216151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45421197" name="Badge 5003"/>
          <p:cNvSpPr/>
          <p:nvPr/>
        </p:nvSpPr>
        <p:spPr bwMode="auto">
          <a:xfrm>
            <a:off x="1399032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455978843" name="TextBox 5004"/>
          <p:cNvSpPr/>
          <p:nvPr/>
        </p:nvSpPr>
        <p:spPr bwMode="auto">
          <a:xfrm>
            <a:off x="2084832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What is Computer Science?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The field and career paths</a:t>
            </a:r>
            <a:endParaRPr/>
          </a:p>
        </p:txBody>
      </p:sp>
      <p:sp>
        <p:nvSpPr>
          <p:cNvPr id="904443445" name="Card 5005"/>
          <p:cNvSpPr/>
          <p:nvPr/>
        </p:nvSpPr>
        <p:spPr bwMode="auto">
          <a:xfrm>
            <a:off x="5157216" y="17556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8772739" name="Badge 5006"/>
          <p:cNvSpPr/>
          <p:nvPr/>
        </p:nvSpPr>
        <p:spPr bwMode="auto">
          <a:xfrm>
            <a:off x="5340096" y="21396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943178582" name="TextBox 5007"/>
          <p:cNvSpPr/>
          <p:nvPr/>
        </p:nvSpPr>
        <p:spPr bwMode="auto">
          <a:xfrm>
            <a:off x="6025896" y="19385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How is the program built?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4 years, courses, syllabus, grading</a:t>
            </a:r>
            <a:endParaRPr/>
          </a:p>
        </p:txBody>
      </p:sp>
      <p:sp>
        <p:nvSpPr>
          <p:cNvPr id="1713033433" name="Card 5008"/>
          <p:cNvSpPr/>
          <p:nvPr/>
        </p:nvSpPr>
        <p:spPr bwMode="auto">
          <a:xfrm>
            <a:off x="1216151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48585278" name="Badge 5009"/>
          <p:cNvSpPr/>
          <p:nvPr/>
        </p:nvSpPr>
        <p:spPr bwMode="auto">
          <a:xfrm>
            <a:off x="1399032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591025717" name="TextBox 5010"/>
          <p:cNvSpPr/>
          <p:nvPr/>
        </p:nvSpPr>
        <p:spPr bwMode="auto">
          <a:xfrm>
            <a:off x="2084832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What should I do this week?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First steps and key rules</a:t>
            </a:r>
            <a:endParaRPr/>
          </a:p>
        </p:txBody>
      </p:sp>
      <p:sp>
        <p:nvSpPr>
          <p:cNvPr id="113533300" name="Card 5011"/>
          <p:cNvSpPr/>
          <p:nvPr/>
        </p:nvSpPr>
        <p:spPr bwMode="auto">
          <a:xfrm>
            <a:off x="5157216" y="3355848"/>
            <a:ext cx="3666744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14382586" name="Badge 5012"/>
          <p:cNvSpPr/>
          <p:nvPr/>
        </p:nvSpPr>
        <p:spPr bwMode="auto">
          <a:xfrm>
            <a:off x="5340096" y="3739896"/>
            <a:ext cx="548640" cy="54864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882100502" name="TextBox 5013"/>
          <p:cNvSpPr/>
          <p:nvPr/>
        </p:nvSpPr>
        <p:spPr bwMode="auto">
          <a:xfrm>
            <a:off x="6025896" y="3538728"/>
            <a:ext cx="2660903" cy="9601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Who do I ask?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Contacts and advice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26833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What is Computer Science?</a:t>
            </a:r>
            <a:endParaRPr/>
          </a:p>
        </p:txBody>
      </p:sp>
      <p:pic>
        <p:nvPicPr>
          <p:cNvPr id="100791290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6956201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840635548" name="Venn 5014"/>
          <p:cNvSpPr/>
          <p:nvPr/>
        </p:nvSpPr>
        <p:spPr bwMode="auto">
          <a:xfrm>
            <a:off x="1216151" y="1344168"/>
            <a:ext cx="2286000" cy="228600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31888279" name="Venn 5015"/>
          <p:cNvSpPr/>
          <p:nvPr/>
        </p:nvSpPr>
        <p:spPr bwMode="auto">
          <a:xfrm>
            <a:off x="2633472" y="1344168"/>
            <a:ext cx="2286000" cy="22860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51197300" name="Venn 5016"/>
          <p:cNvSpPr/>
          <p:nvPr/>
        </p:nvSpPr>
        <p:spPr bwMode="auto">
          <a:xfrm>
            <a:off x="2633472" y="1847088"/>
            <a:ext cx="868680" cy="1280160"/>
          </a:xfrm>
          <a:prstGeom prst="ellipse">
            <a:avLst/>
          </a:prstGeom>
          <a:solidFill>
            <a:srgbClr val="4F271C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</a:t>
            </a:r>
            <a:endParaRPr/>
          </a:p>
        </p:txBody>
      </p:sp>
      <p:sp>
        <p:nvSpPr>
          <p:cNvPr id="1871508276" name="TextBox 5017"/>
          <p:cNvSpPr/>
          <p:nvPr/>
        </p:nvSpPr>
        <p:spPr bwMode="auto">
          <a:xfrm>
            <a:off x="1399032" y="225856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Mathematics</a:t>
            </a:r>
            <a:endParaRPr/>
          </a:p>
        </p:txBody>
      </p:sp>
      <p:sp>
        <p:nvSpPr>
          <p:cNvPr id="1892898599" name="TextBox 5018"/>
          <p:cNvSpPr/>
          <p:nvPr/>
        </p:nvSpPr>
        <p:spPr bwMode="auto">
          <a:xfrm>
            <a:off x="3547872" y="2258568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Software</a:t>
            </a:r>
            <a:endParaRPr/>
          </a:p>
        </p:txBody>
      </p:sp>
      <p:sp>
        <p:nvSpPr>
          <p:cNvPr id="722733977" name="TextBox 5019"/>
          <p:cNvSpPr/>
          <p:nvPr/>
        </p:nvSpPr>
        <p:spPr bwMode="auto">
          <a:xfrm>
            <a:off x="1216151" y="3767328"/>
            <a:ext cx="37033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Computer scientists turn ideas into algorithms, and algorithms into software.</a:t>
            </a:r>
            <a:endParaRPr/>
          </a:p>
        </p:txBody>
      </p:sp>
      <p:sp>
        <p:nvSpPr>
          <p:cNvPr id="1605926092" name="Card 5020"/>
          <p:cNvSpPr/>
          <p:nvPr/>
        </p:nvSpPr>
        <p:spPr bwMode="auto">
          <a:xfrm>
            <a:off x="5285232" y="1344168"/>
            <a:ext cx="3538728" cy="13716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Computer Engineering (CE)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Hardware and software: circuits, electronics, embedded systems</a:t>
            </a:r>
            <a:endParaRPr/>
          </a:p>
        </p:txBody>
      </p:sp>
      <p:sp>
        <p:nvSpPr>
          <p:cNvPr id="1425816033" name="Card 5021"/>
          <p:cNvSpPr/>
          <p:nvPr/>
        </p:nvSpPr>
        <p:spPr bwMode="auto">
          <a:xfrm>
            <a:off x="5285232" y="2898648"/>
            <a:ext cx="3538728" cy="17830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Computer Science (CS)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Programming and algorithms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Mathematical foundations and theory of computation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Operating systems, networks, databases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+ Data, AI and machine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2938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Where Computer Scientists Work</a:t>
            </a:r>
            <a:endParaRPr/>
          </a:p>
        </p:txBody>
      </p:sp>
      <p:pic>
        <p:nvPicPr>
          <p:cNvPr id="1115253427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11739718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529693433" name="Card 5022"/>
          <p:cNvSpPr/>
          <p:nvPr/>
        </p:nvSpPr>
        <p:spPr bwMode="auto">
          <a:xfrm>
            <a:off x="1216151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Software Engineering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Backend, desktop and enterprise systems</a:t>
            </a:r>
            <a:endParaRPr/>
          </a:p>
        </p:txBody>
      </p:sp>
      <p:sp>
        <p:nvSpPr>
          <p:cNvPr id="1692337365" name="Card 5023"/>
          <p:cNvSpPr/>
          <p:nvPr/>
        </p:nvSpPr>
        <p:spPr bwMode="auto">
          <a:xfrm>
            <a:off x="3828288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Web &amp; Mobile Development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Web services, apps, user interfaces</a:t>
            </a:r>
            <a:endParaRPr/>
          </a:p>
        </p:txBody>
      </p:sp>
      <p:sp>
        <p:nvSpPr>
          <p:cNvPr id="1307664639" name="Card 5024"/>
          <p:cNvSpPr/>
          <p:nvPr/>
        </p:nvSpPr>
        <p:spPr bwMode="auto">
          <a:xfrm>
            <a:off x="6440424" y="120700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Cybersecurity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Protecting systems, networks and data</a:t>
            </a:r>
            <a:endParaRPr/>
          </a:p>
        </p:txBody>
      </p:sp>
      <p:sp>
        <p:nvSpPr>
          <p:cNvPr id="389548278" name="Card 5025"/>
          <p:cNvSpPr/>
          <p:nvPr/>
        </p:nvSpPr>
        <p:spPr bwMode="auto">
          <a:xfrm>
            <a:off x="1216151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AI &amp; Machine Learning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ML models, computer vision, NLP</a:t>
            </a:r>
            <a:endParaRPr/>
          </a:p>
        </p:txBody>
      </p:sp>
      <p:sp>
        <p:nvSpPr>
          <p:cNvPr id="1090558630" name="Card 5026"/>
          <p:cNvSpPr/>
          <p:nvPr/>
        </p:nvSpPr>
        <p:spPr bwMode="auto">
          <a:xfrm>
            <a:off x="3828288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Data Science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Databases, big data, analytics</a:t>
            </a:r>
            <a:endParaRPr/>
          </a:p>
        </p:txBody>
      </p:sp>
      <p:sp>
        <p:nvSpPr>
          <p:cNvPr id="373985346" name="Card 5027"/>
          <p:cNvSpPr/>
          <p:nvPr/>
        </p:nvSpPr>
        <p:spPr bwMode="auto">
          <a:xfrm>
            <a:off x="6440424" y="2761488"/>
            <a:ext cx="2383536" cy="1325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Cloud &amp; DevOps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Cloud platforms, automation, infrastructure</a:t>
            </a:r>
            <a:endParaRPr/>
          </a:p>
        </p:txBody>
      </p:sp>
      <p:sp>
        <p:nvSpPr>
          <p:cNvPr id="130052087" name="TextBox 5028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And of course: master's studies and research, in Georgia and abroad.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43012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Program Roadmap: 4 Years</a:t>
            </a:r>
            <a:endParaRPr/>
          </a:p>
        </p:txBody>
      </p:sp>
      <p:pic>
        <p:nvPicPr>
          <p:cNvPr id="170002707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001871920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960010830" name="Line 5029"/>
          <p:cNvSpPr/>
          <p:nvPr/>
        </p:nvSpPr>
        <p:spPr bwMode="auto">
          <a:xfrm>
            <a:off x="1490472" y="1600200"/>
            <a:ext cx="7059168" cy="54864"/>
          </a:xfrm>
          <a:prstGeom prst="rect">
            <a:avLst/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240500429" name="Badge 5030"/>
          <p:cNvSpPr/>
          <p:nvPr/>
        </p:nvSpPr>
        <p:spPr bwMode="auto">
          <a:xfrm>
            <a:off x="1749933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  <a:endParaRPr/>
          </a:p>
        </p:txBody>
      </p:sp>
      <p:sp>
        <p:nvSpPr>
          <p:cNvPr id="968303883" name="TextBox 5031"/>
          <p:cNvSpPr/>
          <p:nvPr/>
        </p:nvSpPr>
        <p:spPr bwMode="auto">
          <a:xfrm>
            <a:off x="1216151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Foundations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Calculus, programming, computer organization</a:t>
            </a:r>
            <a:endParaRPr/>
          </a:p>
        </p:txBody>
      </p:sp>
      <p:sp>
        <p:nvSpPr>
          <p:cNvPr id="278831670" name="Badge 5032"/>
          <p:cNvSpPr/>
          <p:nvPr/>
        </p:nvSpPr>
        <p:spPr bwMode="auto">
          <a:xfrm>
            <a:off x="3686175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</a:t>
            </a:r>
            <a:endParaRPr/>
          </a:p>
        </p:txBody>
      </p:sp>
      <p:sp>
        <p:nvSpPr>
          <p:cNvPr id="490451908" name="TextBox 5033"/>
          <p:cNvSpPr/>
          <p:nvPr/>
        </p:nvSpPr>
        <p:spPr bwMode="auto">
          <a:xfrm>
            <a:off x="3152394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II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Computing Core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Linear algebra, algorithms, networks, statistics</a:t>
            </a:r>
            <a:endParaRPr/>
          </a:p>
        </p:txBody>
      </p:sp>
      <p:sp>
        <p:nvSpPr>
          <p:cNvPr id="2132590393" name="Badge 5034"/>
          <p:cNvSpPr/>
          <p:nvPr/>
        </p:nvSpPr>
        <p:spPr bwMode="auto">
          <a:xfrm>
            <a:off x="5622417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III</a:t>
            </a:r>
            <a:endParaRPr/>
          </a:p>
        </p:txBody>
      </p:sp>
      <p:sp>
        <p:nvSpPr>
          <p:cNvPr id="997027896" name="TextBox 5035"/>
          <p:cNvSpPr/>
          <p:nvPr/>
        </p:nvSpPr>
        <p:spPr bwMode="auto">
          <a:xfrm>
            <a:off x="5088636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III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Systems &amp; AI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Operating systems, complexity, ML, databases</a:t>
            </a:r>
            <a:endParaRPr/>
          </a:p>
        </p:txBody>
      </p:sp>
      <p:sp>
        <p:nvSpPr>
          <p:cNvPr id="520642085" name="Badge 5036"/>
          <p:cNvSpPr/>
          <p:nvPr/>
        </p:nvSpPr>
        <p:spPr bwMode="auto">
          <a:xfrm>
            <a:off x="7558659" y="1261872"/>
            <a:ext cx="731520" cy="73152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IV</a:t>
            </a:r>
            <a:endParaRPr/>
          </a:p>
        </p:txBody>
      </p:sp>
      <p:sp>
        <p:nvSpPr>
          <p:cNvPr id="1843711486" name="TextBox 5037"/>
          <p:cNvSpPr/>
          <p:nvPr/>
        </p:nvSpPr>
        <p:spPr bwMode="auto">
          <a:xfrm>
            <a:off x="7024878" y="2121408"/>
            <a:ext cx="1799082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100" b="0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Year IV</a:t>
            </a:r>
            <a:endParaRPr/>
          </a:p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Specialization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Electives, DevOps and the senior design project</a:t>
            </a:r>
            <a:endParaRPr/>
          </a:p>
        </p:txBody>
      </p:sp>
      <p:sp>
        <p:nvSpPr>
          <p:cNvPr id="141756633" name="Card 5038"/>
          <p:cNvSpPr/>
          <p:nvPr/>
        </p:nvSpPr>
        <p:spPr bwMode="auto">
          <a:xfrm>
            <a:off x="1216151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242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ECTS credits</a:t>
            </a:r>
            <a:endParaRPr/>
          </a:p>
        </p:txBody>
      </p:sp>
      <p:sp>
        <p:nvSpPr>
          <p:cNvPr id="1289505716" name="Card 5039"/>
          <p:cNvSpPr/>
          <p:nvPr/>
        </p:nvSpPr>
        <p:spPr bwMode="auto">
          <a:xfrm>
            <a:off x="3828288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8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semesters</a:t>
            </a:r>
            <a:endParaRPr/>
          </a:p>
        </p:txBody>
      </p:sp>
      <p:sp>
        <p:nvSpPr>
          <p:cNvPr id="1620935114" name="Card 5040"/>
          <p:cNvSpPr/>
          <p:nvPr/>
        </p:nvSpPr>
        <p:spPr bwMode="auto">
          <a:xfrm>
            <a:off x="6440424" y="3630168"/>
            <a:ext cx="2383536" cy="114300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 ECTS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≈ 25 hours of 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885327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How Your Studies Are Organized</a:t>
            </a:r>
            <a:endParaRPr/>
          </a:p>
        </p:txBody>
      </p:sp>
      <p:pic>
        <p:nvPicPr>
          <p:cNvPr id="121264973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03450575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307338952" name="TextBox 5041"/>
          <p:cNvSpPr/>
          <p:nvPr/>
        </p:nvSpPr>
        <p:spPr bwMode="auto">
          <a:xfrm>
            <a:off x="1216151" y="120700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17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Educational Program</a:t>
            </a:r>
            <a:r>
              <a:rPr lang="en-US" sz="17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 consists of </a:t>
            </a:r>
            <a:r>
              <a:rPr lang="en-US" sz="17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Learning Courses</a:t>
            </a:r>
            <a:r>
              <a:rPr lang="en-US" sz="17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1337832575" name="Card 5042"/>
          <p:cNvSpPr/>
          <p:nvPr/>
        </p:nvSpPr>
        <p:spPr bwMode="auto">
          <a:xfrm>
            <a:off x="1216151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Educational Program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 set of courses that leads you to the program learning outcomes</a:t>
            </a:r>
            <a:endParaRPr/>
          </a:p>
        </p:txBody>
      </p:sp>
      <p:sp>
        <p:nvSpPr>
          <p:cNvPr id="546809818" name="Arrow 5043"/>
          <p:cNvSpPr/>
          <p:nvPr/>
        </p:nvSpPr>
        <p:spPr bwMode="auto">
          <a:xfrm>
            <a:off x="3508248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035468101" name="Card 5044"/>
          <p:cNvSpPr/>
          <p:nvPr/>
        </p:nvSpPr>
        <p:spPr bwMode="auto">
          <a:xfrm>
            <a:off x="3919728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Learning Course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Lectures, seminars, labs; each course carries ECTS credits</a:t>
            </a:r>
            <a:endParaRPr/>
          </a:p>
        </p:txBody>
      </p:sp>
      <p:sp>
        <p:nvSpPr>
          <p:cNvPr id="273333209" name="Arrow 5045"/>
          <p:cNvSpPr/>
          <p:nvPr/>
        </p:nvSpPr>
        <p:spPr bwMode="auto">
          <a:xfrm>
            <a:off x="6211824" y="2852928"/>
            <a:ext cx="32004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47674089" name="Card 5046"/>
          <p:cNvSpPr/>
          <p:nvPr/>
        </p:nvSpPr>
        <p:spPr bwMode="auto">
          <a:xfrm>
            <a:off x="6623304" y="1984248"/>
            <a:ext cx="2200656" cy="210312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Syllabus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The course "contract": what you will learn and how you will be graded</a:t>
            </a:r>
            <a:endParaRPr/>
          </a:p>
        </p:txBody>
      </p:sp>
      <p:sp>
        <p:nvSpPr>
          <p:cNvPr id="1899423804" name="TextBox 5047"/>
          <p:cNvSpPr/>
          <p:nvPr/>
        </p:nvSpPr>
        <p:spPr bwMode="auto">
          <a:xfrm>
            <a:off x="1216151" y="431596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1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Every course has its own syllabus: get it from the instructor or the learning system.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535610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The Syllabus: What to Look For</a:t>
            </a:r>
            <a:endParaRPr/>
          </a:p>
        </p:txBody>
      </p:sp>
      <p:pic>
        <p:nvPicPr>
          <p:cNvPr id="484911376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221517870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615288494" name="TextBox 5048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The description of a course is called the Syllabus. Look for:</a:t>
            </a:r>
            <a:endParaRPr/>
          </a:p>
        </p:txBody>
      </p:sp>
      <p:sp>
        <p:nvSpPr>
          <p:cNvPr id="166065433" name="Badge 5049"/>
          <p:cNvSpPr/>
          <p:nvPr/>
        </p:nvSpPr>
        <p:spPr bwMode="auto">
          <a:xfrm>
            <a:off x="1216151" y="17922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387756287" name="TextBox 5050"/>
          <p:cNvSpPr/>
          <p:nvPr/>
        </p:nvSpPr>
        <p:spPr bwMode="auto">
          <a:xfrm>
            <a:off x="1673352" y="17556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Learning outcomes: what you will be able to do</a:t>
            </a:r>
            <a:endParaRPr/>
          </a:p>
        </p:txBody>
      </p:sp>
      <p:sp>
        <p:nvSpPr>
          <p:cNvPr id="1900941437" name="Badge 5051"/>
          <p:cNvSpPr/>
          <p:nvPr/>
        </p:nvSpPr>
        <p:spPr bwMode="auto">
          <a:xfrm>
            <a:off x="1216151" y="229514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114886535" name="TextBox 5052"/>
          <p:cNvSpPr/>
          <p:nvPr/>
        </p:nvSpPr>
        <p:spPr bwMode="auto">
          <a:xfrm>
            <a:off x="1673352" y="225856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Prerequisites: what you need to know first</a:t>
            </a:r>
            <a:endParaRPr/>
          </a:p>
        </p:txBody>
      </p:sp>
      <p:sp>
        <p:nvSpPr>
          <p:cNvPr id="90726740" name="Badge 5053"/>
          <p:cNvSpPr/>
          <p:nvPr/>
        </p:nvSpPr>
        <p:spPr bwMode="auto">
          <a:xfrm>
            <a:off x="1216151" y="279806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896985710" name="TextBox 5054"/>
          <p:cNvSpPr/>
          <p:nvPr/>
        </p:nvSpPr>
        <p:spPr bwMode="auto">
          <a:xfrm>
            <a:off x="1673352" y="276148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Assessment components and their weights</a:t>
            </a:r>
            <a:endParaRPr/>
          </a:p>
        </p:txBody>
      </p:sp>
      <p:sp>
        <p:nvSpPr>
          <p:cNvPr id="883048010" name="Badge 5055"/>
          <p:cNvSpPr/>
          <p:nvPr/>
        </p:nvSpPr>
        <p:spPr bwMode="auto">
          <a:xfrm>
            <a:off x="1216151" y="330098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17481956" name="TextBox 5056"/>
          <p:cNvSpPr/>
          <p:nvPr/>
        </p:nvSpPr>
        <p:spPr bwMode="auto">
          <a:xfrm>
            <a:off x="1673352" y="326440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Minimum passing thresholds for exams</a:t>
            </a:r>
            <a:endParaRPr/>
          </a:p>
        </p:txBody>
      </p:sp>
      <p:sp>
        <p:nvSpPr>
          <p:cNvPr id="1068984673" name="Badge 5057"/>
          <p:cNvSpPr/>
          <p:nvPr/>
        </p:nvSpPr>
        <p:spPr bwMode="auto">
          <a:xfrm>
            <a:off x="1216151" y="380390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382890722" name="TextBox 5058"/>
          <p:cNvSpPr/>
          <p:nvPr/>
        </p:nvSpPr>
        <p:spPr bwMode="auto">
          <a:xfrm>
            <a:off x="1673352" y="376732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Attendance policy</a:t>
            </a:r>
            <a:endParaRPr/>
          </a:p>
        </p:txBody>
      </p:sp>
      <p:sp>
        <p:nvSpPr>
          <p:cNvPr id="278869236" name="Badge 5059"/>
          <p:cNvSpPr/>
          <p:nvPr/>
        </p:nvSpPr>
        <p:spPr bwMode="auto">
          <a:xfrm>
            <a:off x="1216151" y="4306824"/>
            <a:ext cx="310896" cy="310896"/>
          </a:xfrm>
          <a:prstGeom prst="ellipse">
            <a:avLst/>
          </a:prstGeom>
          <a:solidFill>
            <a:srgbClr val="84AA33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/>
          </a:p>
        </p:txBody>
      </p:sp>
      <p:sp>
        <p:nvSpPr>
          <p:cNvPr id="1164877850" name="TextBox 5060"/>
          <p:cNvSpPr/>
          <p:nvPr/>
        </p:nvSpPr>
        <p:spPr bwMode="auto">
          <a:xfrm>
            <a:off x="1673352" y="42702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Readings and instructor contacts</a:t>
            </a:r>
            <a:endParaRPr/>
          </a:p>
        </p:txBody>
      </p:sp>
      <p:sp>
        <p:nvSpPr>
          <p:cNvPr id="587400341" name="Card 5061"/>
          <p:cNvSpPr/>
          <p:nvPr/>
        </p:nvSpPr>
        <p:spPr bwMode="auto">
          <a:xfrm>
            <a:off x="6245352" y="1755648"/>
            <a:ext cx="2578608" cy="292608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228600" tIns="228600" rIns="228600" bIns="22860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3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Tip</a:t>
            </a:r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every syllabus in week one.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No surprises at the end of the semester.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76814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BPG WEB 001 Caps"/>
                <a:cs typeface="BPG Web 002"/>
              </a:rPr>
              <a:t>Computer Science</a:t>
            </a:r>
            <a:endParaRPr/>
          </a:p>
        </p:txBody>
      </p:sp>
      <p:sp>
        <p:nvSpPr>
          <p:cNvPr id="218051636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89632592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41899898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885009706" name="Rectangle 2"/>
          <p:cNvSpPr/>
          <p:nvPr/>
        </p:nvSpPr>
        <p:spPr bwMode="auto">
          <a:xfrm>
            <a:off x="1274461" y="1440418"/>
            <a:ext cx="718373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>
                <a:latin typeface="BPG WEB 001 Caps"/>
              </a:rPr>
              <a:t>You should select your learning courses </a:t>
            </a:r>
            <a:r>
              <a:rPr lang="en-US" sz="3000" b="1" u="sng">
                <a:latin typeface="BPG WEB 001 Caps"/>
              </a:rPr>
              <a:t>yourself</a:t>
            </a:r>
            <a:endParaRPr/>
          </a:p>
          <a:p>
            <a:pPr>
              <a:defRPr/>
            </a:pPr>
            <a:endParaRPr lang="en-US" sz="3000" b="1" u="sng">
              <a:latin typeface="BPG WEB 001 Caps"/>
            </a:endParaRPr>
          </a:p>
          <a:p>
            <a:pPr>
              <a:defRPr/>
            </a:pPr>
            <a:r>
              <a:rPr lang="en-US" sz="3000" b="1" u="sng">
                <a:latin typeface="BPG WEB 001 Caps"/>
              </a:rPr>
              <a:t>Freedom</a:t>
            </a:r>
            <a:r>
              <a:rPr lang="en-US" sz="3000">
                <a:latin typeface="BPG WEB 001 Caps"/>
              </a:rPr>
              <a:t> of choice is a wonderful </a:t>
            </a:r>
            <a:r>
              <a:rPr lang="en-US" sz="3000" b="1" u="sng">
                <a:latin typeface="BPG WEB 001 Caps"/>
              </a:rPr>
              <a:t>privilege</a:t>
            </a:r>
            <a:r>
              <a:rPr lang="en-US" sz="3000">
                <a:latin typeface="BPG WEB 001 Caps"/>
              </a:rPr>
              <a:t>, but it often comes with </a:t>
            </a:r>
            <a:r>
              <a:rPr lang="en-US" sz="3000" b="1" u="sng">
                <a:latin typeface="BPG WEB 001 Caps"/>
              </a:rPr>
              <a:t>challenges</a:t>
            </a:r>
            <a:r>
              <a:rPr lang="en-US" sz="3200"/>
              <a:t>.</a:t>
            </a:r>
            <a:endParaRPr lang="en-US" sz="3000">
              <a:latin typeface="BPG WEB 001 Cap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233915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Grading System</a:t>
            </a:r>
            <a:endParaRPr/>
          </a:p>
        </p:txBody>
      </p:sp>
      <p:pic>
        <p:nvPicPr>
          <p:cNvPr id="193194239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298464253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788651894" name="TextBox 5062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100-point scale</a:t>
            </a:r>
            <a:endParaRPr/>
          </a:p>
        </p:txBody>
      </p:sp>
      <p:sp>
        <p:nvSpPr>
          <p:cNvPr id="1402104094" name="Grade 5063"/>
          <p:cNvSpPr/>
          <p:nvPr/>
        </p:nvSpPr>
        <p:spPr bwMode="auto">
          <a:xfrm>
            <a:off x="1216151" y="1664208"/>
            <a:ext cx="1050253" cy="868680"/>
          </a:xfrm>
          <a:prstGeom prst="rect">
            <a:avLst/>
          </a:prstGeom>
          <a:solidFill>
            <a:srgbClr val="C32D2E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0–40</a:t>
            </a:r>
            <a:endParaRPr/>
          </a:p>
        </p:txBody>
      </p:sp>
      <p:sp>
        <p:nvSpPr>
          <p:cNvPr id="1738634789" name="Grade 5064"/>
          <p:cNvSpPr/>
          <p:nvPr/>
        </p:nvSpPr>
        <p:spPr bwMode="auto">
          <a:xfrm>
            <a:off x="2302981" y="1664208"/>
            <a:ext cx="1050253" cy="868680"/>
          </a:xfrm>
          <a:prstGeom prst="rect">
            <a:avLst/>
          </a:prstGeom>
          <a:solidFill>
            <a:srgbClr val="E0752D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41–50</a:t>
            </a:r>
            <a:endParaRPr/>
          </a:p>
        </p:txBody>
      </p:sp>
      <p:sp>
        <p:nvSpPr>
          <p:cNvPr id="1774437026" name="Grade 5065"/>
          <p:cNvSpPr/>
          <p:nvPr/>
        </p:nvSpPr>
        <p:spPr bwMode="auto">
          <a:xfrm>
            <a:off x="3389811" y="1664208"/>
            <a:ext cx="1050253" cy="868680"/>
          </a:xfrm>
          <a:prstGeom prst="rect">
            <a:avLst/>
          </a:prstGeom>
          <a:solidFill>
            <a:srgbClr val="D9A520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51–60</a:t>
            </a:r>
            <a:endParaRPr/>
          </a:p>
        </p:txBody>
      </p:sp>
      <p:sp>
        <p:nvSpPr>
          <p:cNvPr id="2137009117" name="Grade 5066"/>
          <p:cNvSpPr/>
          <p:nvPr/>
        </p:nvSpPr>
        <p:spPr bwMode="auto">
          <a:xfrm>
            <a:off x="4476641" y="1664208"/>
            <a:ext cx="1050253" cy="868680"/>
          </a:xfrm>
          <a:prstGeom prst="rect">
            <a:avLst/>
          </a:prstGeom>
          <a:solidFill>
            <a:srgbClr val="B5B53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61–70</a:t>
            </a:r>
            <a:endParaRPr/>
          </a:p>
        </p:txBody>
      </p:sp>
      <p:sp>
        <p:nvSpPr>
          <p:cNvPr id="1614310671" name="Grade 5067"/>
          <p:cNvSpPr/>
          <p:nvPr/>
        </p:nvSpPr>
        <p:spPr bwMode="auto">
          <a:xfrm>
            <a:off x="5563470" y="1664208"/>
            <a:ext cx="1050253" cy="868680"/>
          </a:xfrm>
          <a:prstGeom prst="rect">
            <a:avLst/>
          </a:prstGeom>
          <a:solidFill>
            <a:srgbClr val="84AA33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71–80</a:t>
            </a:r>
            <a:endParaRPr/>
          </a:p>
        </p:txBody>
      </p:sp>
      <p:sp>
        <p:nvSpPr>
          <p:cNvPr id="999834655" name="Grade 5068"/>
          <p:cNvSpPr/>
          <p:nvPr/>
        </p:nvSpPr>
        <p:spPr bwMode="auto">
          <a:xfrm>
            <a:off x="6650300" y="1664208"/>
            <a:ext cx="1050253" cy="868680"/>
          </a:xfrm>
          <a:prstGeom prst="rect">
            <a:avLst/>
          </a:prstGeom>
          <a:solidFill>
            <a:srgbClr val="4E9A4A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81–90</a:t>
            </a:r>
            <a:endParaRPr/>
          </a:p>
        </p:txBody>
      </p:sp>
      <p:sp>
        <p:nvSpPr>
          <p:cNvPr id="1695257462" name="Grade 5069"/>
          <p:cNvSpPr/>
          <p:nvPr/>
        </p:nvSpPr>
        <p:spPr bwMode="auto">
          <a:xfrm>
            <a:off x="7737130" y="1664208"/>
            <a:ext cx="1050253" cy="8686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91–100</a:t>
            </a:r>
            <a:endParaRPr/>
          </a:p>
        </p:txBody>
      </p:sp>
      <p:sp>
        <p:nvSpPr>
          <p:cNvPr id="309249840" name="Card 5070"/>
          <p:cNvSpPr/>
          <p:nvPr/>
        </p:nvSpPr>
        <p:spPr bwMode="auto">
          <a:xfrm>
            <a:off x="1216151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US" sz="1800" b="1" i="0">
                <a:solidFill>
                  <a:srgbClr val="84AA33"/>
                </a:solidFill>
                <a:latin typeface="Calibri"/>
                <a:ea typeface="Calibri"/>
                <a:cs typeface="Calibri"/>
              </a:rPr>
              <a:t>51+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Course passed</a:t>
            </a:r>
            <a:endParaRPr/>
          </a:p>
        </p:txBody>
      </p:sp>
      <p:sp>
        <p:nvSpPr>
          <p:cNvPr id="977847232" name="Card 5071"/>
          <p:cNvSpPr/>
          <p:nvPr/>
        </p:nvSpPr>
        <p:spPr bwMode="auto">
          <a:xfrm>
            <a:off x="3828288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US" sz="1800" b="1" i="0">
                <a:solidFill>
                  <a:srgbClr val="E0752D"/>
                </a:solidFill>
                <a:latin typeface="Calibri"/>
                <a:ea typeface="Calibri"/>
                <a:cs typeface="Calibri"/>
              </a:rPr>
              <a:t>FX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You may take an additional exam</a:t>
            </a:r>
            <a:endParaRPr/>
          </a:p>
        </p:txBody>
      </p:sp>
      <p:sp>
        <p:nvSpPr>
          <p:cNvPr id="85728963" name="Card 5072"/>
          <p:cNvSpPr/>
          <p:nvPr/>
        </p:nvSpPr>
        <p:spPr bwMode="auto">
          <a:xfrm>
            <a:off x="6440424" y="2807208"/>
            <a:ext cx="2383536" cy="96012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  <a:defRPr/>
            </a:pPr>
            <a:r>
              <a:rPr lang="en-US" sz="18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F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You must retake the course</a:t>
            </a:r>
            <a:endParaRPr/>
          </a:p>
        </p:txBody>
      </p:sp>
      <p:sp>
        <p:nvSpPr>
          <p:cNvPr id="2079856746" name="TextBox 5073"/>
          <p:cNvSpPr/>
          <p:nvPr/>
        </p:nvSpPr>
        <p:spPr bwMode="auto">
          <a:xfrm>
            <a:off x="1216151" y="3950208"/>
            <a:ext cx="76078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Final grade = ongoing work + midterm + final exam. Weights and minimum thresholds are in the syllabus. Miss a threshold and the total will not save you.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974728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First-Semester Courses</a:t>
            </a:r>
            <a:endParaRPr/>
          </a:p>
        </p:txBody>
      </p:sp>
      <p:pic>
        <p:nvPicPr>
          <p:cNvPr id="128407202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450244257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03752685" name="TextBox 5074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Where these two courses lead:</a:t>
            </a:r>
            <a:endParaRPr/>
          </a:p>
        </p:txBody>
      </p:sp>
      <p:sp>
        <p:nvSpPr>
          <p:cNvPr id="2104048866" name="Card 5075"/>
          <p:cNvSpPr/>
          <p:nvPr/>
        </p:nvSpPr>
        <p:spPr bwMode="auto">
          <a:xfrm>
            <a:off x="1216151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Calculus I</a:t>
            </a:r>
            <a:endParaRPr/>
          </a:p>
        </p:txBody>
      </p:sp>
      <p:sp>
        <p:nvSpPr>
          <p:cNvPr id="112454193" name="Arrow 5076"/>
          <p:cNvSpPr/>
          <p:nvPr/>
        </p:nvSpPr>
        <p:spPr bwMode="auto">
          <a:xfrm>
            <a:off x="3538728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94282656" name="Card 5077"/>
          <p:cNvSpPr/>
          <p:nvPr/>
        </p:nvSpPr>
        <p:spPr bwMode="auto">
          <a:xfrm>
            <a:off x="3904487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Calculus II</a:t>
            </a:r>
            <a:endParaRPr/>
          </a:p>
        </p:txBody>
      </p:sp>
      <p:sp>
        <p:nvSpPr>
          <p:cNvPr id="1231309331" name="Arrow 5078"/>
          <p:cNvSpPr/>
          <p:nvPr/>
        </p:nvSpPr>
        <p:spPr bwMode="auto">
          <a:xfrm>
            <a:off x="6227063" y="190195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99441424" name="Card 5079"/>
          <p:cNvSpPr/>
          <p:nvPr/>
        </p:nvSpPr>
        <p:spPr bwMode="auto">
          <a:xfrm>
            <a:off x="6592823" y="170992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Linear Algebra</a:t>
            </a:r>
            <a:endParaRPr/>
          </a:p>
        </p:txBody>
      </p:sp>
      <p:sp>
        <p:nvSpPr>
          <p:cNvPr id="2138993403" name="Card 5080"/>
          <p:cNvSpPr/>
          <p:nvPr/>
        </p:nvSpPr>
        <p:spPr bwMode="auto">
          <a:xfrm>
            <a:off x="1216151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 to Programming</a:t>
            </a:r>
            <a:endParaRPr/>
          </a:p>
        </p:txBody>
      </p:sp>
      <p:sp>
        <p:nvSpPr>
          <p:cNvPr id="2120344726" name="Arrow 5081"/>
          <p:cNvSpPr/>
          <p:nvPr/>
        </p:nvSpPr>
        <p:spPr bwMode="auto">
          <a:xfrm>
            <a:off x="3538728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20038385" name="Card 5082"/>
          <p:cNvSpPr/>
          <p:nvPr/>
        </p:nvSpPr>
        <p:spPr bwMode="auto">
          <a:xfrm>
            <a:off x="3904487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Object-Oriented Programming</a:t>
            </a:r>
            <a:endParaRPr/>
          </a:p>
        </p:txBody>
      </p:sp>
      <p:sp>
        <p:nvSpPr>
          <p:cNvPr id="1337695629" name="Arrow 5083"/>
          <p:cNvSpPr/>
          <p:nvPr/>
        </p:nvSpPr>
        <p:spPr bwMode="auto">
          <a:xfrm>
            <a:off x="6227063" y="277063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520987482" name="Card 5084"/>
          <p:cNvSpPr/>
          <p:nvPr/>
        </p:nvSpPr>
        <p:spPr bwMode="auto">
          <a:xfrm>
            <a:off x="6592823" y="257860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Programming Languages</a:t>
            </a:r>
            <a:endParaRPr/>
          </a:p>
        </p:txBody>
      </p:sp>
      <p:sp>
        <p:nvSpPr>
          <p:cNvPr id="1210499389" name="Card 5085"/>
          <p:cNvSpPr/>
          <p:nvPr/>
        </p:nvSpPr>
        <p:spPr bwMode="auto">
          <a:xfrm>
            <a:off x="1216151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964305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Calculus I + Programming</a:t>
            </a:r>
            <a:endParaRPr/>
          </a:p>
        </p:txBody>
      </p:sp>
      <p:sp>
        <p:nvSpPr>
          <p:cNvPr id="252888081" name="Arrow 5086"/>
          <p:cNvSpPr/>
          <p:nvPr/>
        </p:nvSpPr>
        <p:spPr bwMode="auto">
          <a:xfrm>
            <a:off x="3538728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17565889" name="Card 5087"/>
          <p:cNvSpPr/>
          <p:nvPr/>
        </p:nvSpPr>
        <p:spPr bwMode="auto">
          <a:xfrm>
            <a:off x="3904487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Math Foundations of Computing</a:t>
            </a:r>
            <a:endParaRPr/>
          </a:p>
        </p:txBody>
      </p:sp>
      <p:sp>
        <p:nvSpPr>
          <p:cNvPr id="1073606353" name="Arrow 5088"/>
          <p:cNvSpPr/>
          <p:nvPr/>
        </p:nvSpPr>
        <p:spPr bwMode="auto">
          <a:xfrm>
            <a:off x="6227063" y="3639312"/>
            <a:ext cx="27432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B79C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079204543" name="Card 5089"/>
          <p:cNvSpPr/>
          <p:nvPr/>
        </p:nvSpPr>
        <p:spPr bwMode="auto">
          <a:xfrm>
            <a:off x="6592823" y="3447288"/>
            <a:ext cx="2231136" cy="658368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Computational Complexity</a:t>
            </a:r>
            <a:endParaRPr/>
          </a:p>
        </p:txBody>
      </p:sp>
      <p:sp>
        <p:nvSpPr>
          <p:cNvPr id="1228660844" name="TextBox 5090"/>
          <p:cNvSpPr/>
          <p:nvPr/>
        </p:nvSpPr>
        <p:spPr bwMode="auto">
          <a:xfrm>
            <a:off x="1216151" y="4361688"/>
            <a:ext cx="760780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These are prerequisites: failing one delays the whole chain by a semester.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04549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Five Steps for This Week</a:t>
            </a:r>
            <a:endParaRPr/>
          </a:p>
        </p:txBody>
      </p:sp>
      <p:pic>
        <p:nvPicPr>
          <p:cNvPr id="64737759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84599933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043123174" name="Badge 5091"/>
          <p:cNvSpPr/>
          <p:nvPr/>
        </p:nvSpPr>
        <p:spPr bwMode="auto">
          <a:xfrm>
            <a:off x="1216151" y="1252728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503528931" name="TextBox 5092"/>
          <p:cNvSpPr/>
          <p:nvPr/>
        </p:nvSpPr>
        <p:spPr bwMode="auto">
          <a:xfrm>
            <a:off x="1856232" y="1207008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Activate your university email and learning-system account</a:t>
            </a:r>
            <a:endParaRPr/>
          </a:p>
        </p:txBody>
      </p:sp>
      <p:sp>
        <p:nvSpPr>
          <p:cNvPr id="1129261653" name="Badge 5093"/>
          <p:cNvSpPr/>
          <p:nvPr/>
        </p:nvSpPr>
        <p:spPr bwMode="auto">
          <a:xfrm>
            <a:off x="1216151" y="1947671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1136234967" name="TextBox 5094"/>
          <p:cNvSpPr/>
          <p:nvPr/>
        </p:nvSpPr>
        <p:spPr bwMode="auto">
          <a:xfrm>
            <a:off x="1856232" y="1901952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Register for first-semester courses and meet the deadlines</a:t>
            </a:r>
            <a:endParaRPr/>
          </a:p>
        </p:txBody>
      </p:sp>
      <p:sp>
        <p:nvSpPr>
          <p:cNvPr id="733170616" name="Badge 5095"/>
          <p:cNvSpPr/>
          <p:nvPr/>
        </p:nvSpPr>
        <p:spPr bwMode="auto">
          <a:xfrm>
            <a:off x="1216151" y="2642615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600029115" name="TextBox 5096"/>
          <p:cNvSpPr/>
          <p:nvPr/>
        </p:nvSpPr>
        <p:spPr bwMode="auto">
          <a:xfrm>
            <a:off x="1856232" y="2596896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Read the syllabus of every course</a:t>
            </a:r>
            <a:endParaRPr/>
          </a:p>
        </p:txBody>
      </p:sp>
      <p:sp>
        <p:nvSpPr>
          <p:cNvPr id="1528012188" name="Badge 5097"/>
          <p:cNvSpPr/>
          <p:nvPr/>
        </p:nvSpPr>
        <p:spPr bwMode="auto">
          <a:xfrm>
            <a:off x="1216151" y="3337560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425155420" name="TextBox 5098"/>
          <p:cNvSpPr/>
          <p:nvPr/>
        </p:nvSpPr>
        <p:spPr bwMode="auto">
          <a:xfrm>
            <a:off x="1856232" y="32918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Plan your week: lectures + independent study</a:t>
            </a:r>
            <a:endParaRPr/>
          </a:p>
        </p:txBody>
      </p:sp>
      <p:sp>
        <p:nvSpPr>
          <p:cNvPr id="1664135112" name="Badge 5099"/>
          <p:cNvSpPr/>
          <p:nvPr/>
        </p:nvSpPr>
        <p:spPr bwMode="auto">
          <a:xfrm>
            <a:off x="1216151" y="4032504"/>
            <a:ext cx="457200" cy="457200"/>
          </a:xfrm>
          <a:prstGeom prst="ellipse">
            <a:avLst/>
          </a:prstGeom>
          <a:solidFill>
            <a:srgbClr val="964305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629307944" name="TextBox 5100"/>
          <p:cNvSpPr/>
          <p:nvPr/>
        </p:nvSpPr>
        <p:spPr bwMode="auto">
          <a:xfrm>
            <a:off x="1856232" y="3986784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Meet your coordinator in room 207</a:t>
            </a:r>
            <a:endParaRPr/>
          </a:p>
        </p:txBody>
      </p:sp>
      <p:sp>
        <p:nvSpPr>
          <p:cNvPr id="1268289958" name="Card 5101"/>
          <p:cNvSpPr/>
          <p:nvPr/>
        </p:nvSpPr>
        <p:spPr bwMode="auto">
          <a:xfrm>
            <a:off x="6382512" y="1207008"/>
            <a:ext cx="2441448" cy="342900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3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≈ 40 h</a:t>
            </a:r>
            <a:endParaRPr/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5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per week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30 ECTS per semester ≈ 750 hours of work. Studying is a full-time job.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97002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AI and Academic Integrity</a:t>
            </a:r>
            <a:endParaRPr/>
          </a:p>
        </p:txBody>
      </p:sp>
      <p:pic>
        <p:nvPicPr>
          <p:cNvPr id="1993585114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593239384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423835847" name="Card 5102"/>
          <p:cNvSpPr/>
          <p:nvPr/>
        </p:nvSpPr>
        <p:spPr bwMode="auto">
          <a:xfrm>
            <a:off x="1216151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EEF3E3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b="1" i="0">
                <a:solidFill>
                  <a:srgbClr val="2E7D4F"/>
                </a:solidFill>
                <a:latin typeface="Calibri"/>
                <a:ea typeface="Calibri"/>
                <a:cs typeface="Calibri"/>
              </a:rPr>
              <a:t>✓  Allowed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Ask for an explanation when a topic is unclear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Find bugs in your own code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Generate extra practice problems</a:t>
            </a:r>
            <a:endParaRPr/>
          </a:p>
        </p:txBody>
      </p:sp>
      <p:sp>
        <p:nvSpPr>
          <p:cNvPr id="1921206371" name="Card 5103"/>
          <p:cNvSpPr/>
          <p:nvPr/>
        </p:nvSpPr>
        <p:spPr bwMode="auto">
          <a:xfrm>
            <a:off x="5157216" y="1207008"/>
            <a:ext cx="3666744" cy="2377440"/>
          </a:xfrm>
          <a:prstGeom prst="roundRect">
            <a:avLst>
              <a:gd name="adj" fmla="val 8000"/>
            </a:avLst>
          </a:prstGeom>
          <a:solidFill>
            <a:srgbClr val="F8E6E2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b="1" i="0">
                <a:solidFill>
                  <a:srgbClr val="C32D2E"/>
                </a:solidFill>
                <a:latin typeface="Calibri"/>
                <a:ea typeface="Calibri"/>
                <a:cs typeface="Calibri"/>
              </a:rPr>
              <a:t>✗  Not allowed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Submit work that AI wrote for you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Use code you don't understand</a:t>
            </a:r>
            <a:endParaRPr/>
          </a:p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3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•  Present someone else's work as your own</a:t>
            </a:r>
            <a:endParaRPr/>
          </a:p>
        </p:txBody>
      </p:sp>
      <p:sp>
        <p:nvSpPr>
          <p:cNvPr id="978023267" name="Card 5104"/>
          <p:cNvSpPr/>
          <p:nvPr/>
        </p:nvSpPr>
        <p:spPr bwMode="auto">
          <a:xfrm>
            <a:off x="1216151" y="3813048"/>
            <a:ext cx="7607808" cy="82296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Simple rule: </a:t>
            </a:r>
            <a:r>
              <a:rPr lang="en-US"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you can't explain it, it isn't yours.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Course-specific rules are in each syllabus.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773404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What the Program Offers</a:t>
            </a:r>
            <a:endParaRPr/>
          </a:p>
        </p:txBody>
      </p:sp>
      <p:pic>
        <p:nvPicPr>
          <p:cNvPr id="45486067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283977542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415628681" name="Card 5105"/>
          <p:cNvSpPr/>
          <p:nvPr/>
        </p:nvSpPr>
        <p:spPr bwMode="auto">
          <a:xfrm>
            <a:off x="1216151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75236977" name="Badge 5106"/>
          <p:cNvSpPr/>
          <p:nvPr/>
        </p:nvSpPr>
        <p:spPr bwMode="auto">
          <a:xfrm>
            <a:off x="1380744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</p:txBody>
      </p:sp>
      <p:sp>
        <p:nvSpPr>
          <p:cNvPr id="101285070" name="TextBox 5107"/>
          <p:cNvSpPr/>
          <p:nvPr/>
        </p:nvSpPr>
        <p:spPr bwMode="auto">
          <a:xfrm>
            <a:off x="1380744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Computing Center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Labs and equipment for hands-on work</a:t>
            </a:r>
            <a:endParaRPr/>
          </a:p>
        </p:txBody>
      </p:sp>
      <p:sp>
        <p:nvSpPr>
          <p:cNvPr id="1868478294" name="Card 5108"/>
          <p:cNvSpPr/>
          <p:nvPr/>
        </p:nvSpPr>
        <p:spPr bwMode="auto">
          <a:xfrm>
            <a:off x="3828288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09528165" name="Badge 5109"/>
          <p:cNvSpPr/>
          <p:nvPr/>
        </p:nvSpPr>
        <p:spPr bwMode="auto">
          <a:xfrm>
            <a:off x="3992880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93818894" name="TextBox 5110"/>
          <p:cNvSpPr/>
          <p:nvPr/>
        </p:nvSpPr>
        <p:spPr bwMode="auto">
          <a:xfrm>
            <a:off x="3992880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ABET Standard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Curriculum built to the international ABET CAC criteria for Computer Science</a:t>
            </a:r>
            <a:endParaRPr/>
          </a:p>
        </p:txBody>
      </p:sp>
      <p:sp>
        <p:nvSpPr>
          <p:cNvPr id="255979400" name="Card 5111"/>
          <p:cNvSpPr/>
          <p:nvPr/>
        </p:nvSpPr>
        <p:spPr bwMode="auto">
          <a:xfrm>
            <a:off x="6440424" y="12070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16338448" name="Badge 5112"/>
          <p:cNvSpPr/>
          <p:nvPr/>
        </p:nvSpPr>
        <p:spPr bwMode="auto">
          <a:xfrm>
            <a:off x="6605016" y="13898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1278910465" name="TextBox 5113"/>
          <p:cNvSpPr/>
          <p:nvPr/>
        </p:nvSpPr>
        <p:spPr bwMode="auto">
          <a:xfrm>
            <a:off x="6605016" y="18653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Erasmus+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 semester at a partner European university</a:t>
            </a:r>
            <a:endParaRPr/>
          </a:p>
        </p:txBody>
      </p:sp>
      <p:sp>
        <p:nvSpPr>
          <p:cNvPr id="1460345369" name="Card 5114"/>
          <p:cNvSpPr/>
          <p:nvPr/>
        </p:nvSpPr>
        <p:spPr bwMode="auto">
          <a:xfrm>
            <a:off x="1216151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30787406" name="Badge 5115"/>
          <p:cNvSpPr/>
          <p:nvPr/>
        </p:nvSpPr>
        <p:spPr bwMode="auto">
          <a:xfrm>
            <a:off x="1380744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1901723499" name="TextBox 5116"/>
          <p:cNvSpPr/>
          <p:nvPr/>
        </p:nvSpPr>
        <p:spPr bwMode="auto">
          <a:xfrm>
            <a:off x="1380744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Internships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Industry practice in senior years</a:t>
            </a:r>
            <a:endParaRPr/>
          </a:p>
        </p:txBody>
      </p:sp>
      <p:sp>
        <p:nvSpPr>
          <p:cNvPr id="856524610" name="Card 5117"/>
          <p:cNvSpPr/>
          <p:nvPr/>
        </p:nvSpPr>
        <p:spPr bwMode="auto">
          <a:xfrm>
            <a:off x="3828288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70488417" name="Badge 5118"/>
          <p:cNvSpPr/>
          <p:nvPr/>
        </p:nvSpPr>
        <p:spPr bwMode="auto">
          <a:xfrm>
            <a:off x="3992880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569968149" name="TextBox 5119"/>
          <p:cNvSpPr/>
          <p:nvPr/>
        </p:nvSpPr>
        <p:spPr bwMode="auto">
          <a:xfrm>
            <a:off x="3992880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Clubs &amp; Olympiads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Programming contests, hackathons, projects</a:t>
            </a:r>
            <a:endParaRPr/>
          </a:p>
        </p:txBody>
      </p:sp>
      <p:sp>
        <p:nvSpPr>
          <p:cNvPr id="1877854732" name="Card 5120"/>
          <p:cNvSpPr/>
          <p:nvPr/>
        </p:nvSpPr>
        <p:spPr bwMode="auto">
          <a:xfrm>
            <a:off x="6440424" y="3035808"/>
            <a:ext cx="2383536" cy="15544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09728" tIns="109728" rIns="109728" bIns="109728" rtlCol="0" anchor="t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68675815" name="Badge 5121"/>
          <p:cNvSpPr/>
          <p:nvPr/>
        </p:nvSpPr>
        <p:spPr bwMode="auto">
          <a:xfrm>
            <a:off x="6605016" y="3218688"/>
            <a:ext cx="365760" cy="365760"/>
          </a:xfrm>
          <a:prstGeom prst="ellipse">
            <a:avLst/>
          </a:prstGeom>
          <a:solidFill>
            <a:srgbClr val="E7DEC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6</a:t>
            </a:r>
            <a:endParaRPr/>
          </a:p>
        </p:txBody>
      </p:sp>
      <p:sp>
        <p:nvSpPr>
          <p:cNvPr id="273540348" name="TextBox 5122"/>
          <p:cNvSpPr/>
          <p:nvPr/>
        </p:nvSpPr>
        <p:spPr bwMode="auto">
          <a:xfrm>
            <a:off x="6605016" y="3694176"/>
            <a:ext cx="2054352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14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Research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Join faculty members' research projects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383067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>
                <a:latin typeface="BPG WEB 001 Caps"/>
                <a:cs typeface="BPG Web 002"/>
              </a:rPr>
              <a:t>Who to Contact</a:t>
            </a:r>
            <a:endParaRPr/>
          </a:p>
        </p:txBody>
      </p:sp>
      <p:pic>
        <p:nvPicPr>
          <p:cNvPr id="1569504505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1511853573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957805771" name="TextBox 5123"/>
          <p:cNvSpPr/>
          <p:nvPr/>
        </p:nvSpPr>
        <p:spPr bwMode="auto">
          <a:xfrm>
            <a:off x="1216151" y="1207008"/>
            <a:ext cx="760780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Ask your questions. That's what we are here for.</a:t>
            </a:r>
            <a:endParaRPr/>
          </a:p>
        </p:txBody>
      </p:sp>
      <p:sp>
        <p:nvSpPr>
          <p:cNvPr id="1801575815" name="Card 5124"/>
          <p:cNvSpPr/>
          <p:nvPr/>
        </p:nvSpPr>
        <p:spPr bwMode="auto">
          <a:xfrm>
            <a:off x="1216151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4F271C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200" b="1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Program Coordinator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 Tchrelashvili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Room 207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E7DEC9"/>
                </a:solidFill>
                <a:latin typeface="Calibri"/>
                <a:ea typeface="Calibri"/>
                <a:cs typeface="Calibri"/>
              </a:rPr>
              <a:t>Registration, course selection, administrative questions</a:t>
            </a:r>
            <a:endParaRPr/>
          </a:p>
        </p:txBody>
      </p:sp>
      <p:sp>
        <p:nvSpPr>
          <p:cNvPr id="68462636" name="Card 5125"/>
          <p:cNvSpPr/>
          <p:nvPr/>
        </p:nvSpPr>
        <p:spPr bwMode="auto">
          <a:xfrm>
            <a:off x="3828288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2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Program Head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Erekle Magradze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School of Technology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Academic direction, specialization, careers</a:t>
            </a:r>
            <a:endParaRPr/>
          </a:p>
        </p:txBody>
      </p:sp>
      <p:sp>
        <p:nvSpPr>
          <p:cNvPr id="661546296" name="Card 5126"/>
          <p:cNvSpPr/>
          <p:nvPr/>
        </p:nvSpPr>
        <p:spPr bwMode="auto">
          <a:xfrm>
            <a:off x="6440424" y="1755648"/>
            <a:ext cx="2383536" cy="283464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82880" tIns="182880" rIns="182880" bIns="18288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lang="en-US" sz="1200" b="1" i="0">
                <a:solidFill>
                  <a:srgbClr val="6B5A50"/>
                </a:solidFill>
                <a:latin typeface="Calibri"/>
                <a:ea typeface="Calibri"/>
                <a:cs typeface="Calibri"/>
              </a:rPr>
              <a:t>Instructors</a:t>
            </a:r>
            <a:endParaRPr/>
          </a:p>
          <a:p>
            <a:pPr algn="l">
              <a:spcBef>
                <a:spcPts val="0"/>
              </a:spcBef>
              <a:spcAft>
                <a:spcPts val="100"/>
              </a:spcAft>
              <a:buNone/>
              <a:defRPr/>
            </a:pPr>
            <a:r>
              <a:rPr lang="en-US" sz="16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Office hours</a:t>
            </a:r>
            <a:endParaRPr/>
          </a:p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130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See the syllabus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Course content, assignments, grading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15048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b="1">
                <a:latin typeface="BPG WEB 001 Caps"/>
                <a:cs typeface="BPG Web 002"/>
              </a:rPr>
              <a:t>Five Tips for Your First Semester</a:t>
            </a:r>
            <a:endParaRPr/>
          </a:p>
        </p:txBody>
      </p:sp>
      <p:pic>
        <p:nvPicPr>
          <p:cNvPr id="90755521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59894058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1428894165" name="Card 5127"/>
          <p:cNvSpPr/>
          <p:nvPr/>
        </p:nvSpPr>
        <p:spPr bwMode="auto">
          <a:xfrm>
            <a:off x="1216151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1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Attend every lecture from week one</a:t>
            </a:r>
            <a:endParaRPr/>
          </a:p>
        </p:txBody>
      </p:sp>
      <p:sp>
        <p:nvSpPr>
          <p:cNvPr id="1133781818" name="Card 5128"/>
          <p:cNvSpPr/>
          <p:nvPr/>
        </p:nvSpPr>
        <p:spPr bwMode="auto">
          <a:xfrm>
            <a:off x="2765145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Don't leave assignments to the last night</a:t>
            </a:r>
            <a:endParaRPr/>
          </a:p>
        </p:txBody>
      </p:sp>
      <p:sp>
        <p:nvSpPr>
          <p:cNvPr id="387985090" name="Card 5129"/>
          <p:cNvSpPr/>
          <p:nvPr/>
        </p:nvSpPr>
        <p:spPr bwMode="auto">
          <a:xfrm>
            <a:off x="4314139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Ask questions: there's no such thing as a silly one</a:t>
            </a:r>
            <a:endParaRPr/>
          </a:p>
        </p:txBody>
      </p:sp>
      <p:sp>
        <p:nvSpPr>
          <p:cNvPr id="453862300" name="Card 5130"/>
          <p:cNvSpPr/>
          <p:nvPr/>
        </p:nvSpPr>
        <p:spPr bwMode="auto">
          <a:xfrm>
            <a:off x="5863132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Find a study group</a:t>
            </a:r>
            <a:endParaRPr/>
          </a:p>
        </p:txBody>
      </p:sp>
      <p:sp>
        <p:nvSpPr>
          <p:cNvPr id="918207168" name="Card 5131"/>
          <p:cNvSpPr/>
          <p:nvPr/>
        </p:nvSpPr>
        <p:spPr bwMode="auto">
          <a:xfrm>
            <a:off x="7412126" y="1389888"/>
            <a:ext cx="1411833" cy="2468880"/>
          </a:xfrm>
          <a:prstGeom prst="roundRect">
            <a:avLst>
              <a:gd name="adj" fmla="val 8000"/>
            </a:avLst>
          </a:prstGeom>
          <a:solidFill>
            <a:srgbClr val="F5F0E6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  <a:defRPr/>
            </a:pPr>
            <a:r>
              <a:rPr lang="en-US" sz="4000" b="1" i="0">
                <a:solidFill>
                  <a:srgbClr val="964305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 i="0">
                <a:solidFill>
                  <a:srgbClr val="4F271C"/>
                </a:solidFill>
                <a:latin typeface="Calibri"/>
                <a:ea typeface="Calibri"/>
                <a:cs typeface="Calibri"/>
              </a:rPr>
              <a:t>Write code every day, even a little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688351" name="Title 1"/>
          <p:cNvSpPr>
            <a:spLocks noGrp="1"/>
          </p:cNvSpPr>
          <p:nvPr>
            <p:ph type="ctrTitle"/>
          </p:nvPr>
        </p:nvSpPr>
        <p:spPr bwMode="auto">
          <a:xfrm>
            <a:off x="1215972" y="285749"/>
            <a:ext cx="7668660" cy="8375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>
                <a:latin typeface="BPG WEB 001 Caps"/>
                <a:cs typeface="BPG Web 002"/>
              </a:rPr>
              <a:t>Best Advice</a:t>
            </a:r>
            <a:endParaRPr/>
          </a:p>
        </p:txBody>
      </p:sp>
      <p:sp>
        <p:nvSpPr>
          <p:cNvPr id="1904741899" name="Title 1"/>
          <p:cNvSpPr txBox="1"/>
          <p:nvPr/>
        </p:nvSpPr>
        <p:spPr bwMode="auto">
          <a:xfrm>
            <a:off x="1268499" y="1123266"/>
            <a:ext cx="7616133" cy="6864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>
              <a:spcBef>
                <a:spcPts val="0"/>
              </a:spcBef>
              <a:buNone/>
              <a:defRPr sz="430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a-GE" sz="2500">
              <a:latin typeface="BPG WEB 001 Caps"/>
              <a:cs typeface="BPG Web 002"/>
            </a:endParaRPr>
          </a:p>
        </p:txBody>
      </p:sp>
      <p:pic>
        <p:nvPicPr>
          <p:cNvPr id="154713857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579" y="136000"/>
            <a:ext cx="901372" cy="911750"/>
          </a:xfrm>
          <a:prstGeom prst="rect">
            <a:avLst/>
          </a:prstGeom>
        </p:spPr>
      </p:pic>
      <p:sp>
        <p:nvSpPr>
          <p:cNvPr id="973468481" name="TextBox 12"/>
          <p:cNvSpPr txBox="1"/>
          <p:nvPr/>
        </p:nvSpPr>
        <p:spPr bwMode="auto">
          <a:xfrm rot="5400000">
            <a:off x="-1371643" y="2989675"/>
            <a:ext cx="37498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500">
                <a:solidFill>
                  <a:schemeClr val="accent5"/>
                </a:solidFill>
                <a:latin typeface="BPG Web 002 Caps"/>
                <a:cs typeface="BPG Web 002 Caps"/>
              </a:rPr>
              <a:t>ILIA STATE UNIVERSITY</a:t>
            </a:r>
            <a:endParaRPr/>
          </a:p>
        </p:txBody>
      </p:sp>
      <p:sp>
        <p:nvSpPr>
          <p:cNvPr id="664615946" name="TextBox 2"/>
          <p:cNvSpPr txBox="1"/>
          <p:nvPr/>
        </p:nvSpPr>
        <p:spPr bwMode="auto">
          <a:xfrm>
            <a:off x="1250428" y="2543456"/>
            <a:ext cx="708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6000"/>
              <a:t>Never stop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Arial"/>
        <a:cs typeface="Arial"/>
      </a:majorFont>
      <a:minorFont>
        <a:latin typeface="Gill Sans MT"/>
        <a:ea typeface="Arial"/>
        <a:cs typeface="Arial"/>
      </a:minorFont>
    </a:fontScheme>
    <a:fmtScheme name="Solstice">
      <a:fillStyleLst>
        <a:solidFill>
          <a:schemeClr val="phClr"/>
        </a:solidFill>
        <a:gradFill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/>
        </a:gradFill>
        <a:gradFill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algn="tl" flip="xy" sx="90000" sy="90000" tx="0" ty="0"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ხელოვნური ინტელექტი</dc:title>
  <dc:creator>amigo</dc:creator>
  <cp:lastModifiedBy/>
  <cp:revision>732</cp:revision>
  <dcterms:created xsi:type="dcterms:W3CDTF">2016-09-13T18:38:05Z</dcterms:created>
  <dcterms:modified xsi:type="dcterms:W3CDTF">2026-09-23T10:24:22Z</dcterms:modified>
</cp:coreProperties>
</file>