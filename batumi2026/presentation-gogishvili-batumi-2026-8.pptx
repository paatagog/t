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8" r:id="rId2"/>
    <p:sldId id="256" r:id="rId3"/>
    <p:sldId id="257" r:id="rId4"/>
    <p:sldId id="258" r:id="rId5"/>
    <p:sldId id="259" r:id="rId6"/>
    <p:sldId id="260" r:id="rId7"/>
    <p:sldId id="261" r:id="rId8"/>
    <p:sldId id="262"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120" y="5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38737837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96169111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9/1/2026</a:t>
            </a:fld>
            <a:endParaRPr lang="en-US"/>
          </a:p>
        </p:txBody>
      </p:sp>
      <p:sp>
        <p:nvSpPr>
          <p:cNvPr id="2118516823"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0324937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598708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65179322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6316110" name="Slide Image Placeholder 1"/>
          <p:cNvSpPr>
            <a:spLocks noGrp="1" noRot="1" noChangeAspect="1"/>
          </p:cNvSpPr>
          <p:nvPr>
            <p:ph type="sldImg"/>
          </p:nvPr>
        </p:nvSpPr>
        <p:spPr bwMode="auto"/>
      </p:sp>
      <p:sp>
        <p:nvSpPr>
          <p:cNvPr id="1920862964" name="Notes Placeholder 2"/>
          <p:cNvSpPr>
            <a:spLocks noGrp="1"/>
          </p:cNvSpPr>
          <p:nvPr>
            <p:ph type="body" idx="1"/>
          </p:nvPr>
        </p:nvSpPr>
        <p:spPr bwMode="auto"/>
        <p:txBody>
          <a:bodyPr/>
          <a:lstStyle/>
          <a:p>
            <a:pPr>
              <a:defRPr/>
            </a:pPr>
            <a:endParaRPr/>
          </a:p>
        </p:txBody>
      </p:sp>
      <p:sp>
        <p:nvSpPr>
          <p:cNvPr id="1382886581" name="Slide Number Placeholder 3"/>
          <p:cNvSpPr>
            <a:spLocks noGrp="1"/>
          </p:cNvSpPr>
          <p:nvPr>
            <p:ph type="sldNum" sz="quarter" idx="10"/>
          </p:nvPr>
        </p:nvSpPr>
        <p:spPr bwMode="auto"/>
        <p:txBody>
          <a:bodyPr/>
          <a:lstStyle/>
          <a:p>
            <a:pPr>
              <a:defRPr/>
            </a:pPr>
            <a:fld id="{6898FF91-AEAC-B995-D3C3-0AA68E898CAD}" type="slidenum">
              <a:rPr/>
              <a:t>1</a:t>
            </a:fld>
            <a:endParaRPr/>
          </a:p>
        </p:txBody>
      </p:sp>
    </p:spTree>
    <p:extLst>
      <p:ext uri="{BB962C8B-B14F-4D97-AF65-F5344CB8AC3E}">
        <p14:creationId xmlns:p14="http://schemas.microsoft.com/office/powerpoint/2010/main" val="2873136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6316110" name="Slide Image Placeholder 1"/>
          <p:cNvSpPr>
            <a:spLocks noGrp="1" noRot="1" noChangeAspect="1"/>
          </p:cNvSpPr>
          <p:nvPr>
            <p:ph type="sldImg"/>
          </p:nvPr>
        </p:nvSpPr>
        <p:spPr bwMode="auto"/>
      </p:sp>
      <p:sp>
        <p:nvSpPr>
          <p:cNvPr id="1920862964" name="Notes Placeholder 2"/>
          <p:cNvSpPr>
            <a:spLocks noGrp="1"/>
          </p:cNvSpPr>
          <p:nvPr>
            <p:ph type="body" idx="1"/>
          </p:nvPr>
        </p:nvSpPr>
        <p:spPr bwMode="auto"/>
        <p:txBody>
          <a:bodyPr/>
          <a:lstStyle/>
          <a:p>
            <a:pPr>
              <a:defRPr/>
            </a:pPr>
            <a:endParaRPr/>
          </a:p>
        </p:txBody>
      </p:sp>
      <p:sp>
        <p:nvSpPr>
          <p:cNvPr id="1382886581" name="Slide Number Placeholder 3"/>
          <p:cNvSpPr>
            <a:spLocks noGrp="1"/>
          </p:cNvSpPr>
          <p:nvPr>
            <p:ph type="sldNum" sz="quarter" idx="10"/>
          </p:nvPr>
        </p:nvSpPr>
        <p:spPr bwMode="auto"/>
        <p:txBody>
          <a:bodyPr/>
          <a:lstStyle/>
          <a:p>
            <a:pPr>
              <a:defRPr/>
            </a:pPr>
            <a:fld id="{6898FF91-AEAC-B995-D3C3-0AA68E898CAD}"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E4453A-CA78-9F0A-FF5D-852D70454F1D}"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47189114" name="Slide Image Placeholder 1"/>
          <p:cNvSpPr>
            <a:spLocks noGrp="1" noRot="1" noChangeAspect="1"/>
          </p:cNvSpPr>
          <p:nvPr>
            <p:ph type="sldImg"/>
          </p:nvPr>
        </p:nvSpPr>
        <p:spPr bwMode="auto">
          <a:xfrm>
            <a:off x="685800" y="1143000"/>
            <a:ext cx="5486400" cy="3086100"/>
          </a:xfrm>
        </p:spPr>
      </p:sp>
      <p:sp>
        <p:nvSpPr>
          <p:cNvPr id="14700983" name="Notes Placeholder 2"/>
          <p:cNvSpPr>
            <a:spLocks noGrp="1"/>
          </p:cNvSpPr>
          <p:nvPr>
            <p:ph type="body" idx="1"/>
          </p:nvPr>
        </p:nvSpPr>
        <p:spPr bwMode="auto"/>
        <p:txBody>
          <a:bodyPr/>
          <a:lstStyle/>
          <a:p>
            <a:pPr>
              <a:defRPr/>
            </a:pPr>
            <a:endParaRPr lang="en-US">
              <a:latin typeface="Arial"/>
              <a:cs typeface="Arial"/>
            </a:endParaRPr>
          </a:p>
        </p:txBody>
      </p:sp>
      <p:sp>
        <p:nvSpPr>
          <p:cNvPr id="2092520713" name="Slide Number Placeholder 3"/>
          <p:cNvSpPr>
            <a:spLocks noGrp="1"/>
          </p:cNvSpPr>
          <p:nvPr>
            <p:ph type="sldNum" sz="quarter" idx="10"/>
          </p:nvPr>
        </p:nvSpPr>
        <p:spPr bwMode="auto"/>
        <p:txBody>
          <a:bodyPr/>
          <a:lstStyle/>
          <a:p>
            <a:pPr>
              <a:defRPr/>
            </a:pPr>
            <a:fld id="{2E6999B8-B6B4-4561-A3CD-BBCDAB9FC9D9}"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6</a:t>
            </a:fld>
            <a:endParaRPr lang="en-US"/>
          </a:p>
        </p:txBody>
      </p:sp>
    </p:spTree>
    <p:extLst>
      <p:ext uri="{BB962C8B-B14F-4D97-AF65-F5344CB8AC3E}">
        <p14:creationId xmlns:p14="http://schemas.microsoft.com/office/powerpoint/2010/main" val="2065990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7</a:t>
            </a:fld>
            <a:endParaRPr lang="en-US"/>
          </a:p>
        </p:txBody>
      </p:sp>
    </p:spTree>
    <p:extLst>
      <p:ext uri="{BB962C8B-B14F-4D97-AF65-F5344CB8AC3E}">
        <p14:creationId xmlns:p14="http://schemas.microsoft.com/office/powerpoint/2010/main" val="1497688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8</a:t>
            </a:fld>
            <a:endParaRPr lang="en-US"/>
          </a:p>
        </p:txBody>
      </p:sp>
    </p:spTree>
    <p:extLst>
      <p:ext uri="{BB962C8B-B14F-4D97-AF65-F5344CB8AC3E}">
        <p14:creationId xmlns:p14="http://schemas.microsoft.com/office/powerpoint/2010/main" val="3365639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9</a:t>
            </a:fld>
            <a:endParaRPr lang="en-US"/>
          </a:p>
        </p:txBody>
      </p:sp>
    </p:spTree>
    <p:extLst>
      <p:ext uri="{BB962C8B-B14F-4D97-AF65-F5344CB8AC3E}">
        <p14:creationId xmlns:p14="http://schemas.microsoft.com/office/powerpoint/2010/main" val="1303439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10</a:t>
            </a:fld>
            <a:endParaRPr lang="en-US"/>
          </a:p>
        </p:txBody>
      </p:sp>
    </p:spTree>
    <p:extLst>
      <p:ext uri="{BB962C8B-B14F-4D97-AF65-F5344CB8AC3E}">
        <p14:creationId xmlns:p14="http://schemas.microsoft.com/office/powerpoint/2010/main" val="3847576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11</a:t>
            </a:fld>
            <a:endParaRPr lang="en-US"/>
          </a:p>
        </p:txBody>
      </p:sp>
    </p:spTree>
    <p:extLst>
      <p:ext uri="{BB962C8B-B14F-4D97-AF65-F5344CB8AC3E}">
        <p14:creationId xmlns:p14="http://schemas.microsoft.com/office/powerpoint/2010/main" val="442277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12</a:t>
            </a:fld>
            <a:endParaRPr lang="en-US"/>
          </a:p>
        </p:txBody>
      </p:sp>
    </p:spTree>
    <p:extLst>
      <p:ext uri="{BB962C8B-B14F-4D97-AF65-F5344CB8AC3E}">
        <p14:creationId xmlns:p14="http://schemas.microsoft.com/office/powerpoint/2010/main" val="4022685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13</a:t>
            </a:fld>
            <a:endParaRPr lang="en-US"/>
          </a:p>
        </p:txBody>
      </p:sp>
    </p:spTree>
    <p:extLst>
      <p:ext uri="{BB962C8B-B14F-4D97-AF65-F5344CB8AC3E}">
        <p14:creationId xmlns:p14="http://schemas.microsoft.com/office/powerpoint/2010/main" val="717826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14</a:t>
            </a:fld>
            <a:endParaRPr lang="en-US"/>
          </a:p>
        </p:txBody>
      </p:sp>
    </p:spTree>
    <p:extLst>
      <p:ext uri="{BB962C8B-B14F-4D97-AF65-F5344CB8AC3E}">
        <p14:creationId xmlns:p14="http://schemas.microsoft.com/office/powerpoint/2010/main" val="2455613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15</a:t>
            </a:fld>
            <a:endParaRPr lang="en-US"/>
          </a:p>
        </p:txBody>
      </p:sp>
    </p:spTree>
    <p:extLst>
      <p:ext uri="{BB962C8B-B14F-4D97-AF65-F5344CB8AC3E}">
        <p14:creationId xmlns:p14="http://schemas.microsoft.com/office/powerpoint/2010/main" val="31074705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16</a:t>
            </a:fld>
            <a:endParaRPr lang="en-US"/>
          </a:p>
        </p:txBody>
      </p:sp>
    </p:spTree>
    <p:extLst>
      <p:ext uri="{BB962C8B-B14F-4D97-AF65-F5344CB8AC3E}">
        <p14:creationId xmlns:p14="http://schemas.microsoft.com/office/powerpoint/2010/main" val="3172329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17</a:t>
            </a:fld>
            <a:endParaRPr lang="en-US"/>
          </a:p>
        </p:txBody>
      </p:sp>
    </p:spTree>
    <p:extLst>
      <p:ext uri="{BB962C8B-B14F-4D97-AF65-F5344CB8AC3E}">
        <p14:creationId xmlns:p14="http://schemas.microsoft.com/office/powerpoint/2010/main" val="3214921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18</a:t>
            </a:fld>
            <a:endParaRPr lang="en-US"/>
          </a:p>
        </p:txBody>
      </p:sp>
    </p:spTree>
    <p:extLst>
      <p:ext uri="{BB962C8B-B14F-4D97-AF65-F5344CB8AC3E}">
        <p14:creationId xmlns:p14="http://schemas.microsoft.com/office/powerpoint/2010/main" val="3435278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19</a:t>
            </a:fld>
            <a:endParaRPr lang="en-US"/>
          </a:p>
        </p:txBody>
      </p:sp>
    </p:spTree>
    <p:extLst>
      <p:ext uri="{BB962C8B-B14F-4D97-AF65-F5344CB8AC3E}">
        <p14:creationId xmlns:p14="http://schemas.microsoft.com/office/powerpoint/2010/main" val="2095105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20</a:t>
            </a:fld>
            <a:endParaRPr lang="en-US"/>
          </a:p>
        </p:txBody>
      </p:sp>
    </p:spTree>
    <p:extLst>
      <p:ext uri="{BB962C8B-B14F-4D97-AF65-F5344CB8AC3E}">
        <p14:creationId xmlns:p14="http://schemas.microsoft.com/office/powerpoint/2010/main" val="20386781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21</a:t>
            </a:fld>
            <a:endParaRPr lang="en-US"/>
          </a:p>
        </p:txBody>
      </p:sp>
    </p:spTree>
    <p:extLst>
      <p:ext uri="{BB962C8B-B14F-4D97-AF65-F5344CB8AC3E}">
        <p14:creationId xmlns:p14="http://schemas.microsoft.com/office/powerpoint/2010/main" val="728769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E4453A-CA78-9F0A-FF5D-852D70454F1D}" type="slidenum">
              <a:rPr/>
              <a:t>22</a:t>
            </a:fld>
            <a:endParaRPr/>
          </a:p>
        </p:txBody>
      </p:sp>
    </p:spTree>
    <p:extLst>
      <p:ext uri="{BB962C8B-B14F-4D97-AF65-F5344CB8AC3E}">
        <p14:creationId xmlns:p14="http://schemas.microsoft.com/office/powerpoint/2010/main" val="193740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330458776"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p>
        </p:txBody>
      </p:sp>
      <p:sp>
        <p:nvSpPr>
          <p:cNvPr id="502807874"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p>
        </p:txBody>
      </p:sp>
      <p:sp>
        <p:nvSpPr>
          <p:cNvPr id="283820103"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933240997" name="Footer Placeholder 4"/>
          <p:cNvSpPr>
            <a:spLocks noGrp="1"/>
          </p:cNvSpPr>
          <p:nvPr>
            <p:ph type="ftr" sz="quarter" idx="11"/>
          </p:nvPr>
        </p:nvSpPr>
        <p:spPr bwMode="auto"/>
        <p:txBody>
          <a:bodyPr/>
          <a:lstStyle/>
          <a:p>
            <a:pPr>
              <a:defRPr/>
            </a:pPr>
            <a:endParaRPr lang="en-US"/>
          </a:p>
        </p:txBody>
      </p:sp>
      <p:sp>
        <p:nvSpPr>
          <p:cNvPr id="1958917163"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586837184" name="Title 1"/>
          <p:cNvSpPr>
            <a:spLocks noGrp="1"/>
          </p:cNvSpPr>
          <p:nvPr>
            <p:ph type="title"/>
          </p:nvPr>
        </p:nvSpPr>
        <p:spPr bwMode="auto"/>
        <p:txBody>
          <a:bodyPr/>
          <a:lstStyle/>
          <a:p>
            <a:pPr>
              <a:defRPr/>
            </a:pPr>
            <a:r>
              <a:rPr lang="en-US"/>
              <a:t>Click to edit Master title style</a:t>
            </a:r>
          </a:p>
        </p:txBody>
      </p:sp>
      <p:sp>
        <p:nvSpPr>
          <p:cNvPr id="33519250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01847854"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148870619" name="Footer Placeholder 4"/>
          <p:cNvSpPr>
            <a:spLocks noGrp="1"/>
          </p:cNvSpPr>
          <p:nvPr>
            <p:ph type="ftr" sz="quarter" idx="11"/>
          </p:nvPr>
        </p:nvSpPr>
        <p:spPr bwMode="auto"/>
        <p:txBody>
          <a:bodyPr/>
          <a:lstStyle/>
          <a:p>
            <a:pPr>
              <a:defRPr/>
            </a:pPr>
            <a:endParaRPr lang="en-US"/>
          </a:p>
        </p:txBody>
      </p:sp>
      <p:sp>
        <p:nvSpPr>
          <p:cNvPr id="33935432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005438640"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p>
        </p:txBody>
      </p:sp>
      <p:sp>
        <p:nvSpPr>
          <p:cNvPr id="491967044"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790386279"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370053352" name="Footer Placeholder 4"/>
          <p:cNvSpPr>
            <a:spLocks noGrp="1"/>
          </p:cNvSpPr>
          <p:nvPr>
            <p:ph type="ftr" sz="quarter" idx="11"/>
          </p:nvPr>
        </p:nvSpPr>
        <p:spPr bwMode="auto"/>
        <p:txBody>
          <a:bodyPr/>
          <a:lstStyle/>
          <a:p>
            <a:pPr>
              <a:defRPr/>
            </a:pPr>
            <a:endParaRPr lang="en-US"/>
          </a:p>
        </p:txBody>
      </p:sp>
      <p:sp>
        <p:nvSpPr>
          <p:cNvPr id="48561767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464760627" name="Title 1"/>
          <p:cNvSpPr>
            <a:spLocks noGrp="1"/>
          </p:cNvSpPr>
          <p:nvPr>
            <p:ph type="title"/>
          </p:nvPr>
        </p:nvSpPr>
        <p:spPr bwMode="auto"/>
        <p:txBody>
          <a:bodyPr/>
          <a:lstStyle/>
          <a:p>
            <a:pPr>
              <a:defRPr/>
            </a:pPr>
            <a:r>
              <a:rPr lang="en-US"/>
              <a:t>Click to edit Master title style</a:t>
            </a:r>
          </a:p>
        </p:txBody>
      </p:sp>
      <p:sp>
        <p:nvSpPr>
          <p:cNvPr id="998582322"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76492022"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55598982"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567360233" name="Footer Placeholder 5"/>
          <p:cNvSpPr>
            <a:spLocks noGrp="1"/>
          </p:cNvSpPr>
          <p:nvPr>
            <p:ph type="ftr" sz="quarter" idx="11"/>
          </p:nvPr>
        </p:nvSpPr>
        <p:spPr bwMode="auto"/>
        <p:txBody>
          <a:bodyPr/>
          <a:lstStyle/>
          <a:p>
            <a:pPr>
              <a:defRPr/>
            </a:pPr>
            <a:endParaRPr lang="en-US"/>
          </a:p>
        </p:txBody>
      </p:sp>
      <p:sp>
        <p:nvSpPr>
          <p:cNvPr id="118414176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240799922" name="Title 1"/>
          <p:cNvSpPr>
            <a:spLocks noGrp="1"/>
          </p:cNvSpPr>
          <p:nvPr>
            <p:ph type="title"/>
          </p:nvPr>
        </p:nvSpPr>
        <p:spPr bwMode="auto">
          <a:xfrm>
            <a:off x="839788" y="365125"/>
            <a:ext cx="10515600" cy="1325563"/>
          </a:xfrm>
        </p:spPr>
        <p:txBody>
          <a:bodyPr/>
          <a:lstStyle/>
          <a:p>
            <a:pPr>
              <a:defRPr/>
            </a:pPr>
            <a:r>
              <a:rPr lang="en-US"/>
              <a:t>Click to edit Master title style</a:t>
            </a:r>
          </a:p>
        </p:txBody>
      </p:sp>
      <p:sp>
        <p:nvSpPr>
          <p:cNvPr id="957169366"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954207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73888320"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70846694"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854642488" name="Date Placeholder 6"/>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698460407" name="Footer Placeholder 7"/>
          <p:cNvSpPr>
            <a:spLocks noGrp="1"/>
          </p:cNvSpPr>
          <p:nvPr>
            <p:ph type="ftr" sz="quarter" idx="11"/>
          </p:nvPr>
        </p:nvSpPr>
        <p:spPr bwMode="auto"/>
        <p:txBody>
          <a:bodyPr/>
          <a:lstStyle/>
          <a:p>
            <a:pPr>
              <a:defRPr/>
            </a:pPr>
            <a:endParaRPr lang="en-US"/>
          </a:p>
        </p:txBody>
      </p:sp>
      <p:sp>
        <p:nvSpPr>
          <p:cNvPr id="865592743"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439371083" name="Title 1"/>
          <p:cNvSpPr>
            <a:spLocks noGrp="1"/>
          </p:cNvSpPr>
          <p:nvPr>
            <p:ph type="title"/>
          </p:nvPr>
        </p:nvSpPr>
        <p:spPr bwMode="auto"/>
        <p:txBody>
          <a:bodyPr/>
          <a:lstStyle/>
          <a:p>
            <a:pPr>
              <a:defRPr/>
            </a:pPr>
            <a:r>
              <a:rPr lang="en-US"/>
              <a:t>Click to edit Master title style</a:t>
            </a:r>
          </a:p>
        </p:txBody>
      </p:sp>
      <p:sp>
        <p:nvSpPr>
          <p:cNvPr id="446214305" name="Date Placeholder 2"/>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909467972" name="Footer Placeholder 3"/>
          <p:cNvSpPr>
            <a:spLocks noGrp="1"/>
          </p:cNvSpPr>
          <p:nvPr>
            <p:ph type="ftr" sz="quarter" idx="11"/>
          </p:nvPr>
        </p:nvSpPr>
        <p:spPr bwMode="auto"/>
        <p:txBody>
          <a:bodyPr/>
          <a:lstStyle/>
          <a:p>
            <a:pPr>
              <a:defRPr/>
            </a:pPr>
            <a:endParaRPr lang="en-US"/>
          </a:p>
        </p:txBody>
      </p:sp>
      <p:sp>
        <p:nvSpPr>
          <p:cNvPr id="371759404"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923404026" name="Date Placeholder 1"/>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388554971" name="Footer Placeholder 2"/>
          <p:cNvSpPr>
            <a:spLocks noGrp="1"/>
          </p:cNvSpPr>
          <p:nvPr>
            <p:ph type="ftr" sz="quarter" idx="11"/>
          </p:nvPr>
        </p:nvSpPr>
        <p:spPr bwMode="auto"/>
        <p:txBody>
          <a:bodyPr/>
          <a:lstStyle/>
          <a:p>
            <a:pPr>
              <a:defRPr/>
            </a:pPr>
            <a:endParaRPr lang="en-US"/>
          </a:p>
        </p:txBody>
      </p:sp>
      <p:sp>
        <p:nvSpPr>
          <p:cNvPr id="1870710699"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025691679"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1684711559"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51589845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01028435"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854582889" name="Footer Placeholder 5"/>
          <p:cNvSpPr>
            <a:spLocks noGrp="1"/>
          </p:cNvSpPr>
          <p:nvPr>
            <p:ph type="ftr" sz="quarter" idx="11"/>
          </p:nvPr>
        </p:nvSpPr>
        <p:spPr bwMode="auto"/>
        <p:txBody>
          <a:bodyPr/>
          <a:lstStyle/>
          <a:p>
            <a:pPr>
              <a:defRPr/>
            </a:pPr>
            <a:endParaRPr lang="en-US"/>
          </a:p>
        </p:txBody>
      </p:sp>
      <p:sp>
        <p:nvSpPr>
          <p:cNvPr id="1662437260"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703165698"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996091248" name="Picture Placeholder 2"/>
          <p:cNvSpPr>
            <a:spLocks noGrp="1" noChangeAspect="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143408876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129667935"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2127735055" name="Footer Placeholder 5"/>
          <p:cNvSpPr>
            <a:spLocks noGrp="1"/>
          </p:cNvSpPr>
          <p:nvPr>
            <p:ph type="ftr" sz="quarter" idx="11"/>
          </p:nvPr>
        </p:nvSpPr>
        <p:spPr bwMode="auto"/>
        <p:txBody>
          <a:bodyPr/>
          <a:lstStyle/>
          <a:p>
            <a:pPr>
              <a:defRPr/>
            </a:pPr>
            <a:endParaRPr lang="en-US"/>
          </a:p>
        </p:txBody>
      </p:sp>
      <p:sp>
        <p:nvSpPr>
          <p:cNvPr id="886187643"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297830480" name="Title 1"/>
          <p:cNvSpPr>
            <a:spLocks noGrp="1"/>
          </p:cNvSpPr>
          <p:nvPr>
            <p:ph type="title"/>
          </p:nvPr>
        </p:nvSpPr>
        <p:spPr bwMode="auto"/>
        <p:txBody>
          <a:bodyPr/>
          <a:lstStyle/>
          <a:p>
            <a:pPr>
              <a:defRPr/>
            </a:pPr>
            <a:r>
              <a:rPr lang="en-US"/>
              <a:t>Click to edit Master title style</a:t>
            </a:r>
          </a:p>
        </p:txBody>
      </p:sp>
      <p:sp>
        <p:nvSpPr>
          <p:cNvPr id="375496444"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339193030"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625342959" name="Footer Placeholder 4"/>
          <p:cNvSpPr>
            <a:spLocks noGrp="1"/>
          </p:cNvSpPr>
          <p:nvPr>
            <p:ph type="ftr" sz="quarter" idx="11"/>
          </p:nvPr>
        </p:nvSpPr>
        <p:spPr bwMode="auto"/>
        <p:txBody>
          <a:bodyPr/>
          <a:lstStyle/>
          <a:p>
            <a:pPr>
              <a:defRPr/>
            </a:pPr>
            <a:endParaRPr lang="en-US"/>
          </a:p>
        </p:txBody>
      </p:sp>
      <p:sp>
        <p:nvSpPr>
          <p:cNvPr id="20121154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969839425"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p>
        </p:txBody>
      </p:sp>
      <p:sp>
        <p:nvSpPr>
          <p:cNvPr id="2061991949"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998676596"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354110940" name="Footer Placeholder 4"/>
          <p:cNvSpPr>
            <a:spLocks noGrp="1"/>
          </p:cNvSpPr>
          <p:nvPr>
            <p:ph type="ftr" sz="quarter" idx="11"/>
          </p:nvPr>
        </p:nvSpPr>
        <p:spPr bwMode="auto"/>
        <p:txBody>
          <a:bodyPr/>
          <a:lstStyle/>
          <a:p>
            <a:pPr>
              <a:defRPr/>
            </a:pPr>
            <a:endParaRPr lang="en-US"/>
          </a:p>
        </p:txBody>
      </p:sp>
      <p:sp>
        <p:nvSpPr>
          <p:cNvPr id="1029901417"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112829085"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1941002816"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191264615"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9/1/2026</a:t>
            </a:fld>
            <a:endParaRPr lang="en-US"/>
          </a:p>
        </p:txBody>
      </p:sp>
      <p:sp>
        <p:nvSpPr>
          <p:cNvPr id="943872002"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55078185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0"/>
    </mc:Choice>
    <mc:Fallback>
      <p:transition/>
    </mc:Fallback>
  </mc:AlternateConten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17910585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5564308" name="Picture 75564307"/>
          <p:cNvPicPr>
            <a:picLocks noChangeAspect="1"/>
          </p:cNvPicPr>
          <p:nvPr/>
        </p:nvPicPr>
        <p:blipFill rotWithShape="1">
          <a:blip r:embed="rId3"/>
          <a:stretch/>
        </p:blipFill>
        <p:spPr bwMode="auto">
          <a:xfrm>
            <a:off x="-99253" y="-33716"/>
            <a:ext cx="12375545" cy="690728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20281554" name="Picture 2020281553"/>
          <p:cNvPicPr>
            <a:picLocks noChangeAspect="1"/>
          </p:cNvPicPr>
          <p:nvPr/>
        </p:nvPicPr>
        <p:blipFill rotWithShape="1">
          <a:blip r:embed="rId3"/>
          <a:stretch/>
        </p:blipFill>
        <p:spPr bwMode="auto">
          <a:xfrm>
            <a:off x="-86624" y="-50574"/>
            <a:ext cx="12275385" cy="690857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44678072" name="TextBox 344678071"/>
          <p:cNvSpPr txBox="1"/>
          <p:nvPr/>
        </p:nvSpPr>
        <p:spPr bwMode="auto">
          <a:xfrm>
            <a:off x="581577" y="2391960"/>
            <a:ext cx="11172294" cy="15548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400" b="1" i="0" u="none" strike="noStrike" cap="none" spc="0">
                <a:solidFill>
                  <a:schemeClr val="tx1"/>
                </a:solidFill>
                <a:latin typeface="Arial"/>
                <a:ea typeface="Arial"/>
                <a:cs typeface="Arial"/>
              </a:rPr>
              <a:t>Assessment That Survives AI</a:t>
            </a:r>
          </a:p>
          <a:p>
            <a:pPr algn="ctr">
              <a:defRPr/>
            </a:pPr>
            <a:endParaRPr sz="2400" b="1"/>
          </a:p>
          <a:p>
            <a:pPr algn="ctr">
              <a:defRPr/>
            </a:pPr>
            <a:r>
              <a:rPr lang="en-US" sz="2400" b="1" i="0" u="none" strike="noStrike" cap="none" spc="0">
                <a:solidFill>
                  <a:schemeClr val="tx1"/>
                </a:solidFill>
                <a:latin typeface="Arial"/>
                <a:ea typeface="Arial"/>
                <a:cs typeface="Arial"/>
              </a:rPr>
              <a:t>Designing Mathematics Assignments on Graphs, Functions, Limits, and Derivatives for AI-Permitted Learning</a:t>
            </a:r>
          </a:p>
        </p:txBody>
      </p:sp>
      <p:sp>
        <p:nvSpPr>
          <p:cNvPr id="1702887333" name="TextBox 1702887332"/>
          <p:cNvSpPr txBox="1"/>
          <p:nvPr/>
        </p:nvSpPr>
        <p:spPr bwMode="auto">
          <a:xfrm>
            <a:off x="180601" y="5747300"/>
            <a:ext cx="5190383" cy="914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a:t>Ilia State University, Associate Professor,</a:t>
            </a:r>
          </a:p>
          <a:p>
            <a:pPr algn="l">
              <a:defRPr/>
            </a:pPr>
            <a:r>
              <a:rPr/>
              <a:t>Head of The School of Technology,</a:t>
            </a:r>
          </a:p>
          <a:p>
            <a:pPr algn="l">
              <a:defRPr/>
            </a:pPr>
            <a:r>
              <a:rPr/>
              <a:t>Head of The Computing Center.</a:t>
            </a:r>
          </a:p>
        </p:txBody>
      </p:sp>
      <p:sp>
        <p:nvSpPr>
          <p:cNvPr id="919056147" name=" 919056146"/>
          <p:cNvSpPr/>
          <p:nvPr/>
        </p:nvSpPr>
        <p:spPr bwMode="auto">
          <a:xfrm>
            <a:off x="363318" y="447590"/>
            <a:ext cx="11608813" cy="12347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sz="3750" b="1" i="0" u="none">
                <a:solidFill>
                  <a:srgbClr val="014399"/>
                </a:solidFill>
                <a:latin typeface="Arial"/>
                <a:ea typeface="Arial"/>
                <a:cs typeface="Arial"/>
              </a:rPr>
              <a:t>XVI Annual International Conference of the Georgian Mathematical Union</a:t>
            </a:r>
            <a:endParaRPr/>
          </a:p>
        </p:txBody>
      </p:sp>
      <p:sp>
        <p:nvSpPr>
          <p:cNvPr id="657753896" name="TextBox 657753895"/>
          <p:cNvSpPr txBox="1"/>
          <p:nvPr/>
        </p:nvSpPr>
        <p:spPr bwMode="auto">
          <a:xfrm>
            <a:off x="7330789" y="5884460"/>
            <a:ext cx="4223927"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a:t>Batumi Shota Rustaveli State University</a:t>
            </a:r>
          </a:p>
          <a:p>
            <a:pPr algn="l">
              <a:defRPr/>
            </a:pPr>
            <a:r>
              <a:rPr lang="en-US" sz="1800" b="0" i="0" u="none" strike="noStrike" cap="none" spc="0">
                <a:solidFill>
                  <a:schemeClr val="tx1"/>
                </a:solidFill>
                <a:latin typeface="Arial"/>
                <a:ea typeface="Arial"/>
                <a:cs typeface="Arial"/>
              </a:rPr>
              <a:t>31/08/2026 - 05/09/2026</a:t>
            </a:r>
            <a:endParaRPr/>
          </a:p>
        </p:txBody>
      </p:sp>
      <p:sp>
        <p:nvSpPr>
          <p:cNvPr id="1910169788" name="TextBox 1910169787"/>
          <p:cNvSpPr txBox="1"/>
          <p:nvPr/>
        </p:nvSpPr>
        <p:spPr bwMode="auto">
          <a:xfrm>
            <a:off x="3490552" y="4408473"/>
            <a:ext cx="5301459" cy="427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sz="2200" b="1">
                <a:solidFill>
                  <a:srgbClr val="014399"/>
                </a:solidFill>
              </a:rPr>
              <a:t>Paata Gogishvili</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204883" y="948037"/>
            <a:ext cx="11807071" cy="1768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en-US" sz="2200" b="0" i="0" u="none" strike="noStrike" cap="none" spc="0" dirty="0">
                <a:solidFill>
                  <a:schemeClr val="tx1"/>
                </a:solidFill>
                <a:latin typeface="Arial"/>
                <a:ea typeface="Arial"/>
                <a:cs typeface="Arial"/>
              </a:rPr>
              <a:t>Teaching mathematics is one of the biggest challenges in modern higher education.</a:t>
            </a:r>
            <a:endParaRPr sz="2200" dirty="0"/>
          </a:p>
          <a:p>
            <a:pPr algn="l">
              <a:defRPr/>
            </a:pPr>
            <a:endParaRPr sz="2200" dirty="0"/>
          </a:p>
          <a:p>
            <a:pPr algn="l">
              <a:defRPr/>
            </a:pPr>
            <a:r>
              <a:rPr lang="en-US" sz="2200" b="0" i="0" u="none" strike="noStrike" cap="none" spc="0" dirty="0">
                <a:solidFill>
                  <a:schemeClr val="tx1"/>
                </a:solidFill>
                <a:latin typeface="Arial"/>
                <a:ea typeface="Arial"/>
                <a:cs typeface="Arial"/>
              </a:rPr>
              <a:t>Typically, the level of first-year students in mathematics is very low. Sometimes, their knowledge is limited to memorized formulas, and there is a noticeable lack of analytical and mathematical thinking.</a:t>
            </a:r>
            <a:endParaRPr sz="2200" dirty="0"/>
          </a:p>
        </p:txBody>
      </p:sp>
      <p:sp>
        <p:nvSpPr>
          <p:cNvPr id="651629504" name="TextBox 651629503"/>
          <p:cNvSpPr txBox="1"/>
          <p:nvPr/>
        </p:nvSpPr>
        <p:spPr bwMode="auto">
          <a:xfrm>
            <a:off x="180601" y="2915760"/>
            <a:ext cx="11810670" cy="1768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en-US" sz="2200" b="0" i="0" u="none" strike="noStrike" cap="none" spc="0">
                <a:solidFill>
                  <a:schemeClr val="tx1"/>
                </a:solidFill>
                <a:latin typeface="Arial"/>
                <a:ea typeface="Arial"/>
                <a:cs typeface="Arial"/>
              </a:rPr>
              <a:t>The emergence of artificial intelligence systems has added new dimensions to teaching.</a:t>
            </a:r>
            <a:endParaRPr sz="2200"/>
          </a:p>
          <a:p>
            <a:pPr algn="l">
              <a:defRPr/>
            </a:pPr>
            <a:endParaRPr sz="2200"/>
          </a:p>
          <a:p>
            <a:pPr algn="l">
              <a:defRPr/>
            </a:pPr>
            <a:r>
              <a:rPr lang="en-US" sz="2200" b="0" i="0" u="none" strike="noStrike" cap="none" spc="0">
                <a:solidFill>
                  <a:schemeClr val="tx1"/>
                </a:solidFill>
                <a:latin typeface="Arial"/>
                <a:ea typeface="Arial"/>
                <a:cs typeface="Arial"/>
              </a:rPr>
              <a:t>Students try to copy their assignments directly into artificial intelligence systems to get ready-made solutions. Artificial intelligence, on the other hand, handles mathematical tasks quite successfully.</a:t>
            </a:r>
            <a:endParaRPr sz="2200"/>
          </a:p>
        </p:txBody>
      </p:sp>
      <p:sp>
        <p:nvSpPr>
          <p:cNvPr id="431778822" name="TextBox 431778821"/>
          <p:cNvSpPr txBox="1"/>
          <p:nvPr/>
        </p:nvSpPr>
        <p:spPr bwMode="auto">
          <a:xfrm>
            <a:off x="190485" y="5470483"/>
            <a:ext cx="11821469" cy="427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200" b="1" i="0" u="none" strike="noStrike" cap="none" spc="0">
                <a:solidFill>
                  <a:schemeClr val="tx1"/>
                </a:solidFill>
                <a:latin typeface="Arial"/>
                <a:ea typeface="Arial"/>
                <a:cs typeface="Arial"/>
              </a:rPr>
              <a:t>Our presentation today is dedicated specifically to tackling this challenge.</a:t>
            </a:r>
            <a:endParaRPr sz="2200" b="1"/>
          </a:p>
        </p:txBody>
      </p:sp>
      <p:sp>
        <p:nvSpPr>
          <p:cNvPr id="5" name="TextBox 4"/>
          <p:cNvSpPr txBox="1"/>
          <p:nvPr/>
        </p:nvSpPr>
        <p:spPr bwMode="auto">
          <a:xfrm>
            <a:off x="204883" y="21381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OVERVIEW</a:t>
            </a:r>
            <a:endParaRPr sz="3000" b="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538183009"/>
                                        </p:tgtEl>
                                        <p:attrNameLst>
                                          <p:attrName>style.visibility</p:attrName>
                                        </p:attrNameLst>
                                      </p:cBhvr>
                                      <p:to>
                                        <p:strVal val="visible"/>
                                      </p:to>
                                    </p:set>
                                    <p:anim calcmode="lin" valueType="num">
                                      <p:cBhvr additive="base">
                                        <p:cTn id="12" dur="500" fill="hold"/>
                                        <p:tgtEl>
                                          <p:spTgt spid="1538183009"/>
                                        </p:tgtEl>
                                        <p:attrNameLst>
                                          <p:attrName>ppt_x</p:attrName>
                                        </p:attrNameLst>
                                      </p:cBhvr>
                                      <p:tavLst>
                                        <p:tav tm="0">
                                          <p:val>
                                            <p:strVal val="#ppt_x"/>
                                          </p:val>
                                        </p:tav>
                                        <p:tav tm="100000">
                                          <p:val>
                                            <p:strVal val="#ppt_x"/>
                                          </p:val>
                                        </p:tav>
                                      </p:tavLst>
                                    </p:anim>
                                    <p:anim calcmode="lin" valueType="num">
                                      <p:cBhvr additive="base">
                                        <p:cTn id="13" dur="500" fill="hold"/>
                                        <p:tgtEl>
                                          <p:spTgt spid="153818300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51629504"/>
                                        </p:tgtEl>
                                        <p:attrNameLst>
                                          <p:attrName>style.visibility</p:attrName>
                                        </p:attrNameLst>
                                      </p:cBhvr>
                                      <p:to>
                                        <p:strVal val="visible"/>
                                      </p:to>
                                    </p:set>
                                    <p:anim calcmode="lin" valueType="num">
                                      <p:cBhvr additive="base">
                                        <p:cTn id="17" dur="500" fill="hold"/>
                                        <p:tgtEl>
                                          <p:spTgt spid="651629504"/>
                                        </p:tgtEl>
                                        <p:attrNameLst>
                                          <p:attrName>ppt_x</p:attrName>
                                        </p:attrNameLst>
                                      </p:cBhvr>
                                      <p:tavLst>
                                        <p:tav tm="0">
                                          <p:val>
                                            <p:strVal val="#ppt_x"/>
                                          </p:val>
                                        </p:tav>
                                        <p:tav tm="100000">
                                          <p:val>
                                            <p:strVal val="#ppt_x"/>
                                          </p:val>
                                        </p:tav>
                                      </p:tavLst>
                                    </p:anim>
                                    <p:anim calcmode="lin" valueType="num">
                                      <p:cBhvr additive="base">
                                        <p:cTn id="18"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31778822"/>
                                        </p:tgtEl>
                                        <p:attrNameLst>
                                          <p:attrName>style.visibility</p:attrName>
                                        </p:attrNameLst>
                                      </p:cBhvr>
                                      <p:to>
                                        <p:strVal val="visible"/>
                                      </p:to>
                                    </p:set>
                                    <p:anim calcmode="lin" valueType="num">
                                      <p:cBhvr additive="base">
                                        <p:cTn id="23" dur="500" fill="hold"/>
                                        <p:tgtEl>
                                          <p:spTgt spid="431778822"/>
                                        </p:tgtEl>
                                        <p:attrNameLst>
                                          <p:attrName>ppt_x</p:attrName>
                                        </p:attrNameLst>
                                      </p:cBhvr>
                                      <p:tavLst>
                                        <p:tav tm="0">
                                          <p:val>
                                            <p:strVal val="#ppt_x"/>
                                          </p:val>
                                        </p:tav>
                                        <p:tav tm="100000">
                                          <p:val>
                                            <p:strVal val="#ppt_x"/>
                                          </p:val>
                                        </p:tav>
                                      </p:tavLst>
                                    </p:anim>
                                    <p:anim calcmode="lin" valueType="num">
                                      <p:cBhvr additive="base">
                                        <p:cTn id="24" dur="500" fill="hold"/>
                                        <p:tgtEl>
                                          <p:spTgt spid="431778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1314015"/>
            <a:ext cx="11807071" cy="106548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2200" dirty="0"/>
              <a:t>Excluding the artificial intelligence factor is one approach. For example, during exams, we could bring the student into an examination hall where supervision is established, thus eliminating the use of AI systems.</a:t>
            </a:r>
            <a:endParaRPr sz="2200" dirty="0"/>
          </a:p>
        </p:txBody>
      </p:sp>
      <p:sp>
        <p:nvSpPr>
          <p:cNvPr id="651629504" name="TextBox 651629503"/>
          <p:cNvSpPr txBox="1"/>
          <p:nvPr/>
        </p:nvSpPr>
        <p:spPr bwMode="auto">
          <a:xfrm>
            <a:off x="180601" y="2915760"/>
            <a:ext cx="11810670" cy="41671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The goal of our report is to propose a different approach</a:t>
            </a:r>
            <a:r>
              <a:rPr lang="en-US" sz="2200" dirty="0" smtClean="0"/>
              <a:t>.</a:t>
            </a:r>
            <a:endParaRPr lang="ka-GE" sz="2200" dirty="0" smtClean="0"/>
          </a:p>
        </p:txBody>
      </p:sp>
      <p:sp>
        <p:nvSpPr>
          <p:cNvPr id="431778822" name="TextBox 431778821"/>
          <p:cNvSpPr txBox="1"/>
          <p:nvPr/>
        </p:nvSpPr>
        <p:spPr bwMode="auto">
          <a:xfrm>
            <a:off x="190485" y="5470483"/>
            <a:ext cx="11821469" cy="7411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200" b="1" dirty="0"/>
              <a:t>We have developed a method that takes into account the fact that a student might use artificial intelligence, yet we are still able to adequately assess their knowledge.</a:t>
            </a:r>
          </a:p>
        </p:txBody>
      </p:sp>
      <p:sp>
        <p:nvSpPr>
          <p:cNvPr id="5" name="TextBox 4"/>
          <p:cNvSpPr txBox="1"/>
          <p:nvPr/>
        </p:nvSpPr>
        <p:spPr bwMode="auto">
          <a:xfrm>
            <a:off x="204883" y="21381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SOLUTION</a:t>
            </a:r>
            <a:endParaRPr sz="3000" b="1" dirty="0"/>
          </a:p>
        </p:txBody>
      </p:sp>
    </p:spTree>
    <p:extLst>
      <p:ext uri="{BB962C8B-B14F-4D97-AF65-F5344CB8AC3E}">
        <p14:creationId xmlns:p14="http://schemas.microsoft.com/office/powerpoint/2010/main" val="26313419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538183009"/>
                                        </p:tgtEl>
                                        <p:attrNameLst>
                                          <p:attrName>style.visibility</p:attrName>
                                        </p:attrNameLst>
                                      </p:cBhvr>
                                      <p:to>
                                        <p:strVal val="visible"/>
                                      </p:to>
                                    </p:set>
                                    <p:anim calcmode="lin" valueType="num">
                                      <p:cBhvr additive="base">
                                        <p:cTn id="12" dur="500" fill="hold"/>
                                        <p:tgtEl>
                                          <p:spTgt spid="1538183009"/>
                                        </p:tgtEl>
                                        <p:attrNameLst>
                                          <p:attrName>ppt_x</p:attrName>
                                        </p:attrNameLst>
                                      </p:cBhvr>
                                      <p:tavLst>
                                        <p:tav tm="0">
                                          <p:val>
                                            <p:strVal val="#ppt_x"/>
                                          </p:val>
                                        </p:tav>
                                        <p:tav tm="100000">
                                          <p:val>
                                            <p:strVal val="#ppt_x"/>
                                          </p:val>
                                        </p:tav>
                                      </p:tavLst>
                                    </p:anim>
                                    <p:anim calcmode="lin" valueType="num">
                                      <p:cBhvr additive="base">
                                        <p:cTn id="13" dur="500" fill="hold"/>
                                        <p:tgtEl>
                                          <p:spTgt spid="153818300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51629504"/>
                                        </p:tgtEl>
                                        <p:attrNameLst>
                                          <p:attrName>style.visibility</p:attrName>
                                        </p:attrNameLst>
                                      </p:cBhvr>
                                      <p:to>
                                        <p:strVal val="visible"/>
                                      </p:to>
                                    </p:set>
                                    <p:anim calcmode="lin" valueType="num">
                                      <p:cBhvr additive="base">
                                        <p:cTn id="17" dur="500" fill="hold"/>
                                        <p:tgtEl>
                                          <p:spTgt spid="651629504"/>
                                        </p:tgtEl>
                                        <p:attrNameLst>
                                          <p:attrName>ppt_x</p:attrName>
                                        </p:attrNameLst>
                                      </p:cBhvr>
                                      <p:tavLst>
                                        <p:tav tm="0">
                                          <p:val>
                                            <p:strVal val="#ppt_x"/>
                                          </p:val>
                                        </p:tav>
                                        <p:tav tm="100000">
                                          <p:val>
                                            <p:strVal val="#ppt_x"/>
                                          </p:val>
                                        </p:tav>
                                      </p:tavLst>
                                    </p:anim>
                                    <p:anim calcmode="lin" valueType="num">
                                      <p:cBhvr additive="base">
                                        <p:cTn id="18"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31778822"/>
                                        </p:tgtEl>
                                        <p:attrNameLst>
                                          <p:attrName>style.visibility</p:attrName>
                                        </p:attrNameLst>
                                      </p:cBhvr>
                                      <p:to>
                                        <p:strVal val="visible"/>
                                      </p:to>
                                    </p:set>
                                    <p:anim calcmode="lin" valueType="num">
                                      <p:cBhvr additive="base">
                                        <p:cTn id="23" dur="500" fill="hold"/>
                                        <p:tgtEl>
                                          <p:spTgt spid="431778822"/>
                                        </p:tgtEl>
                                        <p:attrNameLst>
                                          <p:attrName>ppt_x</p:attrName>
                                        </p:attrNameLst>
                                      </p:cBhvr>
                                      <p:tavLst>
                                        <p:tav tm="0">
                                          <p:val>
                                            <p:strVal val="#ppt_x"/>
                                          </p:val>
                                        </p:tav>
                                        <p:tav tm="100000">
                                          <p:val>
                                            <p:strVal val="#ppt_x"/>
                                          </p:val>
                                        </p:tav>
                                      </p:tavLst>
                                    </p:anim>
                                    <p:anim calcmode="lin" valueType="num">
                                      <p:cBhvr additive="base">
                                        <p:cTn id="24" dur="500" fill="hold"/>
                                        <p:tgtEl>
                                          <p:spTgt spid="431778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1851806"/>
            <a:ext cx="11807071" cy="268740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2200" dirty="0"/>
              <a:t>I teach several </a:t>
            </a:r>
            <a:r>
              <a:rPr lang="en-US" sz="2200" dirty="0" smtClean="0"/>
              <a:t>courses </a:t>
            </a:r>
            <a:r>
              <a:rPr lang="en-US" sz="2200" dirty="0"/>
              <a:t>at the university where I actively use mathematical tools, which is precisely why I started working on this issue. Furthermore, my father teaches mathematics at the university, and he was also interested in working on these matters. </a:t>
            </a:r>
            <a:endParaRPr lang="en-US" sz="2200" dirty="0" smtClean="0"/>
          </a:p>
          <a:p>
            <a:pPr algn="just">
              <a:defRPr/>
            </a:pPr>
            <a:endParaRPr lang="en-US" sz="2200" dirty="0"/>
          </a:p>
          <a:p>
            <a:pPr algn="just">
              <a:defRPr/>
            </a:pPr>
            <a:r>
              <a:rPr lang="en-US" sz="2200" dirty="0" smtClean="0"/>
              <a:t>Last </a:t>
            </a:r>
            <a:r>
              <a:rPr lang="en-US" sz="2200" dirty="0"/>
              <a:t>year, he presented the results of our joint work to you. Since then, our approach has developed further, and today I am presenting these updated results</a:t>
            </a:r>
            <a:r>
              <a:rPr lang="en-US" sz="2200" dirty="0" smtClean="0"/>
              <a:t>.</a:t>
            </a:r>
          </a:p>
          <a:p>
            <a:pPr algn="just">
              <a:defRPr/>
            </a:pPr>
            <a:endParaRPr lang="en-US" sz="2200" dirty="0"/>
          </a:p>
          <a:p>
            <a:pPr algn="just">
              <a:defRPr/>
            </a:pPr>
            <a:r>
              <a:rPr lang="en-US" sz="2200" dirty="0" smtClean="0"/>
              <a:t>Our approach is already implemented and successfully used for three years.</a:t>
            </a:r>
            <a:endParaRPr sz="2200" dirty="0"/>
          </a:p>
        </p:txBody>
      </p:sp>
      <p:sp>
        <p:nvSpPr>
          <p:cNvPr id="3" name="TextBox 2"/>
          <p:cNvSpPr txBox="1"/>
          <p:nvPr/>
        </p:nvSpPr>
        <p:spPr bwMode="auto">
          <a:xfrm>
            <a:off x="204883" y="21381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ALREADY USED SUCCESSFULLY</a:t>
            </a:r>
            <a:endParaRPr sz="3000" b="1" dirty="0"/>
          </a:p>
        </p:txBody>
      </p:sp>
    </p:spTree>
    <p:extLst>
      <p:ext uri="{BB962C8B-B14F-4D97-AF65-F5344CB8AC3E}">
        <p14:creationId xmlns:p14="http://schemas.microsoft.com/office/powerpoint/2010/main" val="24816050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538183009"/>
                                        </p:tgtEl>
                                        <p:attrNameLst>
                                          <p:attrName>style.visibility</p:attrName>
                                        </p:attrNameLst>
                                      </p:cBhvr>
                                      <p:to>
                                        <p:strVal val="visible"/>
                                      </p:to>
                                    </p:set>
                                    <p:anim calcmode="lin" valueType="num">
                                      <p:cBhvr additive="base">
                                        <p:cTn id="12" dur="500" fill="hold"/>
                                        <p:tgtEl>
                                          <p:spTgt spid="1538183009"/>
                                        </p:tgtEl>
                                        <p:attrNameLst>
                                          <p:attrName>ppt_x</p:attrName>
                                        </p:attrNameLst>
                                      </p:cBhvr>
                                      <p:tavLst>
                                        <p:tav tm="0">
                                          <p:val>
                                            <p:strVal val="#ppt_x"/>
                                          </p:val>
                                        </p:tav>
                                        <p:tav tm="100000">
                                          <p:val>
                                            <p:strVal val="#ppt_x"/>
                                          </p:val>
                                        </p:tav>
                                      </p:tavLst>
                                    </p:anim>
                                    <p:anim calcmode="lin" valueType="num">
                                      <p:cBhvr additive="base">
                                        <p:cTn id="13" dur="500" fill="hold"/>
                                        <p:tgtEl>
                                          <p:spTgt spid="15381830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171425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First of all, let us consider the technique for working with graphs</a:t>
            </a:r>
            <a:r>
              <a:rPr lang="en-US" sz="2200" dirty="0" smtClean="0"/>
              <a:t>.</a:t>
            </a:r>
          </a:p>
          <a:p>
            <a:pPr>
              <a:defRPr/>
            </a:pPr>
            <a:endParaRPr lang="en-US" sz="2200" dirty="0"/>
          </a:p>
          <a:p>
            <a:pPr>
              <a:defRPr/>
            </a:pPr>
            <a:r>
              <a:rPr lang="en-US" sz="2200" dirty="0" smtClean="0"/>
              <a:t>A </a:t>
            </a:r>
            <a:r>
              <a:rPr lang="en-US" sz="2200" dirty="0"/>
              <a:t>standard problem formulation might look like this</a:t>
            </a:r>
            <a:r>
              <a:rPr lang="en-US" sz="2200" dirty="0" smtClean="0"/>
              <a:t>:</a:t>
            </a:r>
          </a:p>
          <a:p>
            <a:pPr>
              <a:defRPr/>
            </a:pPr>
            <a:endParaRPr lang="en-US" sz="2200" dirty="0"/>
          </a:p>
          <a:p>
            <a:pPr>
              <a:defRPr/>
            </a:pPr>
            <a:r>
              <a:rPr lang="en-US" sz="2200" dirty="0" smtClean="0"/>
              <a:t>Given </a:t>
            </a:r>
            <a:r>
              <a:rPr lang="en-US" sz="2200" dirty="0"/>
              <a:t>a graph:</a:t>
            </a:r>
            <a:endParaRPr lang="ka-GE" sz="2200" dirty="0" smtClean="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
        <p:nvSpPr>
          <p:cNvPr id="3" name="Rectangle 2"/>
          <p:cNvSpPr/>
          <p:nvPr/>
        </p:nvSpPr>
        <p:spPr>
          <a:xfrm>
            <a:off x="177002" y="5824475"/>
            <a:ext cx="11186352" cy="430887"/>
          </a:xfrm>
          <a:prstGeom prst="rect">
            <a:avLst/>
          </a:prstGeom>
        </p:spPr>
        <p:txBody>
          <a:bodyPr wrap="square">
            <a:spAutoFit/>
          </a:bodyPr>
          <a:lstStyle/>
          <a:p>
            <a:r>
              <a:rPr lang="en-US" sz="2200" dirty="0"/>
              <a:t>Find a path from the starting vertex to the goal vertex using the DFS algorithm.</a:t>
            </a:r>
          </a:p>
        </p:txBody>
      </p:sp>
      <p:pic>
        <p:nvPicPr>
          <p:cNvPr id="7" name="Picture 6"/>
          <p:cNvPicPr/>
          <p:nvPr/>
        </p:nvPicPr>
        <p:blipFill>
          <a:blip r:embed="rId3"/>
          <a:stretch>
            <a:fillRect/>
          </a:stretch>
        </p:blipFill>
        <p:spPr>
          <a:xfrm>
            <a:off x="2553173" y="2589131"/>
            <a:ext cx="6192520" cy="3061970"/>
          </a:xfrm>
          <a:prstGeom prst="rect">
            <a:avLst/>
          </a:prstGeom>
        </p:spPr>
      </p:pic>
    </p:spTree>
    <p:extLst>
      <p:ext uri="{BB962C8B-B14F-4D97-AF65-F5344CB8AC3E}">
        <p14:creationId xmlns:p14="http://schemas.microsoft.com/office/powerpoint/2010/main" val="222465044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fltVal val="0"/>
                                          </p:val>
                                        </p:tav>
                                        <p:tav tm="100000">
                                          <p:val>
                                            <p:strVal val="#ppt_w"/>
                                          </p:val>
                                        </p:tav>
                                      </p:tavLst>
                                    </p:anim>
                                    <p:anim calcmode="lin" valueType="num">
                                      <p:cBhvr>
                                        <p:cTn id="18" dur="1000" fill="hold"/>
                                        <p:tgtEl>
                                          <p:spTgt spid="7"/>
                                        </p:tgtEl>
                                        <p:attrNameLst>
                                          <p:attrName>ppt_h</p:attrName>
                                        </p:attrNameLst>
                                      </p:cBhvr>
                                      <p:tavLst>
                                        <p:tav tm="0">
                                          <p:val>
                                            <p:fltVal val="0"/>
                                          </p:val>
                                        </p:tav>
                                        <p:tav tm="100000">
                                          <p:val>
                                            <p:strVal val="#ppt_h"/>
                                          </p:val>
                                        </p:tav>
                                      </p:tavLst>
                                    </p:anim>
                                    <p:anim calcmode="lin" valueType="num">
                                      <p:cBhvr>
                                        <p:cTn id="19" dur="1000" fill="hold"/>
                                        <p:tgtEl>
                                          <p:spTgt spid="7"/>
                                        </p:tgtEl>
                                        <p:attrNameLst>
                                          <p:attrName>style.rotation</p:attrName>
                                        </p:attrNameLst>
                                      </p:cBhvr>
                                      <p:tavLst>
                                        <p:tav tm="0">
                                          <p:val>
                                            <p:fltVal val="90"/>
                                          </p:val>
                                        </p:tav>
                                        <p:tav tm="100000">
                                          <p:val>
                                            <p:fltVal val="0"/>
                                          </p:val>
                                        </p:tav>
                                      </p:tavLst>
                                    </p:anim>
                                    <p:animEffect transition="in" filter="fade">
                                      <p:cBhvr>
                                        <p:cTn id="20" dur="1000"/>
                                        <p:tgtEl>
                                          <p:spTgt spid="7"/>
                                        </p:tgtEl>
                                      </p:cBhvr>
                                    </p:animEffect>
                                  </p:childTnLst>
                                </p:cTn>
                              </p:par>
                            </p:childTnLst>
                          </p:cTn>
                        </p:par>
                        <p:par>
                          <p:cTn id="21" fill="hold">
                            <p:stCondLst>
                              <p:cond delay="2000"/>
                            </p:stCondLst>
                            <p:childTnLst>
                              <p:par>
                                <p:cTn id="22" presetID="2" presetClass="entr" presetSubtype="4"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24608" cy="4217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6548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take a picture of the problem, submit it to the artificial intelligence, and copy-paste the provided solution directly into the answer without even realizing what was asked or how it was </a:t>
            </a:r>
            <a:r>
              <a:rPr lang="en-US" sz="2200" dirty="0" smtClean="0"/>
              <a:t>solved.</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
        <p:nvSpPr>
          <p:cNvPr id="3" name="Rectangle 2"/>
          <p:cNvSpPr/>
          <p:nvPr/>
        </p:nvSpPr>
        <p:spPr>
          <a:xfrm>
            <a:off x="177001" y="5292576"/>
            <a:ext cx="4628915" cy="1107996"/>
          </a:xfrm>
          <a:prstGeom prst="rect">
            <a:avLst/>
          </a:prstGeom>
        </p:spPr>
        <p:txBody>
          <a:bodyPr wrap="square">
            <a:spAutoFit/>
          </a:bodyPr>
          <a:lstStyle/>
          <a:p>
            <a:r>
              <a:rPr lang="en-US" sz="2200" dirty="0"/>
              <a:t>Find a path from the starting vertex to the goal vertex using the DFS algorithm.</a:t>
            </a:r>
          </a:p>
        </p:txBody>
      </p:sp>
      <p:pic>
        <p:nvPicPr>
          <p:cNvPr id="7" name="Picture 6"/>
          <p:cNvPicPr/>
          <p:nvPr/>
        </p:nvPicPr>
        <p:blipFill>
          <a:blip r:embed="rId3"/>
          <a:stretch>
            <a:fillRect/>
          </a:stretch>
        </p:blipFill>
        <p:spPr>
          <a:xfrm>
            <a:off x="313463" y="2950067"/>
            <a:ext cx="4396733" cy="2164158"/>
          </a:xfrm>
          <a:prstGeom prst="rect">
            <a:avLst/>
          </a:prstGeom>
        </p:spPr>
      </p:pic>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p:sp>
        <p:nvSpPr>
          <p:cNvPr id="6" name="Rectangle 5"/>
          <p:cNvSpPr/>
          <p:nvPr/>
        </p:nvSpPr>
        <p:spPr>
          <a:xfrm>
            <a:off x="177001" y="2402384"/>
            <a:ext cx="1697901" cy="369332"/>
          </a:xfrm>
          <a:prstGeom prst="rect">
            <a:avLst/>
          </a:prstGeom>
        </p:spPr>
        <p:txBody>
          <a:bodyPr wrap="none">
            <a:spAutoFit/>
          </a:bodyPr>
          <a:lstStyle/>
          <a:p>
            <a:pPr>
              <a:defRPr/>
            </a:pPr>
            <a:r>
              <a:rPr lang="en-US" dirty="0"/>
              <a:t>Given a graph:</a:t>
            </a:r>
            <a:endParaRPr lang="ka-GE" dirty="0"/>
          </a:p>
        </p:txBody>
      </p:sp>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29189704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fltVal val="0"/>
                                          </p:val>
                                        </p:tav>
                                        <p:tav tm="100000">
                                          <p:val>
                                            <p:strVal val="#ppt_w"/>
                                          </p:val>
                                        </p:tav>
                                      </p:tavLst>
                                    </p:anim>
                                    <p:anim calcmode="lin" valueType="num">
                                      <p:cBhvr>
                                        <p:cTn id="18" dur="1000" fill="hold"/>
                                        <p:tgtEl>
                                          <p:spTgt spid="7"/>
                                        </p:tgtEl>
                                        <p:attrNameLst>
                                          <p:attrName>ppt_h</p:attrName>
                                        </p:attrNameLst>
                                      </p:cBhvr>
                                      <p:tavLst>
                                        <p:tav tm="0">
                                          <p:val>
                                            <p:fltVal val="0"/>
                                          </p:val>
                                        </p:tav>
                                        <p:tav tm="100000">
                                          <p:val>
                                            <p:strVal val="#ppt_h"/>
                                          </p:val>
                                        </p:tav>
                                      </p:tavLst>
                                    </p:anim>
                                    <p:anim calcmode="lin" valueType="num">
                                      <p:cBhvr>
                                        <p:cTn id="19" dur="1000" fill="hold"/>
                                        <p:tgtEl>
                                          <p:spTgt spid="7"/>
                                        </p:tgtEl>
                                        <p:attrNameLst>
                                          <p:attrName>style.rotation</p:attrName>
                                        </p:attrNameLst>
                                      </p:cBhvr>
                                      <p:tavLst>
                                        <p:tav tm="0">
                                          <p:val>
                                            <p:fltVal val="90"/>
                                          </p:val>
                                        </p:tav>
                                        <p:tav tm="100000">
                                          <p:val>
                                            <p:fltVal val="0"/>
                                          </p:val>
                                        </p:tav>
                                      </p:tavLst>
                                    </p:anim>
                                    <p:animEffect transition="in" filter="fade">
                                      <p:cBhvr>
                                        <p:cTn id="20" dur="1000"/>
                                        <p:tgtEl>
                                          <p:spTgt spid="7"/>
                                        </p:tgtEl>
                                      </p:cBhvr>
                                    </p:animEffect>
                                  </p:childTnLst>
                                </p:cTn>
                              </p:par>
                              <p:par>
                                <p:cTn id="21" presetID="3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000" fill="hold"/>
                                        <p:tgtEl>
                                          <p:spTgt spid="3"/>
                                        </p:tgtEl>
                                        <p:attrNameLst>
                                          <p:attrName>ppt_w</p:attrName>
                                        </p:attrNameLst>
                                      </p:cBhvr>
                                      <p:tavLst>
                                        <p:tav tm="0">
                                          <p:val>
                                            <p:fltVal val="0"/>
                                          </p:val>
                                        </p:tav>
                                        <p:tav tm="100000">
                                          <p:val>
                                            <p:strVal val="#ppt_w"/>
                                          </p:val>
                                        </p:tav>
                                      </p:tavLst>
                                    </p:anim>
                                    <p:anim calcmode="lin" valueType="num">
                                      <p:cBhvr>
                                        <p:cTn id="24" dur="1000" fill="hold"/>
                                        <p:tgtEl>
                                          <p:spTgt spid="3"/>
                                        </p:tgtEl>
                                        <p:attrNameLst>
                                          <p:attrName>ppt_h</p:attrName>
                                        </p:attrNameLst>
                                      </p:cBhvr>
                                      <p:tavLst>
                                        <p:tav tm="0">
                                          <p:val>
                                            <p:fltVal val="0"/>
                                          </p:val>
                                        </p:tav>
                                        <p:tav tm="100000">
                                          <p:val>
                                            <p:strVal val="#ppt_h"/>
                                          </p:val>
                                        </p:tav>
                                      </p:tavLst>
                                    </p:anim>
                                    <p:anim calcmode="lin" valueType="num">
                                      <p:cBhvr>
                                        <p:cTn id="25" dur="1000" fill="hold"/>
                                        <p:tgtEl>
                                          <p:spTgt spid="3"/>
                                        </p:tgtEl>
                                        <p:attrNameLst>
                                          <p:attrName>style.rotation</p:attrName>
                                        </p:attrNameLst>
                                      </p:cBhvr>
                                      <p:tavLst>
                                        <p:tav tm="0">
                                          <p:val>
                                            <p:fltVal val="90"/>
                                          </p:val>
                                        </p:tav>
                                        <p:tav tm="100000">
                                          <p:val>
                                            <p:fltVal val="0"/>
                                          </p:val>
                                        </p:tav>
                                      </p:tavLst>
                                    </p:anim>
                                    <p:animEffect transition="in" filter="fade">
                                      <p:cBhvr>
                                        <p:cTn id="26" dur="1000"/>
                                        <p:tgtEl>
                                          <p:spTgt spid="3"/>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fltVal val="0"/>
                                          </p:val>
                                        </p:tav>
                                        <p:tav tm="100000">
                                          <p:val>
                                            <p:strVal val="#ppt_w"/>
                                          </p:val>
                                        </p:tav>
                                      </p:tavLst>
                                    </p:anim>
                                    <p:anim calcmode="lin" valueType="num">
                                      <p:cBhvr>
                                        <p:cTn id="36" dur="1000" fill="hold"/>
                                        <p:tgtEl>
                                          <p:spTgt spid="5"/>
                                        </p:tgtEl>
                                        <p:attrNameLst>
                                          <p:attrName>ppt_h</p:attrName>
                                        </p:attrNameLst>
                                      </p:cBhvr>
                                      <p:tavLst>
                                        <p:tav tm="0">
                                          <p:val>
                                            <p:fltVal val="0"/>
                                          </p:val>
                                        </p:tav>
                                        <p:tav tm="100000">
                                          <p:val>
                                            <p:strVal val="#ppt_h"/>
                                          </p:val>
                                        </p:tav>
                                      </p:tavLst>
                                    </p:anim>
                                    <p:anim calcmode="lin" valueType="num">
                                      <p:cBhvr>
                                        <p:cTn id="37" dur="1000" fill="hold"/>
                                        <p:tgtEl>
                                          <p:spTgt spid="5"/>
                                        </p:tgtEl>
                                        <p:attrNameLst>
                                          <p:attrName>style.rotation</p:attrName>
                                        </p:attrNameLst>
                                      </p:cBhvr>
                                      <p:tavLst>
                                        <p:tav tm="0">
                                          <p:val>
                                            <p:fltVal val="90"/>
                                          </p:val>
                                        </p:tav>
                                        <p:tav tm="100000">
                                          <p:val>
                                            <p:fltVal val="0"/>
                                          </p:val>
                                        </p:tav>
                                      </p:tavLst>
                                    </p:anim>
                                    <p:animEffect transition="in" filter="fade">
                                      <p:cBhvr>
                                        <p:cTn id="38" dur="1000"/>
                                        <p:tgtEl>
                                          <p:spTgt spid="5"/>
                                        </p:tgtEl>
                                      </p:cBhvr>
                                    </p:animEffect>
                                  </p:childTnLst>
                                </p:cTn>
                              </p:par>
                            </p:childTnLst>
                          </p:cTn>
                        </p:par>
                        <p:par>
                          <p:cTn id="39" fill="hold">
                            <p:stCondLst>
                              <p:cond delay="2000"/>
                            </p:stCondLst>
                            <p:childTnLst>
                              <p:par>
                                <p:cTn id="40" presetID="2" presetClass="entr" presetSubtype="4" fill="hold" grpId="0" nodeType="after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additive="base">
                                        <p:cTn id="42" dur="500" fill="hold"/>
                                        <p:tgtEl>
                                          <p:spTgt spid="2"/>
                                        </p:tgtEl>
                                        <p:attrNameLst>
                                          <p:attrName>ppt_x</p:attrName>
                                        </p:attrNameLst>
                                      </p:cBhvr>
                                      <p:tavLst>
                                        <p:tav tm="0">
                                          <p:val>
                                            <p:strVal val="#ppt_x"/>
                                          </p:val>
                                        </p:tav>
                                        <p:tav tm="100000">
                                          <p:val>
                                            <p:strVal val="#ppt_x"/>
                                          </p:val>
                                        </p:tav>
                                      </p:tavLst>
                                    </p:anim>
                                    <p:anim calcmode="lin" valueType="num">
                                      <p:cBhvr additive="base">
                                        <p:cTn id="43" dur="500" fill="hold"/>
                                        <p:tgtEl>
                                          <p:spTgt spid="2"/>
                                        </p:tgtEl>
                                        <p:attrNameLst>
                                          <p:attrName>ppt_y</p:attrName>
                                        </p:attrNameLst>
                                      </p:cBhvr>
                                      <p:tavLst>
                                        <p:tav tm="0">
                                          <p:val>
                                            <p:strVal val="1+#ppt_h/2"/>
                                          </p:val>
                                        </p:tav>
                                        <p:tav tm="100000">
                                          <p:val>
                                            <p:strVal val="#ppt_y"/>
                                          </p:val>
                                        </p:tav>
                                      </p:tavLst>
                                    </p:anim>
                                  </p:childTnLst>
                                </p:cTn>
                              </p:par>
                            </p:childTnLst>
                          </p:cTn>
                        </p:par>
                        <p:par>
                          <p:cTn id="44" fill="hold">
                            <p:stCondLst>
                              <p:cond delay="2500"/>
                            </p:stCondLst>
                            <p:childTnLst>
                              <p:par>
                                <p:cTn id="45" presetID="2" presetClass="entr" presetSubtype="4" fill="hold" grpId="0" nodeType="after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ppt_x"/>
                                          </p:val>
                                        </p:tav>
                                        <p:tav tm="100000">
                                          <p:val>
                                            <p:strVal val="#ppt_x"/>
                                          </p:val>
                                        </p:tav>
                                      </p:tavLst>
                                    </p:anim>
                                    <p:anim calcmode="lin" valueType="num">
                                      <p:cBhvr additive="base">
                                        <p:cTn id="48" dur="500" fill="hold"/>
                                        <p:tgtEl>
                                          <p:spTgt spid="4"/>
                                        </p:tgtEl>
                                        <p:attrNameLst>
                                          <p:attrName>ppt_y</p:attrName>
                                        </p:attrNameLst>
                                      </p:cBhvr>
                                      <p:tavLst>
                                        <p:tav tm="0">
                                          <p:val>
                                            <p:strVal val="1+#ppt_h/2"/>
                                          </p:val>
                                        </p:tav>
                                        <p:tav tm="100000">
                                          <p:val>
                                            <p:strVal val="#ppt_y"/>
                                          </p:val>
                                        </p:tav>
                                      </p:tavLst>
                                    </p:anim>
                                  </p:childTnLst>
                                </p:cTn>
                              </p:par>
                            </p:childTnLst>
                          </p:cTn>
                        </p:par>
                        <p:par>
                          <p:cTn id="49" fill="hold">
                            <p:stCondLst>
                              <p:cond delay="3000"/>
                            </p:stCondLst>
                            <p:childTnLst>
                              <p:par>
                                <p:cTn id="50" presetID="2" presetClass="entr" presetSubtype="4"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additive="base">
                                        <p:cTn id="52" dur="500" fill="hold"/>
                                        <p:tgtEl>
                                          <p:spTgt spid="8"/>
                                        </p:tgtEl>
                                        <p:attrNameLst>
                                          <p:attrName>ppt_x</p:attrName>
                                        </p:attrNameLst>
                                      </p:cBhvr>
                                      <p:tavLst>
                                        <p:tav tm="0">
                                          <p:val>
                                            <p:strVal val="#ppt_x"/>
                                          </p:val>
                                        </p:tav>
                                        <p:tav tm="100000">
                                          <p:val>
                                            <p:strVal val="#ppt_x"/>
                                          </p:val>
                                        </p:tav>
                                      </p:tavLst>
                                    </p:anim>
                                    <p:anim calcmode="lin" valueType="num">
                                      <p:cBhvr additive="base">
                                        <p:cTn id="53" dur="500" fill="hold"/>
                                        <p:tgtEl>
                                          <p:spTgt spid="8"/>
                                        </p:tgtEl>
                                        <p:attrNameLst>
                                          <p:attrName>ppt_y</p:attrName>
                                        </p:attrNameLst>
                                      </p:cBhvr>
                                      <p:tavLst>
                                        <p:tav tm="0">
                                          <p:val>
                                            <p:strVal val="1+#ppt_h/2"/>
                                          </p:val>
                                        </p:tav>
                                        <p:tav tm="100000">
                                          <p:val>
                                            <p:strVal val="#ppt_y"/>
                                          </p:val>
                                        </p:tav>
                                      </p:tavLst>
                                    </p:anim>
                                  </p:childTnLst>
                                </p:cTn>
                              </p:par>
                            </p:childTnLst>
                          </p:cTn>
                        </p:par>
                        <p:par>
                          <p:cTn id="54" fill="hold">
                            <p:stCondLst>
                              <p:cond delay="3500"/>
                            </p:stCondLst>
                            <p:childTnLst>
                              <p:par>
                                <p:cTn id="55" presetID="2" presetClass="entr" presetSubtype="4" fill="hold" grpId="0" nodeType="after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additive="base">
                                        <p:cTn id="57" dur="500" fill="hold"/>
                                        <p:tgtEl>
                                          <p:spTgt spid="9"/>
                                        </p:tgtEl>
                                        <p:attrNameLst>
                                          <p:attrName>ppt_x</p:attrName>
                                        </p:attrNameLst>
                                      </p:cBhvr>
                                      <p:tavLst>
                                        <p:tav tm="0">
                                          <p:val>
                                            <p:strVal val="#ppt_x"/>
                                          </p:val>
                                        </p:tav>
                                        <p:tav tm="100000">
                                          <p:val>
                                            <p:strVal val="#ppt_x"/>
                                          </p:val>
                                        </p:tav>
                                      </p:tavLst>
                                    </p:anim>
                                    <p:anim calcmode="lin" valueType="num">
                                      <p:cBhvr additive="base">
                                        <p:cTn id="5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0">
                                            <p:bg/>
                                          </p:spTgt>
                                        </p:tgtEl>
                                        <p:attrNameLst>
                                          <p:attrName>style.visibility</p:attrName>
                                        </p:attrNameLst>
                                      </p:cBhvr>
                                      <p:to>
                                        <p:strVal val="visible"/>
                                      </p:to>
                                    </p:set>
                                    <p:anim calcmode="lin" valueType="num">
                                      <p:cBhvr additive="base">
                                        <p:cTn id="63"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64" dur="500" fill="hold"/>
                                        <p:tgtEl>
                                          <p:spTgt spid="10">
                                            <p:bg/>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0">
                                            <p:txEl>
                                              <p:pRg st="0" end="0"/>
                                            </p:txEl>
                                          </p:spTgt>
                                        </p:tgtEl>
                                        <p:attrNameLst>
                                          <p:attrName>style.visibility</p:attrName>
                                        </p:attrNameLst>
                                      </p:cBhvr>
                                      <p:to>
                                        <p:strVal val="visible"/>
                                      </p:to>
                                    </p:set>
                                    <p:anim calcmode="lin" valueType="num">
                                      <p:cBhvr additive="base">
                                        <p:cTn id="6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2" grpId="0" animBg="1"/>
      <p:bldP spid="4" grpId="0" animBg="1"/>
      <p:bldP spid="8" grpId="0" animBg="1"/>
      <p:bldP spid="9" grpId="0" animBg="1"/>
      <p:bldP spid="6" grpId="0"/>
      <p:bldP spid="10" grpId="0"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4692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To achieve </a:t>
            </a:r>
            <a:r>
              <a:rPr lang="en-US" sz="2400" dirty="0" smtClean="0"/>
              <a:t>our </a:t>
            </a:r>
            <a:r>
              <a:rPr lang="en-US" sz="2400" dirty="0"/>
              <a:t>goal, we must obviously leverage AI's weakness. </a:t>
            </a:r>
            <a:endParaRPr lang="en-US" sz="2400" dirty="0" smtClean="0"/>
          </a:p>
          <a:p>
            <a:endParaRPr lang="en-US" sz="2400" dirty="0"/>
          </a:p>
          <a:p>
            <a:r>
              <a:rPr lang="en-US" sz="2400" dirty="0" smtClean="0"/>
              <a:t>One </a:t>
            </a:r>
            <a:r>
              <a:rPr lang="en-US" sz="2400" dirty="0"/>
              <a:t>such weakness (for now) is its limitation in interacting with dynamic websites. At this stage, AI systems are quite poor at opening websites and interacting with them independently</a:t>
            </a:r>
            <a:r>
              <a:rPr lang="en-US" sz="2400" dirty="0" smtClean="0"/>
              <a:t>.</a:t>
            </a:r>
          </a:p>
          <a:p>
            <a:endParaRPr lang="en-US" sz="2400" dirty="0"/>
          </a:p>
          <a:p>
            <a:r>
              <a:rPr lang="en-US" sz="2400" dirty="0"/>
              <a:t>Therefore, we propose the following solution: let's build a website where the graph is never fully displayed at once. Only a single vertex or connecting edge of the graph might be visible at any given moment</a:t>
            </a:r>
            <a:r>
              <a:rPr lang="en-US" sz="2400" dirty="0" smtClean="0"/>
              <a:t>.</a:t>
            </a:r>
          </a:p>
          <a:p>
            <a:endParaRPr lang="en-US" sz="2400" dirty="0"/>
          </a:p>
          <a:p>
            <a:r>
              <a:rPr lang="en-US" sz="2400" dirty="0"/>
              <a:t>In this case, the student will have to "extract" the graph, or at least understand the problem and provide the correct input to the AI. This in itself is a step forward compared to blind copy-pasting.</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416838139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504663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smtClean="0"/>
              <a:t/>
            </a:r>
            <a:br>
              <a:rPr lang="en-US" sz="2400" dirty="0" smtClean="0"/>
            </a:br>
            <a:r>
              <a:rPr lang="en-US" sz="2400" b="1" dirty="0" smtClean="0"/>
              <a:t>Method #1</a:t>
            </a:r>
            <a:r>
              <a:rPr lang="en-US" sz="2400" dirty="0" smtClean="0"/>
              <a:t/>
            </a:r>
            <a:br>
              <a:rPr lang="en-US" sz="2400" dirty="0" smtClean="0"/>
            </a:br>
            <a:r>
              <a:rPr lang="en-US" sz="2400" dirty="0" smtClean="0"/>
              <a:t/>
            </a:r>
            <a:br>
              <a:rPr lang="en-US" sz="2400" dirty="0" smtClean="0"/>
            </a:br>
            <a:r>
              <a:rPr lang="en-US" sz="2400" dirty="0" smtClean="0"/>
              <a:t>Assignment</a:t>
            </a:r>
            <a:r>
              <a:rPr lang="en-US" sz="2400" dirty="0"/>
              <a:t>: </a:t>
            </a:r>
            <a:br>
              <a:rPr lang="en-US" sz="2400" dirty="0"/>
            </a:br>
            <a:r>
              <a:rPr lang="en-US" sz="2400" dirty="0"/>
              <a:t>https://</a:t>
            </a:r>
            <a:r>
              <a:rPr lang="en-US" sz="2400" dirty="0" smtClean="0"/>
              <a:t>max.ge/batumi2026/graph/graph_482731905.html</a:t>
            </a:r>
            <a:r>
              <a:rPr lang="en-US" sz="2400" dirty="0" smtClean="0"/>
              <a:t/>
            </a:r>
            <a:br>
              <a:rPr lang="en-US" sz="2400" dirty="0" smtClean="0"/>
            </a:br>
            <a:r>
              <a:rPr lang="en-US" sz="2400" dirty="0" smtClean="0"/>
              <a:t/>
            </a:r>
            <a:br>
              <a:rPr lang="en-US" sz="2400" dirty="0" smtClean="0"/>
            </a:br>
            <a:endParaRPr lang="en-US" sz="2400" dirty="0" smtClean="0"/>
          </a:p>
          <a:p>
            <a:endParaRPr lang="en-US" sz="2400" dirty="0"/>
          </a:p>
          <a:p>
            <a:endParaRPr lang="en-US" sz="2400" dirty="0" smtClean="0"/>
          </a:p>
          <a:p>
            <a:endParaRPr lang="en-US" sz="2400" dirty="0"/>
          </a:p>
          <a:p>
            <a:r>
              <a:rPr lang="en-US" sz="2400" dirty="0" smtClean="0"/>
              <a:t>Tool </a:t>
            </a:r>
            <a:r>
              <a:rPr lang="en-US" sz="2400" dirty="0"/>
              <a:t>for lecturers:</a:t>
            </a:r>
            <a:br>
              <a:rPr lang="en-US" sz="2400" dirty="0"/>
            </a:br>
            <a:r>
              <a:rPr lang="en-US" sz="2400" dirty="0"/>
              <a:t>https://max.ge/batumi2026/graph/graph-creator.html</a:t>
            </a:r>
            <a:endParaRPr lang="en-US" sz="2400" dirty="0" smtClean="0"/>
          </a:p>
          <a:p>
            <a:endParaRPr lang="en-US" sz="2400" dirty="0" smtClean="0"/>
          </a:p>
          <a:p>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pic>
        <p:nvPicPr>
          <p:cNvPr id="2" name="Picture 1"/>
          <p:cNvPicPr>
            <a:picLocks noChangeAspect="1"/>
          </p:cNvPicPr>
          <p:nvPr/>
        </p:nvPicPr>
        <p:blipFill>
          <a:blip r:embed="rId3"/>
          <a:stretch>
            <a:fillRect/>
          </a:stretch>
        </p:blipFill>
        <p:spPr>
          <a:xfrm>
            <a:off x="8136740" y="1235815"/>
            <a:ext cx="3643580" cy="1912190"/>
          </a:xfrm>
          <a:prstGeom prst="rect">
            <a:avLst/>
          </a:prstGeom>
        </p:spPr>
      </p:pic>
    </p:spTree>
    <p:extLst>
      <p:ext uri="{BB962C8B-B14F-4D97-AF65-F5344CB8AC3E}">
        <p14:creationId xmlns:p14="http://schemas.microsoft.com/office/powerpoint/2010/main" val="341156340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150784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We also offer a second approach for graph-related problems. </a:t>
            </a:r>
            <a:endParaRPr lang="en-US" sz="2400" dirty="0" smtClean="0"/>
          </a:p>
          <a:p>
            <a:endParaRPr lang="en-US" sz="2400" dirty="0"/>
          </a:p>
          <a:p>
            <a:r>
              <a:rPr lang="en-US" sz="2400" dirty="0" smtClean="0"/>
              <a:t>This </a:t>
            </a:r>
            <a:r>
              <a:rPr lang="en-US" sz="2400" dirty="0"/>
              <a:t>approach involves an automated bot through which the student must determine the topology of the graph themselves.</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263519447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4692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smtClean="0"/>
              <a:t/>
            </a:r>
            <a:br>
              <a:rPr lang="en-US" sz="2400" dirty="0" smtClean="0"/>
            </a:br>
            <a:r>
              <a:rPr lang="en-US" sz="2400" b="1" dirty="0" smtClean="0"/>
              <a:t>Method #2</a:t>
            </a:r>
            <a:r>
              <a:rPr lang="en-US" sz="2400" dirty="0" smtClean="0"/>
              <a:t/>
            </a:r>
            <a:br>
              <a:rPr lang="en-US" sz="2400" dirty="0" smtClean="0"/>
            </a:br>
            <a:r>
              <a:rPr lang="en-US" sz="2400" dirty="0" smtClean="0"/>
              <a:t/>
            </a:r>
            <a:br>
              <a:rPr lang="en-US" sz="2400" dirty="0" smtClean="0"/>
            </a:br>
            <a:r>
              <a:rPr lang="en-US" sz="2400" dirty="0" smtClean="0"/>
              <a:t>Assignment</a:t>
            </a:r>
            <a:r>
              <a:rPr lang="en-US" sz="2400" dirty="0"/>
              <a:t>: </a:t>
            </a:r>
            <a:br>
              <a:rPr lang="en-US" sz="2400" dirty="0"/>
            </a:br>
            <a:r>
              <a:rPr lang="en-US" sz="2400" dirty="0"/>
              <a:t>https://</a:t>
            </a:r>
            <a:r>
              <a:rPr lang="en-US" sz="2400" dirty="0" smtClean="0"/>
              <a:t>max.ge/batumi2026/graph/graph_bot_915204887.html</a:t>
            </a:r>
            <a:r>
              <a:rPr lang="en-US" sz="2400" dirty="0" smtClean="0"/>
              <a:t/>
            </a:r>
            <a:br>
              <a:rPr lang="en-US" sz="2400" dirty="0" smtClean="0"/>
            </a:br>
            <a:r>
              <a:rPr lang="en-US" sz="2400" dirty="0" smtClean="0"/>
              <a:t/>
            </a:r>
            <a:br>
              <a:rPr lang="en-US" sz="2400" dirty="0" smtClean="0"/>
            </a:br>
            <a:endParaRPr lang="en-US" sz="2400" dirty="0" smtClean="0"/>
          </a:p>
          <a:p>
            <a:endParaRPr lang="en-US" sz="2400" dirty="0"/>
          </a:p>
          <a:p>
            <a:endParaRPr lang="en-US" sz="2400" dirty="0" smtClean="0"/>
          </a:p>
          <a:p>
            <a:r>
              <a:rPr lang="en-US" sz="2400" dirty="0" smtClean="0"/>
              <a:t>Tool </a:t>
            </a:r>
            <a:r>
              <a:rPr lang="en-US" sz="2400" dirty="0"/>
              <a:t>for lecturers:</a:t>
            </a:r>
            <a:br>
              <a:rPr lang="en-US" sz="2400" dirty="0"/>
            </a:br>
            <a:r>
              <a:rPr lang="en-US" sz="2400" dirty="0"/>
              <a:t>https://max.ge/batumi2026/graph/graph-bot.html</a:t>
            </a:r>
            <a:endParaRPr lang="en-US" sz="2400" dirty="0" smtClean="0"/>
          </a:p>
          <a:p>
            <a:endParaRPr lang="en-US" sz="2400" dirty="0" smtClean="0"/>
          </a:p>
          <a:p>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3864184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327724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When teaching mathematics, there are numerous problems related to functions and their properties</a:t>
            </a:r>
            <a:r>
              <a:rPr lang="en-US" sz="2400" dirty="0" smtClean="0"/>
              <a:t>.</a:t>
            </a:r>
          </a:p>
          <a:p>
            <a:endParaRPr lang="en-US" sz="2400" dirty="0"/>
          </a:p>
          <a:p>
            <a:r>
              <a:rPr lang="en-US" sz="2400" dirty="0"/>
              <a:t>In the process of teaching, a specific pattern is observed: students memorize formulas relatively easily (for example, differentiation rules), but have a poorer understanding of their geometric meaning</a:t>
            </a:r>
            <a:r>
              <a:rPr lang="en-US" sz="2400" dirty="0" smtClean="0"/>
              <a:t>.</a:t>
            </a:r>
          </a:p>
          <a:p>
            <a:endParaRPr lang="en-US" sz="2400" dirty="0"/>
          </a:p>
          <a:p>
            <a:r>
              <a:rPr lang="en-US" sz="2400" dirty="0"/>
              <a:t>These aspects require additional effort, alongside the integration of artificial intelligence</a:t>
            </a:r>
            <a:r>
              <a:rPr lang="en-US" sz="2400" dirty="0" smtClean="0"/>
              <a:t>.</a:t>
            </a:r>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FUNCTIONS (Limits, Derivatives, </a:t>
            </a:r>
            <a:r>
              <a:rPr lang="en-US" sz="3200" b="1" dirty="0"/>
              <a:t>Integrals)</a:t>
            </a:r>
            <a:endParaRPr sz="3200" b="1" dirty="0"/>
          </a:p>
        </p:txBody>
      </p:sp>
      <p:sp>
        <p:nvSpPr>
          <p:cNvPr id="3" name="Rectangle 2"/>
          <p:cNvSpPr/>
          <p:nvPr/>
        </p:nvSpPr>
        <p:spPr>
          <a:xfrm>
            <a:off x="177001" y="4733971"/>
            <a:ext cx="11646403" cy="830997"/>
          </a:xfrm>
          <a:prstGeom prst="rect">
            <a:avLst/>
          </a:prstGeom>
        </p:spPr>
        <p:txBody>
          <a:bodyPr wrap="square">
            <a:spAutoFit/>
          </a:bodyPr>
          <a:lstStyle/>
          <a:p>
            <a:r>
              <a:rPr lang="en-US" sz="2400" dirty="0"/>
              <a:t>We propose presenting functions in a format that requires students to apply specific effort, even when they have access to an artificial intelligence assistant.</a:t>
            </a:r>
          </a:p>
        </p:txBody>
      </p:sp>
    </p:spTree>
    <p:extLst>
      <p:ext uri="{BB962C8B-B14F-4D97-AF65-F5344CB8AC3E}">
        <p14:creationId xmlns:p14="http://schemas.microsoft.com/office/powerpoint/2010/main" val="235266487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77146" cy="246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3605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a:t>
            </a:r>
            <a:r>
              <a:rPr lang="en-US" sz="2200" dirty="0" smtClean="0"/>
              <a:t>copy-paste </a:t>
            </a:r>
            <a:r>
              <a:rPr lang="en-US" sz="2200" dirty="0"/>
              <a:t>the provided solution directly into the answer without even realizing what was asked or how it was </a:t>
            </a:r>
            <a:r>
              <a:rPr lang="en-US" sz="2200" dirty="0" smtClean="0"/>
              <a:t>solved. The </a:t>
            </a:r>
            <a:r>
              <a:rPr lang="en-US" sz="2000" dirty="0"/>
              <a:t>memorize formulas </a:t>
            </a:r>
            <a:r>
              <a:rPr lang="en-US" sz="2000" dirty="0" smtClean="0"/>
              <a:t>are another problem in this case.</a:t>
            </a:r>
            <a:endParaRPr lang="en-US" sz="2200" dirty="0" smtClean="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mc:AlternateContent xmlns:mc="http://schemas.openxmlformats.org/markup-compatibility/2006" xmlns:a14="http://schemas.microsoft.com/office/drawing/2010/main">
        <mc:Choice Requires="a14">
          <p:sp>
            <p:nvSpPr>
              <p:cNvPr id="6" name="Rectangle 5"/>
              <p:cNvSpPr/>
              <p:nvPr/>
            </p:nvSpPr>
            <p:spPr>
              <a:xfrm>
                <a:off x="177001" y="2402384"/>
                <a:ext cx="4597018" cy="2287742"/>
              </a:xfrm>
              <a:prstGeom prst="rect">
                <a:avLst/>
              </a:prstGeom>
            </p:spPr>
            <p:txBody>
              <a:bodyPr wrap="square">
                <a:spAutoFit/>
              </a:bodyPr>
              <a:lstStyle/>
              <a:p>
                <a:r>
                  <a:rPr lang="ka-GE" sz="3300" dirty="0" err="1"/>
                  <a:t>Find</a:t>
                </a:r>
                <a:r>
                  <a:rPr lang="ka-GE" sz="3300" dirty="0"/>
                  <a:t> </a:t>
                </a:r>
                <a:r>
                  <a:rPr lang="ka-GE" sz="3300" dirty="0" err="1"/>
                  <a:t>the</a:t>
                </a:r>
                <a:r>
                  <a:rPr lang="ka-GE" sz="3300" dirty="0"/>
                  <a:t> </a:t>
                </a:r>
                <a:r>
                  <a:rPr lang="ka-GE" sz="3300" dirty="0" err="1"/>
                  <a:t>derivative</a:t>
                </a:r>
                <a:r>
                  <a:rPr lang="ka-GE" sz="3300" dirty="0"/>
                  <a:t> </a:t>
                </a:r>
                <a:r>
                  <a:rPr lang="ka-GE" sz="3300" dirty="0" err="1"/>
                  <a:t>of</a:t>
                </a:r>
                <a:r>
                  <a:rPr lang="ka-GE" sz="3300" dirty="0"/>
                  <a:t> </a:t>
                </a:r>
                <a:r>
                  <a:rPr lang="ka-GE" sz="3300" dirty="0" err="1"/>
                  <a:t>the</a:t>
                </a:r>
                <a:r>
                  <a:rPr lang="ka-GE" sz="3300" dirty="0"/>
                  <a:t> </a:t>
                </a:r>
                <a:r>
                  <a:rPr lang="ka-GE" sz="3300" dirty="0" err="1"/>
                  <a:t>function</a:t>
                </a:r>
                <a:r>
                  <a:rPr lang="ka-GE" sz="3300" dirty="0"/>
                  <a:t> </a:t>
                </a:r>
                <a:r>
                  <a:rPr lang="en-US" sz="3300" dirty="0"/>
                  <a:t>in </a:t>
                </a:r>
                <a14:m>
                  <m:oMath xmlns:m="http://schemas.openxmlformats.org/officeDocument/2006/math">
                    <m:r>
                      <a:rPr lang="ka-GE" sz="3300" i="1">
                        <a:latin typeface="Cambria Math" panose="02040503050406030204" pitchFamily="18" charset="0"/>
                      </a:rPr>
                      <m:t>𝑥</m:t>
                    </m:r>
                    <m:r>
                      <a:rPr lang="ka-GE" sz="3300" i="1">
                        <a:latin typeface="Cambria Math" panose="02040503050406030204" pitchFamily="18" charset="0"/>
                      </a:rPr>
                      <m:t>=2.5</m:t>
                    </m:r>
                  </m:oMath>
                </a14:m>
                <a:r>
                  <a:rPr lang="ka-GE" sz="3300" dirty="0"/>
                  <a:t>, </a:t>
                </a:r>
                <a:r>
                  <a:rPr lang="ka-GE" sz="3300" dirty="0" err="1"/>
                  <a:t>given</a:t>
                </a:r>
                <a:r>
                  <a:rPr lang="ka-GE" sz="3300" dirty="0"/>
                  <a:t> </a:t>
                </a:r>
                <a:r>
                  <a:rPr lang="ka-GE" sz="3300" dirty="0" err="1"/>
                  <a:t>that</a:t>
                </a:r>
                <a:r>
                  <a:rPr lang="ka-GE" sz="3300" dirty="0"/>
                  <a:t> </a:t>
                </a:r>
                <a:r>
                  <a:rPr lang="ka-GE" sz="3300" dirty="0" err="1"/>
                  <a:t>the</a:t>
                </a:r>
                <a:r>
                  <a:rPr lang="ka-GE" sz="3300" dirty="0"/>
                  <a:t> </a:t>
                </a:r>
                <a:r>
                  <a:rPr lang="ka-GE" sz="3300" dirty="0" err="1"/>
                  <a:t>function</a:t>
                </a:r>
                <a:r>
                  <a:rPr lang="ka-GE" sz="3300" dirty="0"/>
                  <a:t> </a:t>
                </a:r>
                <a:r>
                  <a:rPr lang="ka-GE" sz="3300" dirty="0" err="1"/>
                  <a:t>is</a:t>
                </a:r>
                <a:r>
                  <a:rPr lang="ka-GE" sz="3300" dirty="0"/>
                  <a:t> </a:t>
                </a:r>
                <a14:m>
                  <m:oMath xmlns:m="http://schemas.openxmlformats.org/officeDocument/2006/math">
                    <m:r>
                      <a:rPr lang="ka-GE" sz="3300" i="1">
                        <a:latin typeface="Cambria Math" panose="02040503050406030204" pitchFamily="18" charset="0"/>
                      </a:rPr>
                      <m:t>𝑠𝑖𝑛</m:t>
                    </m:r>
                    <m:r>
                      <a:rPr lang="ka-GE" sz="3300" i="1">
                        <a:latin typeface="Cambria Math" panose="02040503050406030204" pitchFamily="18" charset="0"/>
                      </a:rPr>
                      <m:t>(</m:t>
                    </m:r>
                    <m:r>
                      <a:rPr lang="ka-GE" sz="3300" i="1">
                        <a:latin typeface="Cambria Math" panose="02040503050406030204" pitchFamily="18" charset="0"/>
                      </a:rPr>
                      <m:t>𝑥</m:t>
                    </m:r>
                    <m:r>
                      <a:rPr lang="ka-GE" sz="3300" i="1">
                        <a:latin typeface="Cambria Math" panose="02040503050406030204" pitchFamily="18" charset="0"/>
                      </a:rPr>
                      <m:t>) </m:t>
                    </m:r>
                    <m:f>
                      <m:fPr>
                        <m:ctrlPr>
                          <a:rPr lang="en-US" sz="3300" i="1">
                            <a:latin typeface="Cambria Math" panose="02040503050406030204" pitchFamily="18" charset="0"/>
                          </a:rPr>
                        </m:ctrlPr>
                      </m:fPr>
                      <m:num>
                        <m:r>
                          <a:rPr lang="ka-GE" sz="3300" i="1">
                            <a:latin typeface="Cambria Math" panose="02040503050406030204" pitchFamily="18" charset="0"/>
                          </a:rPr>
                          <m:t>𝑥</m:t>
                        </m:r>
                      </m:num>
                      <m:den>
                        <m:r>
                          <a:rPr lang="ka-GE" sz="3300" i="1">
                            <a:latin typeface="Cambria Math" panose="02040503050406030204" pitchFamily="18" charset="0"/>
                          </a:rPr>
                          <m:t>3</m:t>
                        </m:r>
                      </m:den>
                    </m:f>
                  </m:oMath>
                </a14:m>
                <a:r>
                  <a:rPr lang="ka-GE" sz="3300" dirty="0"/>
                  <a:t> </a:t>
                </a:r>
                <a:endParaRPr lang="en-US" sz="3300" dirty="0"/>
              </a:p>
            </p:txBody>
          </p:sp>
        </mc:Choice>
        <mc:Fallback xmlns="">
          <p:sp>
            <p:nvSpPr>
              <p:cNvPr id="6" name="Rectangle 5"/>
              <p:cNvSpPr>
                <a:spLocks noRot="1" noChangeAspect="1" noMove="1" noResize="1" noEditPoints="1" noAdjustHandles="1" noChangeArrowheads="1" noChangeShapeType="1" noTextEdit="1"/>
              </p:cNvSpPr>
              <p:nvPr/>
            </p:nvSpPr>
            <p:spPr>
              <a:xfrm>
                <a:off x="177001" y="2402384"/>
                <a:ext cx="4597018" cy="2287742"/>
              </a:xfrm>
              <a:prstGeom prst="rect">
                <a:avLst/>
              </a:prstGeom>
              <a:blipFill>
                <a:blip r:embed="rId3"/>
                <a:stretch>
                  <a:fillRect l="-3581" t="-3733" r="-796" b="-3467"/>
                </a:stretch>
              </a:blipFill>
            </p:spPr>
            <p:txBody>
              <a:bodyPr/>
              <a:lstStyle/>
              <a:p>
                <a:r>
                  <a:rPr lang="en-US">
                    <a:noFill/>
                  </a:rPr>
                  <a:t> </a:t>
                </a:r>
              </a:p>
            </p:txBody>
          </p:sp>
        </mc:Fallback>
      </mc:AlternateContent>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248762985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par>
                                <p:cTn id="14" presetID="3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1000" fill="hold"/>
                                        <p:tgtEl>
                                          <p:spTgt spid="6"/>
                                        </p:tgtEl>
                                        <p:attrNameLst>
                                          <p:attrName>ppt_w</p:attrName>
                                        </p:attrNameLst>
                                      </p:cBhvr>
                                      <p:tavLst>
                                        <p:tav tm="0">
                                          <p:val>
                                            <p:fltVal val="0"/>
                                          </p:val>
                                        </p:tav>
                                        <p:tav tm="100000">
                                          <p:val>
                                            <p:strVal val="#ppt_w"/>
                                          </p:val>
                                        </p:tav>
                                      </p:tavLst>
                                    </p:anim>
                                    <p:anim calcmode="lin" valueType="num">
                                      <p:cBhvr>
                                        <p:cTn id="17" dur="1000" fill="hold"/>
                                        <p:tgtEl>
                                          <p:spTgt spid="6"/>
                                        </p:tgtEl>
                                        <p:attrNameLst>
                                          <p:attrName>ppt_h</p:attrName>
                                        </p:attrNameLst>
                                      </p:cBhvr>
                                      <p:tavLst>
                                        <p:tav tm="0">
                                          <p:val>
                                            <p:fltVal val="0"/>
                                          </p:val>
                                        </p:tav>
                                        <p:tav tm="100000">
                                          <p:val>
                                            <p:strVal val="#ppt_h"/>
                                          </p:val>
                                        </p:tav>
                                      </p:tavLst>
                                    </p:anim>
                                    <p:anim calcmode="lin" valueType="num">
                                      <p:cBhvr>
                                        <p:cTn id="18" dur="1000" fill="hold"/>
                                        <p:tgtEl>
                                          <p:spTgt spid="6"/>
                                        </p:tgtEl>
                                        <p:attrNameLst>
                                          <p:attrName>style.rotation</p:attrName>
                                        </p:attrNameLst>
                                      </p:cBhvr>
                                      <p:tavLst>
                                        <p:tav tm="0">
                                          <p:val>
                                            <p:fltVal val="90"/>
                                          </p:val>
                                        </p:tav>
                                        <p:tav tm="100000">
                                          <p:val>
                                            <p:fltVal val="0"/>
                                          </p:val>
                                        </p:tav>
                                      </p:tavLst>
                                    </p:anim>
                                    <p:animEffect transition="in" filter="fade">
                                      <p:cBhvr>
                                        <p:cTn id="19" dur="1000"/>
                                        <p:tgtEl>
                                          <p:spTgt spid="6"/>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000" fill="hold"/>
                                        <p:tgtEl>
                                          <p:spTgt spid="5"/>
                                        </p:tgtEl>
                                        <p:attrNameLst>
                                          <p:attrName>ppt_w</p:attrName>
                                        </p:attrNameLst>
                                      </p:cBhvr>
                                      <p:tavLst>
                                        <p:tav tm="0">
                                          <p:val>
                                            <p:fltVal val="0"/>
                                          </p:val>
                                        </p:tav>
                                        <p:tav tm="100000">
                                          <p:val>
                                            <p:strVal val="#ppt_w"/>
                                          </p:val>
                                        </p:tav>
                                      </p:tavLst>
                                    </p:anim>
                                    <p:anim calcmode="lin" valueType="num">
                                      <p:cBhvr>
                                        <p:cTn id="23" dur="1000" fill="hold"/>
                                        <p:tgtEl>
                                          <p:spTgt spid="5"/>
                                        </p:tgtEl>
                                        <p:attrNameLst>
                                          <p:attrName>ppt_h</p:attrName>
                                        </p:attrNameLst>
                                      </p:cBhvr>
                                      <p:tavLst>
                                        <p:tav tm="0">
                                          <p:val>
                                            <p:fltVal val="0"/>
                                          </p:val>
                                        </p:tav>
                                        <p:tav tm="100000">
                                          <p:val>
                                            <p:strVal val="#ppt_h"/>
                                          </p:val>
                                        </p:tav>
                                      </p:tavLst>
                                    </p:anim>
                                    <p:anim calcmode="lin" valueType="num">
                                      <p:cBhvr>
                                        <p:cTn id="24" dur="1000" fill="hold"/>
                                        <p:tgtEl>
                                          <p:spTgt spid="5"/>
                                        </p:tgtEl>
                                        <p:attrNameLst>
                                          <p:attrName>style.rotation</p:attrName>
                                        </p:attrNameLst>
                                      </p:cBhvr>
                                      <p:tavLst>
                                        <p:tav tm="0">
                                          <p:val>
                                            <p:fltVal val="90"/>
                                          </p:val>
                                        </p:tav>
                                        <p:tav tm="100000">
                                          <p:val>
                                            <p:fltVal val="0"/>
                                          </p:val>
                                        </p:tav>
                                      </p:tavLst>
                                    </p:anim>
                                    <p:animEffect transition="in" filter="fade">
                                      <p:cBhvr>
                                        <p:cTn id="25" dur="1000"/>
                                        <p:tgtEl>
                                          <p:spTgt spid="5"/>
                                        </p:tgtEl>
                                      </p:cBhvr>
                                    </p:animEffect>
                                  </p:childTnLst>
                                </p:cTn>
                              </p:par>
                            </p:childTnLst>
                          </p:cTn>
                        </p:par>
                        <p:par>
                          <p:cTn id="26" fill="hold">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par>
                          <p:cTn id="31" fill="hold">
                            <p:stCondLst>
                              <p:cond delay="2000"/>
                            </p:stCondLst>
                            <p:childTnLst>
                              <p:par>
                                <p:cTn id="32" presetID="2" presetClass="entr" presetSubtype="4"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4"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par>
                          <p:cTn id="41" fill="hold">
                            <p:stCondLst>
                              <p:cond delay="3000"/>
                            </p:stCondLst>
                            <p:childTnLst>
                              <p:par>
                                <p:cTn id="42" presetID="2" presetClass="entr" presetSubtype="4"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bg/>
                                          </p:spTgt>
                                        </p:tgtEl>
                                        <p:attrNameLst>
                                          <p:attrName>style.visibility</p:attrName>
                                        </p:attrNameLst>
                                      </p:cBhvr>
                                      <p:to>
                                        <p:strVal val="visible"/>
                                      </p:to>
                                    </p:set>
                                    <p:anim calcmode="lin" valueType="num">
                                      <p:cBhvr additive="base">
                                        <p:cTn id="50"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51" dur="500" fill="hold"/>
                                        <p:tgtEl>
                                          <p:spTgt spid="10">
                                            <p:bg/>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
                                            <p:txEl>
                                              <p:pRg st="0" end="0"/>
                                            </p:txEl>
                                          </p:spTgt>
                                        </p:tgtEl>
                                        <p:attrNameLst>
                                          <p:attrName>style.visibility</p:attrName>
                                        </p:attrNameLst>
                                      </p:cBhvr>
                                      <p:to>
                                        <p:strVal val="visible"/>
                                      </p:to>
                                    </p:set>
                                    <p:anim calcmode="lin" valueType="num">
                                      <p:cBhvr additive="base">
                                        <p:cTn id="5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P spid="8" grpId="0" animBg="1"/>
      <p:bldP spid="9" grpId="0" animBg="1"/>
      <p:bldP spid="6" grpId="0"/>
      <p:bldP spid="10" grpId="0" build="allAtOnce"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2" y="2126512"/>
            <a:ext cx="11901584" cy="441251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235815"/>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b="1" dirty="0" smtClean="0"/>
              <a:t>Assignment</a:t>
            </a:r>
            <a:r>
              <a:rPr lang="en-US" sz="2400" dirty="0" smtClean="0"/>
              <a:t> </a:t>
            </a:r>
            <a:br>
              <a:rPr lang="en-US" sz="2400" dirty="0" smtClean="0"/>
            </a:br>
            <a:r>
              <a:rPr lang="en-US" sz="2400" dirty="0" smtClean="0"/>
              <a:t>https</a:t>
            </a:r>
            <a:r>
              <a:rPr lang="en-US" sz="2400" dirty="0"/>
              <a:t>://</a:t>
            </a:r>
            <a:r>
              <a:rPr lang="en-US" sz="2400" dirty="0" smtClean="0"/>
              <a:t>max.ge/batumi2026/function/target_function1.html</a:t>
            </a:r>
            <a:endParaRPr lang="en-US" sz="2400" dirty="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mc:AlternateContent xmlns:mc="http://schemas.openxmlformats.org/markup-compatibility/2006" xmlns:a14="http://schemas.microsoft.com/office/drawing/2010/main">
        <mc:Choice Requires="a14">
          <p:sp>
            <p:nvSpPr>
              <p:cNvPr id="3" name="Rectangle 2"/>
              <p:cNvSpPr/>
              <p:nvPr/>
            </p:nvSpPr>
            <p:spPr>
              <a:xfrm>
                <a:off x="177002" y="2280218"/>
                <a:ext cx="5107379" cy="1851469"/>
              </a:xfrm>
              <a:prstGeom prst="rect">
                <a:avLst/>
              </a:prstGeom>
            </p:spPr>
            <p:txBody>
              <a:bodyPr wrap="square">
                <a:spAutoFit/>
              </a:bodyPr>
              <a:lstStyle/>
              <a:p>
                <a:r>
                  <a:rPr lang="ka-GE" sz="2400" dirty="0" err="1"/>
                  <a:t>Find</a:t>
                </a:r>
                <a:r>
                  <a:rPr lang="ka-GE" sz="2400" dirty="0"/>
                  <a:t> </a:t>
                </a:r>
                <a:r>
                  <a:rPr lang="ka-GE" sz="2400" dirty="0" err="1"/>
                  <a:t>the</a:t>
                </a:r>
                <a:r>
                  <a:rPr lang="ka-GE" sz="2400" dirty="0"/>
                  <a:t> </a:t>
                </a:r>
                <a:r>
                  <a:rPr lang="ka-GE" sz="2400" dirty="0" err="1"/>
                  <a:t>derivative</a:t>
                </a:r>
                <a:r>
                  <a:rPr lang="ka-GE" sz="2400" dirty="0"/>
                  <a:t> </a:t>
                </a:r>
                <a:r>
                  <a:rPr lang="ka-GE" sz="2400" dirty="0" err="1"/>
                  <a:t>of</a:t>
                </a:r>
                <a:r>
                  <a:rPr lang="ka-GE" sz="2400" dirty="0"/>
                  <a:t> </a:t>
                </a:r>
                <a:r>
                  <a:rPr lang="ka-GE" sz="2400" dirty="0" err="1"/>
                  <a:t>the</a:t>
                </a:r>
                <a:r>
                  <a:rPr lang="ka-GE" sz="2400" dirty="0"/>
                  <a:t> </a:t>
                </a:r>
                <a:r>
                  <a:rPr lang="ka-GE" sz="2400" dirty="0" err="1"/>
                  <a:t>function</a:t>
                </a:r>
                <a:r>
                  <a:rPr lang="ka-GE" sz="2400" dirty="0"/>
                  <a:t> </a:t>
                </a:r>
                <a:r>
                  <a:rPr lang="ka-GE" sz="2400" dirty="0" err="1"/>
                  <a:t>given</a:t>
                </a:r>
                <a:r>
                  <a:rPr lang="ka-GE" sz="2400" dirty="0"/>
                  <a:t> </a:t>
                </a:r>
                <a:r>
                  <a:rPr lang="ka-GE" sz="2400" dirty="0" err="1"/>
                  <a:t>below</a:t>
                </a:r>
                <a:r>
                  <a:rPr lang="ka-GE" sz="2400" dirty="0"/>
                  <a:t> </a:t>
                </a:r>
                <a:r>
                  <a:rPr lang="ka-GE" sz="2400" dirty="0" err="1"/>
                  <a:t>at</a:t>
                </a:r>
                <a:r>
                  <a:rPr lang="ka-GE" sz="2400" dirty="0"/>
                  <a:t> </a:t>
                </a:r>
                <a14:m>
                  <m:oMath xmlns:m="http://schemas.openxmlformats.org/officeDocument/2006/math">
                    <m:r>
                      <a:rPr lang="ka-GE" sz="2400">
                        <a:latin typeface="Cambria Math" panose="02040503050406030204" pitchFamily="18" charset="0"/>
                      </a:rPr>
                      <m:t>𝑥</m:t>
                    </m:r>
                    <m:r>
                      <a:rPr lang="ka-GE" sz="2400">
                        <a:latin typeface="Cambria Math" panose="02040503050406030204" pitchFamily="18" charset="0"/>
                      </a:rPr>
                      <m:t>=2.5</m:t>
                    </m:r>
                  </m:oMath>
                </a14:m>
                <a:r>
                  <a:rPr lang="ka-GE" sz="2400" dirty="0"/>
                  <a:t>, </a:t>
                </a:r>
                <a:r>
                  <a:rPr lang="ka-GE" sz="2400" dirty="0" err="1"/>
                  <a:t>given</a:t>
                </a:r>
                <a:r>
                  <a:rPr lang="ka-GE" sz="2400" dirty="0"/>
                  <a:t> </a:t>
                </a:r>
                <a:r>
                  <a:rPr lang="ka-GE" sz="2400" dirty="0" err="1"/>
                  <a:t>that</a:t>
                </a:r>
                <a:r>
                  <a:rPr lang="ka-GE" sz="2400" dirty="0"/>
                  <a:t> </a:t>
                </a:r>
                <a:r>
                  <a:rPr lang="ka-GE" sz="2400" dirty="0" err="1"/>
                  <a:t>the</a:t>
                </a:r>
                <a:r>
                  <a:rPr lang="ka-GE" sz="2400" dirty="0"/>
                  <a:t> </a:t>
                </a:r>
                <a:r>
                  <a:rPr lang="ka-GE" sz="2400" dirty="0" err="1"/>
                  <a:t>function</a:t>
                </a:r>
                <a:r>
                  <a:rPr lang="ka-GE" sz="2400" dirty="0"/>
                  <a:t> </a:t>
                </a:r>
                <a:r>
                  <a:rPr lang="ka-GE" sz="2400" dirty="0" err="1"/>
                  <a:t>is</a:t>
                </a:r>
                <a:r>
                  <a:rPr lang="ka-GE" sz="2400" dirty="0"/>
                  <a:t> </a:t>
                </a:r>
                <a:r>
                  <a:rPr lang="ka-GE" sz="2400" dirty="0" err="1"/>
                  <a:t>of</a:t>
                </a:r>
                <a:r>
                  <a:rPr lang="ka-GE" sz="2400" dirty="0"/>
                  <a:t> </a:t>
                </a:r>
                <a:r>
                  <a:rPr lang="ka-GE" sz="2400" dirty="0" err="1"/>
                  <a:t>the</a:t>
                </a:r>
                <a:r>
                  <a:rPr lang="ka-GE" sz="2400" dirty="0"/>
                  <a:t> </a:t>
                </a:r>
                <a:r>
                  <a:rPr lang="ka-GE" sz="2400" dirty="0" err="1"/>
                  <a:t>form</a:t>
                </a:r>
                <a:r>
                  <a:rPr lang="ka-GE" sz="2400" dirty="0"/>
                  <a:t> </a:t>
                </a:r>
                <a14:m>
                  <m:oMath xmlns:m="http://schemas.openxmlformats.org/officeDocument/2006/math">
                    <m:r>
                      <a:rPr lang="ka-GE" sz="2400">
                        <a:latin typeface="Cambria Math" panose="02040503050406030204" pitchFamily="18" charset="0"/>
                      </a:rPr>
                      <m:t>𝑎</m:t>
                    </m:r>
                    <m:r>
                      <a:rPr lang="ka-GE" sz="2400">
                        <a:latin typeface="Cambria Math" panose="02040503050406030204" pitchFamily="18" charset="0"/>
                      </a:rPr>
                      <m:t> </m:t>
                    </m:r>
                    <m:r>
                      <a:rPr lang="ka-GE" sz="2400">
                        <a:latin typeface="Cambria Math" panose="02040503050406030204" pitchFamily="18" charset="0"/>
                      </a:rPr>
                      <m:t>𝑠𝑖𝑛</m:t>
                    </m:r>
                    <m:r>
                      <a:rPr lang="ka-GE" sz="2400">
                        <a:latin typeface="Cambria Math" panose="02040503050406030204" pitchFamily="18" charset="0"/>
                      </a:rPr>
                      <m:t>(</m:t>
                    </m:r>
                    <m:r>
                      <a:rPr lang="ka-GE" sz="2400">
                        <a:latin typeface="Cambria Math" panose="02040503050406030204" pitchFamily="18" charset="0"/>
                      </a:rPr>
                      <m:t>𝑥</m:t>
                    </m:r>
                    <m:r>
                      <a:rPr lang="ka-GE" sz="2400">
                        <a:latin typeface="Cambria Math" panose="02040503050406030204" pitchFamily="18" charset="0"/>
                      </a:rPr>
                      <m:t>) </m:t>
                    </m:r>
                    <m:f>
                      <m:fPr>
                        <m:ctrlPr>
                          <a:rPr lang="en-US" sz="2400" i="1">
                            <a:latin typeface="Cambria Math" panose="02040503050406030204" pitchFamily="18" charset="0"/>
                          </a:rPr>
                        </m:ctrlPr>
                      </m:fPr>
                      <m:num>
                        <m:r>
                          <a:rPr lang="ka-GE" sz="2400">
                            <a:latin typeface="Cambria Math" panose="02040503050406030204" pitchFamily="18" charset="0"/>
                          </a:rPr>
                          <m:t>𝑥</m:t>
                        </m:r>
                      </m:num>
                      <m:den>
                        <m:r>
                          <a:rPr lang="ka-GE" sz="2400">
                            <a:latin typeface="Cambria Math" panose="02040503050406030204" pitchFamily="18" charset="0"/>
                          </a:rPr>
                          <m:t>2</m:t>
                        </m:r>
                      </m:den>
                    </m:f>
                  </m:oMath>
                </a14:m>
                <a:r>
                  <a:rPr lang="ka-GE" sz="2400" dirty="0"/>
                  <a:t>, </a:t>
                </a:r>
                <a:r>
                  <a:rPr lang="ka-GE" sz="2400" dirty="0" err="1"/>
                  <a:t>where</a:t>
                </a:r>
                <a:r>
                  <a:rPr lang="ka-GE" sz="2400" dirty="0"/>
                  <a:t> </a:t>
                </a:r>
                <a14:m>
                  <m:oMath xmlns:m="http://schemas.openxmlformats.org/officeDocument/2006/math">
                    <m:r>
                      <a:rPr lang="ka-GE" sz="2400">
                        <a:latin typeface="Cambria Math" panose="02040503050406030204" pitchFamily="18" charset="0"/>
                      </a:rPr>
                      <m:t>𝑎</m:t>
                    </m:r>
                    <m:r>
                      <a:rPr lang="ka-GE" sz="2400">
                        <a:latin typeface="Cambria Math" panose="02040503050406030204" pitchFamily="18" charset="0"/>
                      </a:rPr>
                      <m:t>∈{0,  </m:t>
                    </m:r>
                    <m:f>
                      <m:fPr>
                        <m:ctrlPr>
                          <a:rPr lang="en-US" sz="2400" i="1">
                            <a:latin typeface="Cambria Math" panose="02040503050406030204" pitchFamily="18" charset="0"/>
                          </a:rPr>
                        </m:ctrlPr>
                      </m:fPr>
                      <m:num>
                        <m:r>
                          <a:rPr lang="ka-GE" sz="2400">
                            <a:latin typeface="Cambria Math" panose="02040503050406030204" pitchFamily="18" charset="0"/>
                          </a:rPr>
                          <m:t>2</m:t>
                        </m:r>
                      </m:num>
                      <m:den>
                        <m:r>
                          <a:rPr lang="ka-GE" sz="2400">
                            <a:latin typeface="Cambria Math" panose="02040503050406030204" pitchFamily="18" charset="0"/>
                          </a:rPr>
                          <m:t>3</m:t>
                        </m:r>
                      </m:den>
                    </m:f>
                    <m:r>
                      <a:rPr lang="ka-GE" sz="2400">
                        <a:latin typeface="Cambria Math" panose="02040503050406030204" pitchFamily="18" charset="0"/>
                      </a:rPr>
                      <m:t>, 1, 5, 10}</m:t>
                    </m:r>
                  </m:oMath>
                </a14:m>
                <a:endParaRPr 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177002" y="2280218"/>
                <a:ext cx="5107379" cy="1851469"/>
              </a:xfrm>
              <a:prstGeom prst="rect">
                <a:avLst/>
              </a:prstGeom>
              <a:blipFill>
                <a:blip r:embed="rId3"/>
                <a:stretch>
                  <a:fillRect l="-1790" t="-2303" r="-3461" b="-1974"/>
                </a:stretch>
              </a:blipFill>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5700849" y="2285732"/>
            <a:ext cx="6286823" cy="3968954"/>
          </a:xfrm>
          <a:prstGeom prst="rect">
            <a:avLst/>
          </a:prstGeom>
        </p:spPr>
      </p:pic>
    </p:spTree>
    <p:extLst>
      <p:ext uri="{BB962C8B-B14F-4D97-AF65-F5344CB8AC3E}">
        <p14:creationId xmlns:p14="http://schemas.microsoft.com/office/powerpoint/2010/main" val="36790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77146" cy="246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3605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a:t>
            </a:r>
            <a:r>
              <a:rPr lang="en-US" sz="2200" dirty="0" smtClean="0"/>
              <a:t>copy-paste </a:t>
            </a:r>
            <a:r>
              <a:rPr lang="en-US" sz="2200" dirty="0"/>
              <a:t>the provided solution directly into the answer without even realizing what was asked or how it was </a:t>
            </a:r>
            <a:r>
              <a:rPr lang="en-US" sz="2200" dirty="0" smtClean="0"/>
              <a:t>solved. The </a:t>
            </a:r>
            <a:r>
              <a:rPr lang="en-US" sz="2000" dirty="0"/>
              <a:t>memorize formulas </a:t>
            </a:r>
            <a:r>
              <a:rPr lang="en-US" sz="2000" dirty="0" smtClean="0"/>
              <a:t>are another problem in this case as well.</a:t>
            </a:r>
            <a:endParaRPr lang="en-US" sz="2200" dirty="0" smtClean="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mc:AlternateContent xmlns:mc="http://schemas.openxmlformats.org/markup-compatibility/2006" xmlns:a14="http://schemas.microsoft.com/office/drawing/2010/main">
        <mc:Choice Requires="a14">
          <p:sp>
            <p:nvSpPr>
              <p:cNvPr id="6" name="Rectangle 5"/>
              <p:cNvSpPr/>
              <p:nvPr/>
            </p:nvSpPr>
            <p:spPr>
              <a:xfrm>
                <a:off x="177001" y="2402384"/>
                <a:ext cx="4171715" cy="1688219"/>
              </a:xfrm>
              <a:prstGeom prst="rect">
                <a:avLst/>
              </a:prstGeom>
            </p:spPr>
            <p:txBody>
              <a:bodyPr wrap="square">
                <a:spAutoFit/>
              </a:bodyPr>
              <a:lstStyle/>
              <a:p>
                <a:r>
                  <a:rPr lang="en-US" sz="3000" dirty="0"/>
                  <a:t>Find the limit of the function </a:t>
                </a:r>
                <a14:m>
                  <m:oMath xmlns:m="http://schemas.openxmlformats.org/officeDocument/2006/math">
                    <m:r>
                      <a:rPr lang="ka-GE" sz="3000">
                        <a:latin typeface="Cambria Math" panose="02040503050406030204" pitchFamily="18" charset="0"/>
                      </a:rPr>
                      <m:t>𝑓</m:t>
                    </m:r>
                    <m:d>
                      <m:dPr>
                        <m:ctrlPr>
                          <a:rPr lang="en-US" sz="3000" i="1">
                            <a:latin typeface="Cambria Math" panose="02040503050406030204" pitchFamily="18" charset="0"/>
                          </a:rPr>
                        </m:ctrlPr>
                      </m:dPr>
                      <m:e>
                        <m:r>
                          <a:rPr lang="ka-GE" sz="3000">
                            <a:latin typeface="Cambria Math" panose="02040503050406030204" pitchFamily="18" charset="0"/>
                          </a:rPr>
                          <m:t>𝑥</m:t>
                        </m:r>
                      </m:e>
                    </m:d>
                    <m:r>
                      <a:rPr lang="ka-GE" sz="3000">
                        <a:latin typeface="Cambria Math" panose="02040503050406030204" pitchFamily="18" charset="0"/>
                      </a:rPr>
                      <m:t>=</m:t>
                    </m:r>
                    <m:f>
                      <m:fPr>
                        <m:ctrlPr>
                          <a:rPr lang="en-US" sz="3000" i="1">
                            <a:latin typeface="Cambria Math" panose="02040503050406030204" pitchFamily="18" charset="0"/>
                          </a:rPr>
                        </m:ctrlPr>
                      </m:fPr>
                      <m:num>
                        <m:r>
                          <a:rPr lang="ka-GE" sz="3000">
                            <a:latin typeface="Cambria Math" panose="02040503050406030204" pitchFamily="18" charset="0"/>
                          </a:rPr>
                          <m:t>17</m:t>
                        </m:r>
                        <m:r>
                          <a:rPr lang="ka-GE" sz="3000">
                            <a:latin typeface="Cambria Math" panose="02040503050406030204" pitchFamily="18" charset="0"/>
                          </a:rPr>
                          <m:t>𝑥</m:t>
                        </m:r>
                      </m:num>
                      <m:den>
                        <m:r>
                          <a:rPr lang="ka-GE" sz="3000">
                            <a:latin typeface="Cambria Math" panose="02040503050406030204" pitchFamily="18" charset="0"/>
                          </a:rPr>
                          <m:t>𝑥</m:t>
                        </m:r>
                        <m:r>
                          <a:rPr lang="ka-GE" sz="3000">
                            <a:latin typeface="Cambria Math" panose="02040503050406030204" pitchFamily="18" charset="0"/>
                          </a:rPr>
                          <m:t>+1</m:t>
                        </m:r>
                      </m:den>
                    </m:f>
                  </m:oMath>
                </a14:m>
                <a:r>
                  <a:rPr lang="ka-GE" sz="3000" dirty="0"/>
                  <a:t> </a:t>
                </a:r>
                <a:r>
                  <a:rPr lang="en-US" sz="3000" dirty="0"/>
                  <a:t>when </a:t>
                </a:r>
                <a14:m>
                  <m:oMath xmlns:m="http://schemas.openxmlformats.org/officeDocument/2006/math">
                    <m:r>
                      <a:rPr lang="en-US" sz="3000">
                        <a:latin typeface="Cambria Math" panose="02040503050406030204" pitchFamily="18" charset="0"/>
                      </a:rPr>
                      <m:t>𝑥</m:t>
                    </m:r>
                    <m:r>
                      <a:rPr lang="en-US" sz="3000">
                        <a:latin typeface="Cambria Math" panose="02040503050406030204" pitchFamily="18" charset="0"/>
                      </a:rPr>
                      <m:t> →∞</m:t>
                    </m:r>
                  </m:oMath>
                </a14:m>
                <a:endParaRPr lang="en-US" sz="3000" dirty="0"/>
              </a:p>
            </p:txBody>
          </p:sp>
        </mc:Choice>
        <mc:Fallback xmlns="">
          <p:sp>
            <p:nvSpPr>
              <p:cNvPr id="6" name="Rectangle 5"/>
              <p:cNvSpPr>
                <a:spLocks noRot="1" noChangeAspect="1" noMove="1" noResize="1" noEditPoints="1" noAdjustHandles="1" noChangeArrowheads="1" noChangeShapeType="1" noTextEdit="1"/>
              </p:cNvSpPr>
              <p:nvPr/>
            </p:nvSpPr>
            <p:spPr>
              <a:xfrm>
                <a:off x="177001" y="2402384"/>
                <a:ext cx="4171715" cy="1688219"/>
              </a:xfrm>
              <a:prstGeom prst="rect">
                <a:avLst/>
              </a:prstGeom>
              <a:blipFill>
                <a:blip r:embed="rId3"/>
                <a:stretch>
                  <a:fillRect l="-3363" t="-4693" b="-10108"/>
                </a:stretch>
              </a:blipFill>
            </p:spPr>
            <p:txBody>
              <a:bodyPr/>
              <a:lstStyle/>
              <a:p>
                <a:r>
                  <a:rPr lang="en-US">
                    <a:noFill/>
                  </a:rPr>
                  <a:t> </a:t>
                </a:r>
              </a:p>
            </p:txBody>
          </p:sp>
        </mc:Fallback>
      </mc:AlternateContent>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70511316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par>
                                <p:cTn id="14" presetID="3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1000" fill="hold"/>
                                        <p:tgtEl>
                                          <p:spTgt spid="6"/>
                                        </p:tgtEl>
                                        <p:attrNameLst>
                                          <p:attrName>ppt_w</p:attrName>
                                        </p:attrNameLst>
                                      </p:cBhvr>
                                      <p:tavLst>
                                        <p:tav tm="0">
                                          <p:val>
                                            <p:fltVal val="0"/>
                                          </p:val>
                                        </p:tav>
                                        <p:tav tm="100000">
                                          <p:val>
                                            <p:strVal val="#ppt_w"/>
                                          </p:val>
                                        </p:tav>
                                      </p:tavLst>
                                    </p:anim>
                                    <p:anim calcmode="lin" valueType="num">
                                      <p:cBhvr>
                                        <p:cTn id="17" dur="1000" fill="hold"/>
                                        <p:tgtEl>
                                          <p:spTgt spid="6"/>
                                        </p:tgtEl>
                                        <p:attrNameLst>
                                          <p:attrName>ppt_h</p:attrName>
                                        </p:attrNameLst>
                                      </p:cBhvr>
                                      <p:tavLst>
                                        <p:tav tm="0">
                                          <p:val>
                                            <p:fltVal val="0"/>
                                          </p:val>
                                        </p:tav>
                                        <p:tav tm="100000">
                                          <p:val>
                                            <p:strVal val="#ppt_h"/>
                                          </p:val>
                                        </p:tav>
                                      </p:tavLst>
                                    </p:anim>
                                    <p:anim calcmode="lin" valueType="num">
                                      <p:cBhvr>
                                        <p:cTn id="18" dur="1000" fill="hold"/>
                                        <p:tgtEl>
                                          <p:spTgt spid="6"/>
                                        </p:tgtEl>
                                        <p:attrNameLst>
                                          <p:attrName>style.rotation</p:attrName>
                                        </p:attrNameLst>
                                      </p:cBhvr>
                                      <p:tavLst>
                                        <p:tav tm="0">
                                          <p:val>
                                            <p:fltVal val="90"/>
                                          </p:val>
                                        </p:tav>
                                        <p:tav tm="100000">
                                          <p:val>
                                            <p:fltVal val="0"/>
                                          </p:val>
                                        </p:tav>
                                      </p:tavLst>
                                    </p:anim>
                                    <p:animEffect transition="in" filter="fade">
                                      <p:cBhvr>
                                        <p:cTn id="19" dur="1000"/>
                                        <p:tgtEl>
                                          <p:spTgt spid="6"/>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000" fill="hold"/>
                                        <p:tgtEl>
                                          <p:spTgt spid="5"/>
                                        </p:tgtEl>
                                        <p:attrNameLst>
                                          <p:attrName>ppt_w</p:attrName>
                                        </p:attrNameLst>
                                      </p:cBhvr>
                                      <p:tavLst>
                                        <p:tav tm="0">
                                          <p:val>
                                            <p:fltVal val="0"/>
                                          </p:val>
                                        </p:tav>
                                        <p:tav tm="100000">
                                          <p:val>
                                            <p:strVal val="#ppt_w"/>
                                          </p:val>
                                        </p:tav>
                                      </p:tavLst>
                                    </p:anim>
                                    <p:anim calcmode="lin" valueType="num">
                                      <p:cBhvr>
                                        <p:cTn id="23" dur="1000" fill="hold"/>
                                        <p:tgtEl>
                                          <p:spTgt spid="5"/>
                                        </p:tgtEl>
                                        <p:attrNameLst>
                                          <p:attrName>ppt_h</p:attrName>
                                        </p:attrNameLst>
                                      </p:cBhvr>
                                      <p:tavLst>
                                        <p:tav tm="0">
                                          <p:val>
                                            <p:fltVal val="0"/>
                                          </p:val>
                                        </p:tav>
                                        <p:tav tm="100000">
                                          <p:val>
                                            <p:strVal val="#ppt_h"/>
                                          </p:val>
                                        </p:tav>
                                      </p:tavLst>
                                    </p:anim>
                                    <p:anim calcmode="lin" valueType="num">
                                      <p:cBhvr>
                                        <p:cTn id="24" dur="1000" fill="hold"/>
                                        <p:tgtEl>
                                          <p:spTgt spid="5"/>
                                        </p:tgtEl>
                                        <p:attrNameLst>
                                          <p:attrName>style.rotation</p:attrName>
                                        </p:attrNameLst>
                                      </p:cBhvr>
                                      <p:tavLst>
                                        <p:tav tm="0">
                                          <p:val>
                                            <p:fltVal val="90"/>
                                          </p:val>
                                        </p:tav>
                                        <p:tav tm="100000">
                                          <p:val>
                                            <p:fltVal val="0"/>
                                          </p:val>
                                        </p:tav>
                                      </p:tavLst>
                                    </p:anim>
                                    <p:animEffect transition="in" filter="fade">
                                      <p:cBhvr>
                                        <p:cTn id="25" dur="1000"/>
                                        <p:tgtEl>
                                          <p:spTgt spid="5"/>
                                        </p:tgtEl>
                                      </p:cBhvr>
                                    </p:animEffect>
                                  </p:childTnLst>
                                </p:cTn>
                              </p:par>
                            </p:childTnLst>
                          </p:cTn>
                        </p:par>
                        <p:par>
                          <p:cTn id="26" fill="hold">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par>
                          <p:cTn id="31" fill="hold">
                            <p:stCondLst>
                              <p:cond delay="2000"/>
                            </p:stCondLst>
                            <p:childTnLst>
                              <p:par>
                                <p:cTn id="32" presetID="2" presetClass="entr" presetSubtype="4"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4"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par>
                          <p:cTn id="41" fill="hold">
                            <p:stCondLst>
                              <p:cond delay="3000"/>
                            </p:stCondLst>
                            <p:childTnLst>
                              <p:par>
                                <p:cTn id="42" presetID="2" presetClass="entr" presetSubtype="4"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bg/>
                                          </p:spTgt>
                                        </p:tgtEl>
                                        <p:attrNameLst>
                                          <p:attrName>style.visibility</p:attrName>
                                        </p:attrNameLst>
                                      </p:cBhvr>
                                      <p:to>
                                        <p:strVal val="visible"/>
                                      </p:to>
                                    </p:set>
                                    <p:anim calcmode="lin" valueType="num">
                                      <p:cBhvr additive="base">
                                        <p:cTn id="50"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51" dur="500" fill="hold"/>
                                        <p:tgtEl>
                                          <p:spTgt spid="10">
                                            <p:bg/>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
                                            <p:txEl>
                                              <p:pRg st="0" end="0"/>
                                            </p:txEl>
                                          </p:spTgt>
                                        </p:tgtEl>
                                        <p:attrNameLst>
                                          <p:attrName>style.visibility</p:attrName>
                                        </p:attrNameLst>
                                      </p:cBhvr>
                                      <p:to>
                                        <p:strVal val="visible"/>
                                      </p:to>
                                    </p:set>
                                    <p:anim calcmode="lin" valueType="num">
                                      <p:cBhvr additive="base">
                                        <p:cTn id="5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P spid="8" grpId="0" animBg="1"/>
      <p:bldP spid="9" grpId="0" animBg="1"/>
      <p:bldP spid="6" grpId="0"/>
      <p:bldP spid="10" grpId="0"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Rectangle 6"/>
          <p:cNvSpPr/>
          <p:nvPr/>
        </p:nvSpPr>
        <p:spPr bwMode="auto">
          <a:xfrm>
            <a:off x="177002" y="2126512"/>
            <a:ext cx="11486914" cy="456136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235815"/>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b="1" dirty="0" smtClean="0"/>
              <a:t>Assignment</a:t>
            </a:r>
            <a:r>
              <a:rPr lang="en-US" sz="2400" dirty="0" smtClean="0"/>
              <a:t> </a:t>
            </a:r>
            <a:br>
              <a:rPr lang="en-US" sz="2400" dirty="0" smtClean="0"/>
            </a:br>
            <a:r>
              <a:rPr lang="en-US" sz="2400" dirty="0" smtClean="0"/>
              <a:t>https</a:t>
            </a:r>
            <a:r>
              <a:rPr lang="en-US" sz="2400" dirty="0"/>
              <a:t>://</a:t>
            </a:r>
            <a:r>
              <a:rPr lang="en-US" sz="2400" dirty="0" smtClean="0"/>
              <a:t>max.ge/batumi2026/function/target_function2.html</a:t>
            </a:r>
            <a:endParaRPr lang="en-US" sz="2400" dirty="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mc:AlternateContent xmlns:mc="http://schemas.openxmlformats.org/markup-compatibility/2006" xmlns:a14="http://schemas.microsoft.com/office/drawing/2010/main">
        <mc:Choice Requires="a14">
          <p:sp>
            <p:nvSpPr>
              <p:cNvPr id="3" name="Rectangle 2"/>
              <p:cNvSpPr/>
              <p:nvPr/>
            </p:nvSpPr>
            <p:spPr>
              <a:xfrm>
                <a:off x="177003" y="2280218"/>
                <a:ext cx="3990960" cy="1324273"/>
              </a:xfrm>
              <a:prstGeom prst="rect">
                <a:avLst/>
              </a:prstGeom>
            </p:spPr>
            <p:txBody>
              <a:bodyPr wrap="square">
                <a:spAutoFit/>
              </a:bodyPr>
              <a:lstStyle/>
              <a:p>
                <a:r>
                  <a:rPr lang="en-US" sz="2400" dirty="0" smtClean="0"/>
                  <a:t>Find the limit of the function </a:t>
                </a:r>
                <a14:m>
                  <m:oMath xmlns:m="http://schemas.openxmlformats.org/officeDocument/2006/math">
                    <m:r>
                      <a:rPr lang="ka-GE" sz="2400" i="1">
                        <a:latin typeface="Cambria Math" panose="02040503050406030204" pitchFamily="18" charset="0"/>
                      </a:rPr>
                      <m:t>𝑓</m:t>
                    </m:r>
                    <m:d>
                      <m:dPr>
                        <m:ctrlPr>
                          <a:rPr lang="en-US" sz="2400" i="1">
                            <a:latin typeface="Cambria Math" panose="02040503050406030204" pitchFamily="18" charset="0"/>
                          </a:rPr>
                        </m:ctrlPr>
                      </m:dPr>
                      <m:e>
                        <m:r>
                          <a:rPr lang="ka-GE" sz="2400" i="1">
                            <a:latin typeface="Cambria Math" panose="02040503050406030204" pitchFamily="18" charset="0"/>
                          </a:rPr>
                          <m:t>𝑥</m:t>
                        </m:r>
                      </m:e>
                    </m:d>
                    <m:r>
                      <a:rPr lang="ka-GE" sz="2400" i="1">
                        <a:latin typeface="Cambria Math" panose="02040503050406030204" pitchFamily="18" charset="0"/>
                      </a:rPr>
                      <m:t>=</m:t>
                    </m:r>
                    <m:f>
                      <m:fPr>
                        <m:ctrlPr>
                          <a:rPr lang="en-US" sz="2400" i="1">
                            <a:latin typeface="Cambria Math" panose="02040503050406030204" pitchFamily="18" charset="0"/>
                          </a:rPr>
                        </m:ctrlPr>
                      </m:fPr>
                      <m:num>
                        <m:r>
                          <a:rPr lang="ka-GE" sz="2400" i="1">
                            <a:latin typeface="Cambria Math" panose="02040503050406030204" pitchFamily="18" charset="0"/>
                          </a:rPr>
                          <m:t>𝑎</m:t>
                        </m:r>
                        <m:r>
                          <a:rPr lang="ka-GE" sz="2400" i="1">
                            <a:latin typeface="Cambria Math" panose="02040503050406030204" pitchFamily="18" charset="0"/>
                          </a:rPr>
                          <m:t>∙</m:t>
                        </m:r>
                        <m:r>
                          <a:rPr lang="ka-GE" sz="2400" i="1">
                            <a:latin typeface="Cambria Math" panose="02040503050406030204" pitchFamily="18" charset="0"/>
                          </a:rPr>
                          <m:t>𝑥</m:t>
                        </m:r>
                      </m:num>
                      <m:den>
                        <m:r>
                          <a:rPr lang="ka-GE" sz="2400" i="1">
                            <a:latin typeface="Cambria Math" panose="02040503050406030204" pitchFamily="18" charset="0"/>
                          </a:rPr>
                          <m:t>𝑥</m:t>
                        </m:r>
                        <m:r>
                          <a:rPr lang="ka-GE" sz="2400" i="1">
                            <a:latin typeface="Cambria Math" panose="02040503050406030204" pitchFamily="18" charset="0"/>
                          </a:rPr>
                          <m:t>+1</m:t>
                        </m:r>
                      </m:den>
                    </m:f>
                  </m:oMath>
                </a14:m>
                <a:r>
                  <a:rPr lang="ka-GE" sz="2400" dirty="0"/>
                  <a:t> </a:t>
                </a:r>
                <a:r>
                  <a:rPr lang="en-US" sz="2400" dirty="0"/>
                  <a:t>when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 →∞</m:t>
                    </m:r>
                  </m:oMath>
                </a14:m>
                <a:r>
                  <a:rPr lang="en-US" sz="2400" dirty="0"/>
                  <a:t>. </a:t>
                </a:r>
                <a14:m>
                  <m:oMath xmlns:m="http://schemas.openxmlformats.org/officeDocument/2006/math">
                    <m:r>
                      <a:rPr lang="ka-GE" sz="2400" i="1">
                        <a:latin typeface="Cambria Math" panose="02040503050406030204" pitchFamily="18" charset="0"/>
                      </a:rPr>
                      <m:t>𝑎</m:t>
                    </m:r>
                    <m:r>
                      <a:rPr lang="ka-GE" sz="2400" i="1">
                        <a:latin typeface="Cambria Math" panose="02040503050406030204" pitchFamily="18" charset="0"/>
                      </a:rPr>
                      <m:t>∈{0,  1,  2,  2.</m:t>
                    </m:r>
                    <m:r>
                      <a:rPr lang="ka-GE" sz="2400" b="0" i="1" smtClean="0">
                        <a:latin typeface="Cambria Math" panose="02040503050406030204" pitchFamily="18" charset="0"/>
                      </a:rPr>
                      <m:t>3,  2.5,  3,  4}</m:t>
                    </m:r>
                  </m:oMath>
                </a14:m>
                <a:endParaRPr 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177003" y="2280218"/>
                <a:ext cx="3990960" cy="1324273"/>
              </a:xfrm>
              <a:prstGeom prst="rect">
                <a:avLst/>
              </a:prstGeom>
              <a:blipFill>
                <a:blip r:embed="rId3"/>
                <a:stretch>
                  <a:fillRect l="-2290" t="-3226" r="-2443" b="-6452"/>
                </a:stretch>
              </a:blipFill>
            </p:spPr>
            <p:txBody>
              <a:bodyPr/>
              <a:lstStyle/>
              <a:p>
                <a:r>
                  <a:rPr lang="en-US">
                    <a:noFill/>
                  </a:rPr>
                  <a:t> </a:t>
                </a:r>
              </a:p>
            </p:txBody>
          </p:sp>
        </mc:Fallback>
      </mc:AlternateContent>
      <p:pic>
        <p:nvPicPr>
          <p:cNvPr id="2" name="Picture 1"/>
          <p:cNvPicPr>
            <a:picLocks noChangeAspect="1"/>
          </p:cNvPicPr>
          <p:nvPr/>
        </p:nvPicPr>
        <p:blipFill>
          <a:blip r:embed="rId4"/>
          <a:stretch>
            <a:fillRect/>
          </a:stretch>
        </p:blipFill>
        <p:spPr>
          <a:xfrm>
            <a:off x="4561367" y="2280218"/>
            <a:ext cx="6705599" cy="4263198"/>
          </a:xfrm>
          <a:prstGeom prst="rect">
            <a:avLst/>
          </a:prstGeom>
        </p:spPr>
      </p:pic>
    </p:spTree>
    <p:extLst>
      <p:ext uri="{BB962C8B-B14F-4D97-AF65-F5344CB8AC3E}">
        <p14:creationId xmlns:p14="http://schemas.microsoft.com/office/powerpoint/2010/main" val="32857070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115397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Last year, at this very conference, I presented general findings, including several topics that can be successfully taught in mathematics under the conditions of allowing artificial intelligence</a:t>
            </a:r>
            <a:r>
              <a:rPr lang="en-US" sz="2400" dirty="0" smtClean="0"/>
              <a:t>.</a:t>
            </a:r>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LAST YEAR TOPICS</a:t>
            </a:r>
            <a:endParaRPr sz="3200" b="1" dirty="0"/>
          </a:p>
        </p:txBody>
      </p:sp>
      <p:sp>
        <p:nvSpPr>
          <p:cNvPr id="3" name="Rectangle 2"/>
          <p:cNvSpPr/>
          <p:nvPr/>
        </p:nvSpPr>
        <p:spPr>
          <a:xfrm>
            <a:off x="177002" y="3394269"/>
            <a:ext cx="11646403" cy="1200329"/>
          </a:xfrm>
          <a:prstGeom prst="rect">
            <a:avLst/>
          </a:prstGeom>
        </p:spPr>
        <p:txBody>
          <a:bodyPr wrap="square">
            <a:spAutoFit/>
          </a:bodyPr>
          <a:lstStyle/>
          <a:p>
            <a:r>
              <a:rPr lang="en-US" sz="2400" dirty="0"/>
              <a:t>These topics include calculating the area bounded by the intersection of functions, computing correlation, and other elementary issues, which I will show you again today as a quick reminder.</a:t>
            </a:r>
          </a:p>
        </p:txBody>
      </p:sp>
    </p:spTree>
    <p:extLst>
      <p:ext uri="{BB962C8B-B14F-4D97-AF65-F5344CB8AC3E}">
        <p14:creationId xmlns:p14="http://schemas.microsoft.com/office/powerpoint/2010/main" val="420809799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In conclusion, I can tell you that I have been using these methods effectively for several years, although there are also challenges.</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CONCLUSION</a:t>
            </a:r>
            <a:endParaRPr sz="3200" b="1" dirty="0"/>
          </a:p>
        </p:txBody>
      </p:sp>
      <p:sp>
        <p:nvSpPr>
          <p:cNvPr id="3" name="Rectangle 2"/>
          <p:cNvSpPr/>
          <p:nvPr/>
        </p:nvSpPr>
        <p:spPr>
          <a:xfrm>
            <a:off x="177002" y="3139082"/>
            <a:ext cx="11646403" cy="830997"/>
          </a:xfrm>
          <a:prstGeom prst="rect">
            <a:avLst/>
          </a:prstGeom>
        </p:spPr>
        <p:txBody>
          <a:bodyPr wrap="square">
            <a:spAutoFit/>
          </a:bodyPr>
          <a:lstStyle/>
          <a:p>
            <a:r>
              <a:rPr lang="ka-GE" sz="2400" dirty="0" smtClean="0"/>
              <a:t>1. </a:t>
            </a:r>
            <a:r>
              <a:rPr lang="en-US" sz="2400" dirty="0" smtClean="0"/>
              <a:t>Artificial </a:t>
            </a:r>
            <a:r>
              <a:rPr lang="en-US" sz="2400" dirty="0"/>
              <a:t>intelligence is getting smarter and is gradually approaching human-level performance even in interactive tasks.</a:t>
            </a:r>
          </a:p>
        </p:txBody>
      </p:sp>
      <p:sp>
        <p:nvSpPr>
          <p:cNvPr id="5" name="Rectangle 4"/>
          <p:cNvSpPr/>
          <p:nvPr/>
        </p:nvSpPr>
        <p:spPr bwMode="auto">
          <a:xfrm>
            <a:off x="177002" y="4312211"/>
            <a:ext cx="11646403" cy="1569660"/>
          </a:xfrm>
          <a:prstGeom prst="rect">
            <a:avLst/>
          </a:prstGeom>
        </p:spPr>
        <p:txBody>
          <a:bodyPr wrap="square">
            <a:spAutoFit/>
          </a:bodyPr>
          <a:lstStyle/>
          <a:p>
            <a:r>
              <a:rPr lang="ka-GE" sz="2400" dirty="0" smtClean="0"/>
              <a:t>2. </a:t>
            </a:r>
            <a:r>
              <a:rPr lang="en-US" sz="2400" dirty="0" smtClean="0"/>
              <a:t>Students </a:t>
            </a:r>
            <a:r>
              <a:rPr lang="en-US" sz="2400" dirty="0"/>
              <a:t>try to feed an entire web page to the AI, since LLMs are currently best at handling code. There is a solution to this as well: using not just pure HTML code, but a simple web application with its own back-end. Such an application is no longer directly accessible to the student through the web browser.</a:t>
            </a:r>
          </a:p>
        </p:txBody>
      </p:sp>
    </p:spTree>
    <p:extLst>
      <p:ext uri="{BB962C8B-B14F-4D97-AF65-F5344CB8AC3E}">
        <p14:creationId xmlns:p14="http://schemas.microsoft.com/office/powerpoint/2010/main" val="4009393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46102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r>
              <a:rPr lang="en-US" sz="2500" b="1" dirty="0"/>
              <a:t>What should we do if AI outperforms humans across all domains?</a:t>
            </a:r>
            <a:endParaRPr lang="en-US" sz="2500" b="1" dirty="0" smtClean="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3000" b="1" dirty="0" smtClean="0"/>
              <a:t>OPEN QUESTION</a:t>
            </a:r>
            <a:endParaRPr sz="3200" b="1" dirty="0"/>
          </a:p>
        </p:txBody>
      </p:sp>
    </p:spTree>
    <p:extLst>
      <p:ext uri="{BB962C8B-B14F-4D97-AF65-F5344CB8AC3E}">
        <p14:creationId xmlns:p14="http://schemas.microsoft.com/office/powerpoint/2010/main" val="236290036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928" y="-106326"/>
            <a:ext cx="12367045" cy="6964326"/>
          </a:xfrm>
          <a:prstGeom prst="rect">
            <a:avLst/>
          </a:prstGeom>
        </p:spPr>
      </p:pic>
    </p:spTree>
    <p:extLst>
      <p:ext uri="{BB962C8B-B14F-4D97-AF65-F5344CB8AC3E}">
        <p14:creationId xmlns:p14="http://schemas.microsoft.com/office/powerpoint/2010/main" val="4594977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294</TotalTime>
  <Words>1116</Words>
  <Application>Microsoft Office PowerPoint</Application>
  <PresentationFormat>Widescreen</PresentationFormat>
  <Paragraphs>121</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amigo</dc:creator>
  <cp:lastModifiedBy>პაატა გოგიშვილი</cp:lastModifiedBy>
  <cp:revision>70</cp:revision>
  <dcterms:modified xsi:type="dcterms:W3CDTF">2026-08-31T21:08:40Z</dcterms:modified>
</cp:coreProperties>
</file>