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37" d="100"/>
          <a:sy n="137" d="100"/>
        </p:scale>
        <p:origin x="786" y="102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9498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96564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F575FF-52D4-4730-8717-35E97D7F905E}" type="datetimeFigureOut">
              <a:rPr lang="en-US"/>
              <a:t>9/23/2025</a:t>
            </a:fld>
            <a:endParaRPr lang="en-US"/>
          </a:p>
        </p:txBody>
      </p:sp>
      <p:sp>
        <p:nvSpPr>
          <p:cNvPr id="10352010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124304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731901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868214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6F37C4-3687-400D-BA5B-00C7165BEF3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950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8238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550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C32DDE-2193-BC7C-FA35-9E44373E50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371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406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07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9CA8A3-9448-FF19-3A3C-F14AA051BB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17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683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836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6C0B5-0693-E23F-F0B1-7441662BAF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076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098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24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A0DC0D-9C32-FEFE-0E63-35B98189A4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470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034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38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0DCA3-6034-8D28-5882-5F142B2450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894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367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008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63FEF7-5026-C824-54A6-9ED5AEFA17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720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9779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515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E3ADF-77D0-D5D6-51F9-AE124DCF03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665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4221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180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C07ECF-D3F5-8764-9694-C9AFEF2EB4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692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5708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EC36C-8677-F262-FB1D-5D52CFCB6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392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048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845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748442-A899-1B5C-1F78-C46911243A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205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334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920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932F3-048C-4C57-7249-B9669409CF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176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290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772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99E885-158C-0672-6997-695768884C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50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1944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927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96839E-5F0B-487C-6589-2C98F5615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5256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81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407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698B67-1094-93A9-7B85-8DCB71C9B1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408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0289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874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AFBFD8-D99A-AFC9-5F80-D054EB6482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216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297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138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3DBBD-1B7B-598A-77F0-903C055FEA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067035" name="Title 13"/>
          <p:cNvSpPr>
            <a:spLocks noGrp="1"/>
          </p:cNvSpPr>
          <p:nvPr>
            <p:ph type="ctrTitle"/>
          </p:nvPr>
        </p:nvSpPr>
        <p:spPr bwMode="auto"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43670920" name="Subtitle 21"/>
          <p:cNvSpPr>
            <a:spLocks noGrp="1"/>
          </p:cNvSpPr>
          <p:nvPr>
            <p:ph type="subTitle" idx="1"/>
          </p:nvPr>
        </p:nvSpPr>
        <p:spPr bwMode="auto"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58984370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564482349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945028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21545775" name="Oval 7"/>
          <p:cNvSpPr/>
          <p:nvPr/>
        </p:nvSpPr>
        <p:spPr bwMode="auto"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9240263" name="Oval 8"/>
          <p:cNvSpPr/>
          <p:nvPr/>
        </p:nvSpPr>
        <p:spPr bwMode="auto"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003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56308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62263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354609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53761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608680" name="Rectangle 6"/>
          <p:cNvSpPr/>
          <p:nvPr/>
        </p:nvSpPr>
        <p:spPr bwMode="auto"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5511976" name="Title 1"/>
          <p:cNvSpPr>
            <a:spLocks noGrp="1"/>
          </p:cNvSpPr>
          <p:nvPr>
            <p:ph type="title"/>
          </p:nvPr>
        </p:nvSpPr>
        <p:spPr bwMode="auto"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22480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20729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4838597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23631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35604663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256699" name="Oval 7"/>
          <p:cNvSpPr/>
          <p:nvPr/>
        </p:nvSpPr>
        <p:spPr bwMode="auto"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12372459" name="Oval 8"/>
          <p:cNvSpPr/>
          <p:nvPr/>
        </p:nvSpPr>
        <p:spPr bwMode="auto"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620716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82226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013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38730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0686742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43403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224150" name="Title 1"/>
          <p:cNvSpPr>
            <a:spLocks noGrp="1"/>
          </p:cNvSpPr>
          <p:nvPr>
            <p:ph type="title"/>
          </p:nvPr>
        </p:nvSpPr>
        <p:spPr bwMode="auto"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053287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7743377" name="Text Placeholder 3"/>
          <p:cNvSpPr>
            <a:spLocks noGrp="1"/>
          </p:cNvSpPr>
          <p:nvPr>
            <p:ph type="body" sz="half" idx="3"/>
          </p:nvPr>
        </p:nvSpPr>
        <p:spPr bwMode="auto">
          <a:xfrm>
            <a:off x="466344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8828082" name="Content Placeholder 4"/>
          <p:cNvSpPr>
            <a:spLocks noGrp="1"/>
          </p:cNvSpPr>
          <p:nvPr>
            <p:ph sz="quarter" idx="2"/>
          </p:nvPr>
        </p:nvSpPr>
        <p:spPr bwMode="auto">
          <a:xfrm>
            <a:off x="45720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085354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6344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935759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7467771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21971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737824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 anchor="ctr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0876748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0632490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402574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095182" name="Rectangle 4"/>
          <p:cNvSpPr/>
          <p:nvPr/>
        </p:nvSpPr>
        <p:spPr bwMode="auto"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8448482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09501065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14981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75662274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852676" name="Title 1"/>
          <p:cNvSpPr>
            <a:spLocks noGrp="1"/>
          </p:cNvSpPr>
          <p:nvPr>
            <p:ph type="title"/>
          </p:nvPr>
        </p:nvSpPr>
        <p:spPr bwMode="auto">
          <a:xfrm>
            <a:off x="457200" y="162583"/>
            <a:ext cx="3810000" cy="871538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41964828" name="Text Placeholder 2"/>
          <p:cNvSpPr>
            <a:spLocks noGrp="1"/>
          </p:cNvSpPr>
          <p:nvPr>
            <p:ph type="body" idx="2"/>
          </p:nvPr>
        </p:nvSpPr>
        <p:spPr bwMode="auto"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0541518" name="Content Placeholder 3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8153399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90742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5800605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36622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89621" name="Title 1"/>
          <p:cNvSpPr>
            <a:spLocks noGrp="1"/>
          </p:cNvSpPr>
          <p:nvPr>
            <p:ph type="title"/>
          </p:nvPr>
        </p:nvSpPr>
        <p:spPr bwMode="auto"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351985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345066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6753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237291243" name="Rectangle 7"/>
          <p:cNvSpPr/>
          <p:nvPr/>
        </p:nvSpPr>
        <p:spPr bwMode="auto"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</p:spPr>
        <p:txBody>
          <a:bodyPr lIns="91440" tIns="274320" rtlCol="0" anchor="t">
            <a:normAutofit/>
          </a:bodyPr>
          <a:lstStyle/>
          <a:p>
            <a:pPr marL="0" indent="-283464" algn="l" rtl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3072057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860960853" name="Flowchart: Process 8"/>
          <p:cNvSpPr/>
          <p:nvPr/>
        </p:nvSpPr>
        <p:spPr bwMode="auto"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3145140" name="Flowchart: Process 9"/>
          <p:cNvSpPr/>
          <p:nvPr/>
        </p:nvSpPr>
        <p:spPr bwMode="auto">
          <a:xfrm rot="2103353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35525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9357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760306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78011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6946256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84245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70155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858000" y="205980"/>
            <a:ext cx="18288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165497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43000" y="205980"/>
            <a:ext cx="55626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0693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9131377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17645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02103" name="Pie 6"/>
          <p:cNvSpPr/>
          <p:nvPr/>
        </p:nvSpPr>
        <p:spPr bwMode="auto"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9969257" name="Oval 7"/>
          <p:cNvSpPr/>
          <p:nvPr/>
        </p:nvSpPr>
        <p:spPr bwMode="auto"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5742816" name="Donut 10"/>
          <p:cNvSpPr/>
          <p:nvPr/>
        </p:nvSpPr>
        <p:spPr bwMode="auto">
          <a:xfrm rot="2315675">
            <a:off x="182882" y="791308"/>
            <a:ext cx="1125717" cy="826968"/>
          </a:xfrm>
          <a:prstGeom prst="donut">
            <a:avLst>
              <a:gd name="adj" fmla="val 11833"/>
            </a:avLst>
          </a:prstGeom>
          <a:gradFill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/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114583" name="Rectangle 11"/>
          <p:cNvSpPr/>
          <p:nvPr/>
        </p:nvSpPr>
        <p:spPr bwMode="auto">
          <a:xfrm>
            <a:off x="1012874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9119907" name="Title Placeholder 4"/>
          <p:cNvSpPr>
            <a:spLocks noGrp="1"/>
          </p:cNvSpPr>
          <p:nvPr>
            <p:ph type="title"/>
          </p:nvPr>
        </p:nvSpPr>
        <p:spPr bwMode="auto">
          <a:xfrm>
            <a:off x="1435608" y="205979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322545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95600583" name="Date Placeholder 23"/>
          <p:cNvSpPr>
            <a:spLocks noGrp="1"/>
          </p:cNvSpPr>
          <p:nvPr>
            <p:ph type="dt" sz="half" idx="2"/>
          </p:nvPr>
        </p:nvSpPr>
        <p:spPr bwMode="auto"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678301099" name="Footer Placeholder 9"/>
          <p:cNvSpPr>
            <a:spLocks noGrp="1"/>
          </p:cNvSpPr>
          <p:nvPr>
            <p:ph type="ftr" sz="quarter" idx="3"/>
          </p:nvPr>
        </p:nvSpPr>
        <p:spPr bwMode="auto"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7291757" name="Slide Number Placeholder 21"/>
          <p:cNvSpPr>
            <a:spLocks noGrp="1"/>
          </p:cNvSpPr>
          <p:nvPr>
            <p:ph type="sldNum" sz="quarter" idx="4"/>
          </p:nvPr>
        </p:nvSpPr>
        <p:spPr bwMode="auto"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60533146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>
        <a:spcBef>
          <a:spcPts val="0"/>
        </a:spcBef>
        <a:buNone/>
        <a:defRPr sz="4300">
          <a:solidFill>
            <a:schemeClr val="tx2">
              <a:satMod val="130000"/>
            </a:schemeClr>
          </a:solidFill>
          <a:latin typeface="+mj-lt"/>
          <a:ea typeface="+mj-ea"/>
          <a:cs typeface="+mj-cs"/>
        </a:defRPr>
      </a:lvl1pPr>
    </p:titleStyle>
    <p:bodyStyle>
      <a:lvl1pPr marL="365760" indent="-283464" algn="l" rtl="0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>
        <a:lnSpc>
          <a:spcPct val="100000"/>
        </a:lnSpc>
        <a:spcBef>
          <a:spcPts val="0"/>
        </a:spcBef>
        <a:buClr>
          <a:schemeClr val="accent2"/>
        </a:buClr>
        <a:buFont typeface="Wingdings 2"/>
        <a:buChar char="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>
        <a:lnSpc>
          <a:spcPct val="100000"/>
        </a:lnSpc>
        <a:spcBef>
          <a:spcPts val="0"/>
        </a:spcBef>
        <a:buClr>
          <a:schemeClr val="accent3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>
        <a:lnSpc>
          <a:spcPct val="100000"/>
        </a:lnSpc>
        <a:spcBef>
          <a:spcPts val="0"/>
        </a:spcBef>
        <a:buClr>
          <a:schemeClr val="accent4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508759" indent="-182880" algn="l" rtl="0">
        <a:lnSpc>
          <a:spcPct val="100000"/>
        </a:lnSpc>
        <a:spcBef>
          <a:spcPts val="0"/>
        </a:spcBef>
        <a:buClr>
          <a:schemeClr val="accent5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222672" name="Subtitle 2"/>
          <p:cNvSpPr txBox="1"/>
          <p:nvPr/>
        </p:nvSpPr>
        <p:spPr bwMode="auto">
          <a:xfrm>
            <a:off x="1215972" y="4721298"/>
            <a:ext cx="2365428" cy="365052"/>
          </a:xfrm>
          <a:prstGeom prst="rect">
            <a:avLst/>
          </a:prstGeom>
        </p:spPr>
        <p:txBody>
          <a:bodyPr tIns="0">
            <a:normAutofit fontScale="92500"/>
          </a:bodyPr>
          <a:lstStyle>
            <a:lvl1pPr marL="27432" indent="0" algn="l"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>
                <a:latin typeface="BPG Web 002"/>
                <a:cs typeface="BPG Web 002"/>
              </a:rPr>
              <a:t>202</a:t>
            </a:r>
            <a:r>
              <a:rPr lang="ka-GE" sz="1400">
                <a:latin typeface="BPG Web 002"/>
                <a:cs typeface="BPG Web 002"/>
              </a:rPr>
              <a:t>6 წლის 2</a:t>
            </a:r>
            <a:r>
              <a:rPr lang="en-US" sz="1400">
                <a:latin typeface="BPG Web 002"/>
                <a:cs typeface="BPG Web 002"/>
              </a:rPr>
              <a:t>4</a:t>
            </a:r>
            <a:r>
              <a:rPr lang="ka-GE" sz="1400">
                <a:latin typeface="BPG Web 002"/>
                <a:cs typeface="BPG Web 002"/>
              </a:rPr>
              <a:t> სექტემბერი</a:t>
            </a:r>
            <a:endParaRPr lang="en-US" sz="1400">
              <a:latin typeface="BPG Web 002"/>
              <a:cs typeface="BPG Web 002"/>
            </a:endParaRPr>
          </a:p>
        </p:txBody>
      </p:sp>
      <p:sp>
        <p:nvSpPr>
          <p:cNvPr id="626003780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202072979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pic>
        <p:nvPicPr>
          <p:cNvPr id="82899319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67600" y="2876550"/>
            <a:ext cx="1368118" cy="1368118"/>
          </a:xfrm>
          <a:prstGeom prst="rect">
            <a:avLst/>
          </a:prstGeom>
        </p:spPr>
      </p:pic>
      <p:sp>
        <p:nvSpPr>
          <p:cNvPr id="764544045" name="TextBox 14"/>
          <p:cNvSpPr txBox="1"/>
          <p:nvPr/>
        </p:nvSpPr>
        <p:spPr bwMode="auto">
          <a:xfrm>
            <a:off x="6402613" y="4331313"/>
            <a:ext cx="271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a-GE" sz="1600">
                <a:latin typeface="BPG Web 002 Caps"/>
                <a:cs typeface="BPG Web 002 Caps"/>
              </a:rPr>
              <a:t>ტექნოლოგიის სკოლა</a:t>
            </a:r>
            <a:endParaRPr lang="en-US" sz="1600">
              <a:latin typeface="BPG Web 002 Caps"/>
              <a:cs typeface="BPG Web 002 Caps"/>
            </a:endParaRPr>
          </a:p>
        </p:txBody>
      </p:sp>
      <p:sp>
        <p:nvSpPr>
          <p:cNvPr id="398704200" name="TextBox 15"/>
          <p:cNvSpPr txBox="1"/>
          <p:nvPr/>
        </p:nvSpPr>
        <p:spPr bwMode="auto">
          <a:xfrm>
            <a:off x="3429000" y="4685265"/>
            <a:ext cx="5406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ka-GE" sz="1200">
                <a:latin typeface="BPG Web 002 Caps"/>
                <a:cs typeface="BPG Web 002 Caps"/>
              </a:rPr>
              <a:t>ბიზნესის ტექნოლოგიისა და განათლების ფაკულტეტი</a:t>
            </a:r>
            <a:endParaRPr lang="en-US" sz="1200">
              <a:latin typeface="BPG Web 002 Caps"/>
              <a:cs typeface="BPG Web 002 Caps"/>
            </a:endParaRPr>
          </a:p>
        </p:txBody>
      </p:sp>
      <p:sp>
        <p:nvSpPr>
          <p:cNvPr id="1235662010" name="Rectangle 2"/>
          <p:cNvSpPr/>
          <p:nvPr/>
        </p:nvSpPr>
        <p:spPr bwMode="auto">
          <a:xfrm>
            <a:off x="1274461" y="1440418"/>
            <a:ext cx="36023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a-GE" sz="3000">
                <a:latin typeface="BPG WEB 001 Caps"/>
              </a:rPr>
              <a:t>პაატა გოგიშვილი</a:t>
            </a:r>
            <a:endParaRPr lang="en-US" sz="3000">
              <a:latin typeface="BPG WEB 001 Caps"/>
            </a:endParaRPr>
          </a:p>
        </p:txBody>
      </p:sp>
      <p:sp>
        <p:nvSpPr>
          <p:cNvPr id="185723789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215972" y="285748"/>
            <a:ext cx="7668659" cy="83751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ka-GE" sz="4000" b="1">
                <a:latin typeface="BPG WEB 001 Caps"/>
                <a:cs typeface="BPG Web 002"/>
              </a:rPr>
              <a:t>კომპიუტერული მეცნიერება</a:t>
            </a:r>
            <a:endParaRPr lang="en-US" sz="4000" b="1">
              <a:latin typeface="BPG WEB 001 Caps"/>
              <a:cs typeface="BPG Web 002"/>
            </a:endParaRPr>
          </a:p>
        </p:txBody>
      </p:sp>
      <p:sp>
        <p:nvSpPr>
          <p:cNvPr id="2012724382" name="TextBox 16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060483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97768473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დღევანდელი შეხვედრა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280366117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054273283" name="TextBox 5001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დღეს ოთხ კითხვას ვუპასუხებთ:</a:t>
            </a:r>
            <a:endParaRPr/>
          </a:p>
        </p:txBody>
      </p:sp>
      <p:sp>
        <p:nvSpPr>
          <p:cNvPr id="704011350" name="Card 5002"/>
          <p:cNvSpPr/>
          <p:nvPr/>
        </p:nvSpPr>
        <p:spPr bwMode="auto">
          <a:xfrm>
            <a:off x="1216151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557200564" name="Badge 5003"/>
          <p:cNvSpPr/>
          <p:nvPr/>
        </p:nvSpPr>
        <p:spPr bwMode="auto">
          <a:xfrm>
            <a:off x="1399032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511775236" name="TextBox 5004"/>
          <p:cNvSpPr/>
          <p:nvPr/>
        </p:nvSpPr>
        <p:spPr bwMode="auto">
          <a:xfrm>
            <a:off x="2084832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რა არის კომპიუტერული მეცნიერება?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დარგი და კარიერული გზები</a:t>
            </a:r>
            <a:endParaRPr/>
          </a:p>
        </p:txBody>
      </p:sp>
      <p:sp>
        <p:nvSpPr>
          <p:cNvPr id="1261401952" name="Card 5005"/>
          <p:cNvSpPr/>
          <p:nvPr/>
        </p:nvSpPr>
        <p:spPr bwMode="auto">
          <a:xfrm>
            <a:off x="5157216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506421713" name="Badge 5006"/>
          <p:cNvSpPr/>
          <p:nvPr/>
        </p:nvSpPr>
        <p:spPr bwMode="auto">
          <a:xfrm>
            <a:off x="5340096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467503075" name="TextBox 5007"/>
          <p:cNvSpPr/>
          <p:nvPr/>
        </p:nvSpPr>
        <p:spPr bwMode="auto">
          <a:xfrm>
            <a:off x="6025896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როგორ არის აწყობილი პროგრამა?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4 წელი, კურსები, სილაბუსი, შეფასება</a:t>
            </a:r>
            <a:endParaRPr/>
          </a:p>
        </p:txBody>
      </p:sp>
      <p:sp>
        <p:nvSpPr>
          <p:cNvPr id="182004402" name="Card 5008"/>
          <p:cNvSpPr/>
          <p:nvPr/>
        </p:nvSpPr>
        <p:spPr bwMode="auto">
          <a:xfrm>
            <a:off x="1216151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918722139" name="Badge 5009"/>
          <p:cNvSpPr/>
          <p:nvPr/>
        </p:nvSpPr>
        <p:spPr bwMode="auto">
          <a:xfrm>
            <a:off x="1399032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854399262" name="TextBox 5010"/>
          <p:cNvSpPr/>
          <p:nvPr/>
        </p:nvSpPr>
        <p:spPr bwMode="auto">
          <a:xfrm>
            <a:off x="2084832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რა უნდა გავაკეთო ამ კვირაში?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პირველი ნაბიჯები და წესები</a:t>
            </a:r>
            <a:endParaRPr/>
          </a:p>
        </p:txBody>
      </p:sp>
      <p:sp>
        <p:nvSpPr>
          <p:cNvPr id="1405653287" name="Card 5011"/>
          <p:cNvSpPr/>
          <p:nvPr/>
        </p:nvSpPr>
        <p:spPr bwMode="auto">
          <a:xfrm>
            <a:off x="5157216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583350427" name="Badge 5012"/>
          <p:cNvSpPr/>
          <p:nvPr/>
        </p:nvSpPr>
        <p:spPr bwMode="auto">
          <a:xfrm>
            <a:off x="5340096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472722017" name="TextBox 5013"/>
          <p:cNvSpPr/>
          <p:nvPr/>
        </p:nvSpPr>
        <p:spPr bwMode="auto">
          <a:xfrm>
            <a:off x="6025896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ვის მივმართო?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კონტაქტები და რჩევები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9221663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707348620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800" b="1">
                <a:latin typeface="BPG WEB 001 Caps"/>
                <a:cs typeface="BPG Web 002"/>
              </a:rPr>
              <a:t>რა არის კომპიუტერული მეცნიერება?</a:t>
            </a:r>
            <a:endParaRPr lang="en-US" sz="2800" b="1">
              <a:latin typeface="BPG WEB 001 Caps"/>
              <a:cs typeface="BPG Web 002"/>
            </a:endParaRPr>
          </a:p>
        </p:txBody>
      </p:sp>
      <p:sp>
        <p:nvSpPr>
          <p:cNvPr id="177202547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362413572" name="Venn 5014"/>
          <p:cNvSpPr/>
          <p:nvPr/>
        </p:nvSpPr>
        <p:spPr bwMode="auto">
          <a:xfrm>
            <a:off x="1216151" y="1344168"/>
            <a:ext cx="2286000" cy="228600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332263423" name="Venn 5015"/>
          <p:cNvSpPr/>
          <p:nvPr/>
        </p:nvSpPr>
        <p:spPr bwMode="auto">
          <a:xfrm>
            <a:off x="2633472" y="1344168"/>
            <a:ext cx="2286000" cy="22860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286108244" name="Venn 5016"/>
          <p:cNvSpPr/>
          <p:nvPr/>
        </p:nvSpPr>
        <p:spPr bwMode="auto">
          <a:xfrm>
            <a:off x="2633472" y="1847088"/>
            <a:ext cx="868680" cy="1280160"/>
          </a:xfrm>
          <a:prstGeom prst="ellipse">
            <a:avLst/>
          </a:prstGeom>
          <a:solidFill>
            <a:srgbClr val="4F271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</a:t>
            </a:r>
            <a:endParaRPr/>
          </a:p>
        </p:txBody>
      </p:sp>
      <p:sp>
        <p:nvSpPr>
          <p:cNvPr id="880144697" name="TextBox 5017"/>
          <p:cNvSpPr/>
          <p:nvPr/>
        </p:nvSpPr>
        <p:spPr bwMode="auto">
          <a:xfrm>
            <a:off x="1399032" y="216712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მათემატიკა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Mathematics</a:t>
            </a:r>
            <a:endParaRPr/>
          </a:p>
        </p:txBody>
      </p:sp>
      <p:sp>
        <p:nvSpPr>
          <p:cNvPr id="282515038" name="TextBox 5018"/>
          <p:cNvSpPr/>
          <p:nvPr/>
        </p:nvSpPr>
        <p:spPr bwMode="auto">
          <a:xfrm>
            <a:off x="3547872" y="2167128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პროგრამა</a:t>
            </a:r>
            <a:endParaRPr/>
          </a:p>
          <a:p>
            <a:pPr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3E6D8"/>
                </a:solidFill>
                <a:latin typeface="Calibri"/>
                <a:ea typeface="Calibri"/>
                <a:cs typeface="Calibri"/>
              </a:rPr>
              <a:t>Software</a:t>
            </a:r>
            <a:endParaRPr/>
          </a:p>
        </p:txBody>
      </p:sp>
      <p:sp>
        <p:nvSpPr>
          <p:cNvPr id="395585894" name="TextBox 5019"/>
          <p:cNvSpPr/>
          <p:nvPr/>
        </p:nvSpPr>
        <p:spPr bwMode="auto">
          <a:xfrm>
            <a:off x="1216151" y="376732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კომპიუტერული მეცნიერი იდეას ალგორითმად აქცევს, ალგორითმს კი — პროგრამად.</a:t>
            </a:r>
            <a:endParaRPr/>
          </a:p>
        </p:txBody>
      </p:sp>
      <p:sp>
        <p:nvSpPr>
          <p:cNvPr id="1856287434" name="Card 5020"/>
          <p:cNvSpPr/>
          <p:nvPr/>
        </p:nvSpPr>
        <p:spPr bwMode="auto">
          <a:xfrm>
            <a:off x="5285232" y="1344168"/>
            <a:ext cx="3538728" cy="13716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კომპიუტერული ინჟინერია (CE)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აპარატურა და პროგრამა: წრედები, ელექტრონიკა, ჩაშენებული სისტემები</a:t>
            </a:r>
            <a:endParaRPr/>
          </a:p>
        </p:txBody>
      </p:sp>
      <p:sp>
        <p:nvSpPr>
          <p:cNvPr id="152255808" name="Card 5021"/>
          <p:cNvSpPr/>
          <p:nvPr/>
        </p:nvSpPr>
        <p:spPr bwMode="auto">
          <a:xfrm>
            <a:off x="5285232" y="2898648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კომპიუტერული მეცნიერება (CS)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დაპროგრამება და ალგორითმები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მათემატიკური საფუძვლები და გამოთვლების თეორია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ოპერაციული სისტემები, ქსელები, მონაცემთა ბაზები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მონაცემები, AI და მანქანური სწავლება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8264813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802408006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600" b="1">
                <a:latin typeface="BPG WEB 001 Caps"/>
                <a:cs typeface="BPG Web 002"/>
              </a:rPr>
              <a:t>სად მუშაობენ კომპიუტერული მეცნიერები</a:t>
            </a:r>
            <a:endParaRPr lang="en-US" sz="2600" b="1">
              <a:latin typeface="BPG WEB 001 Caps"/>
              <a:cs typeface="BPG Web 002"/>
            </a:endParaRPr>
          </a:p>
        </p:txBody>
      </p:sp>
      <p:sp>
        <p:nvSpPr>
          <p:cNvPr id="238792841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120010484" name="Card 5022"/>
          <p:cNvSpPr/>
          <p:nvPr/>
        </p:nvSpPr>
        <p:spPr bwMode="auto">
          <a:xfrm>
            <a:off x="1216151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პროგრამული ინჟინერია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სერვერული, დესკტოპ და კორპორაციული სისტემები</a:t>
            </a:r>
            <a:endParaRPr/>
          </a:p>
        </p:txBody>
      </p:sp>
      <p:sp>
        <p:nvSpPr>
          <p:cNvPr id="53285970" name="Card 5023"/>
          <p:cNvSpPr/>
          <p:nvPr/>
        </p:nvSpPr>
        <p:spPr bwMode="auto">
          <a:xfrm>
            <a:off x="3828288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ვებ და მობილური დეველოპმენტი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ვებსერვისები, აპლიკაციები, ინტერფეისები</a:t>
            </a:r>
            <a:endParaRPr/>
          </a:p>
        </p:txBody>
      </p:sp>
      <p:sp>
        <p:nvSpPr>
          <p:cNvPr id="2034240159" name="Card 5024"/>
          <p:cNvSpPr/>
          <p:nvPr/>
        </p:nvSpPr>
        <p:spPr bwMode="auto">
          <a:xfrm>
            <a:off x="6440424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კიბერუსაფრთხოება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სისტემების, ქსელებისა და მონაცემების დაცვა</a:t>
            </a:r>
            <a:endParaRPr/>
          </a:p>
        </p:txBody>
      </p:sp>
      <p:sp>
        <p:nvSpPr>
          <p:cNvPr id="787803362" name="Card 5025"/>
          <p:cNvSpPr/>
          <p:nvPr/>
        </p:nvSpPr>
        <p:spPr bwMode="auto">
          <a:xfrm>
            <a:off x="1216151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AI და მანქანური სწავლება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ML მოდელები, კომპიუტერული ხედვა, NLP</a:t>
            </a:r>
            <a:endParaRPr/>
          </a:p>
        </p:txBody>
      </p:sp>
      <p:sp>
        <p:nvSpPr>
          <p:cNvPr id="1595520867" name="Card 5026"/>
          <p:cNvSpPr/>
          <p:nvPr/>
        </p:nvSpPr>
        <p:spPr bwMode="auto">
          <a:xfrm>
            <a:off x="3828288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მონაცემთა მეცნიერება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მონაცემთა ბაზები, დიდი მონაცემები, ანალიტიკა</a:t>
            </a:r>
            <a:endParaRPr/>
          </a:p>
        </p:txBody>
      </p:sp>
      <p:sp>
        <p:nvSpPr>
          <p:cNvPr id="951244155" name="Card 5027"/>
          <p:cNvSpPr/>
          <p:nvPr/>
        </p:nvSpPr>
        <p:spPr bwMode="auto">
          <a:xfrm>
            <a:off x="6440424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ღრუბელი და DevOps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ღრუბლოვანი პლატფორმები, ავტომატიზაცია, ინფრასტრუქტურა</a:t>
            </a:r>
            <a:endParaRPr/>
          </a:p>
        </p:txBody>
      </p:sp>
      <p:sp>
        <p:nvSpPr>
          <p:cNvPr id="1606768494" name="TextBox 5028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და, რა თქმა უნდა, მაგისტრატურა და კვლევა — საქართველოში და მის ფარგლებს გარეთ.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8539426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687308106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პროგრამის რუკა: 4 წელი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174141919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205148994" name="Line 5029"/>
          <p:cNvSpPr/>
          <p:nvPr/>
        </p:nvSpPr>
        <p:spPr bwMode="auto">
          <a:xfrm>
            <a:off x="1490472" y="1600200"/>
            <a:ext cx="7059168" cy="54864"/>
          </a:xfrm>
          <a:prstGeom prst="rect">
            <a:avLst/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236367557" name="Badge 5030"/>
          <p:cNvSpPr/>
          <p:nvPr/>
        </p:nvSpPr>
        <p:spPr bwMode="auto">
          <a:xfrm>
            <a:off x="1749933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endParaRPr/>
          </a:p>
        </p:txBody>
      </p:sp>
      <p:sp>
        <p:nvSpPr>
          <p:cNvPr id="1769708876" name="TextBox 5031"/>
          <p:cNvSpPr/>
          <p:nvPr/>
        </p:nvSpPr>
        <p:spPr bwMode="auto">
          <a:xfrm>
            <a:off x="1216151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საფუძვლები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კალკულუსი, დაპროგრამება, კომპიუტერის ორგანიზაცია</a:t>
            </a:r>
            <a:endParaRPr/>
          </a:p>
        </p:txBody>
      </p:sp>
      <p:sp>
        <p:nvSpPr>
          <p:cNvPr id="2136670984" name="Badge 5032"/>
          <p:cNvSpPr/>
          <p:nvPr/>
        </p:nvSpPr>
        <p:spPr bwMode="auto">
          <a:xfrm>
            <a:off x="3686175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</a:t>
            </a:r>
            <a:endParaRPr/>
          </a:p>
        </p:txBody>
      </p:sp>
      <p:sp>
        <p:nvSpPr>
          <p:cNvPr id="1189938378" name="TextBox 5033"/>
          <p:cNvSpPr/>
          <p:nvPr/>
        </p:nvSpPr>
        <p:spPr bwMode="auto">
          <a:xfrm>
            <a:off x="3152394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II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ძირითადი კურსები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წრფივი ალგებრა, ალგორითმები, ქსელები, სტატისტიკა</a:t>
            </a:r>
            <a:endParaRPr/>
          </a:p>
        </p:txBody>
      </p:sp>
      <p:sp>
        <p:nvSpPr>
          <p:cNvPr id="1440322345" name="Badge 5034"/>
          <p:cNvSpPr/>
          <p:nvPr/>
        </p:nvSpPr>
        <p:spPr bwMode="auto">
          <a:xfrm>
            <a:off x="5622417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</a:t>
            </a:r>
            <a:endParaRPr/>
          </a:p>
        </p:txBody>
      </p:sp>
      <p:sp>
        <p:nvSpPr>
          <p:cNvPr id="584308421" name="TextBox 5035"/>
          <p:cNvSpPr/>
          <p:nvPr/>
        </p:nvSpPr>
        <p:spPr bwMode="auto">
          <a:xfrm>
            <a:off x="5088636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III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სისტემები და AI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ოპერაციული სისტემები, სირთულე, ML, ბაზები</a:t>
            </a:r>
            <a:endParaRPr/>
          </a:p>
        </p:txBody>
      </p:sp>
      <p:sp>
        <p:nvSpPr>
          <p:cNvPr id="852534951" name="Badge 5036"/>
          <p:cNvSpPr/>
          <p:nvPr/>
        </p:nvSpPr>
        <p:spPr bwMode="auto">
          <a:xfrm>
            <a:off x="7558659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IV</a:t>
            </a:r>
            <a:endParaRPr/>
          </a:p>
        </p:txBody>
      </p:sp>
      <p:sp>
        <p:nvSpPr>
          <p:cNvPr id="1127886815" name="TextBox 5037"/>
          <p:cNvSpPr/>
          <p:nvPr/>
        </p:nvSpPr>
        <p:spPr bwMode="auto">
          <a:xfrm>
            <a:off x="7024878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IV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სპეციალიზაცია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არჩევითი კურსები, DevOps და საბაკალავრო პროექტი</a:t>
            </a:r>
            <a:endParaRPr/>
          </a:p>
        </p:txBody>
      </p:sp>
      <p:sp>
        <p:nvSpPr>
          <p:cNvPr id="1598410831" name="Card 5038"/>
          <p:cNvSpPr/>
          <p:nvPr/>
        </p:nvSpPr>
        <p:spPr bwMode="auto">
          <a:xfrm>
            <a:off x="1216151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242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ECTS კრედიტი</a:t>
            </a:r>
            <a:endParaRPr/>
          </a:p>
        </p:txBody>
      </p:sp>
      <p:sp>
        <p:nvSpPr>
          <p:cNvPr id="524823760" name="Card 5039"/>
          <p:cNvSpPr/>
          <p:nvPr/>
        </p:nvSpPr>
        <p:spPr bwMode="auto">
          <a:xfrm>
            <a:off x="3828288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8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სემესტრი</a:t>
            </a:r>
            <a:endParaRPr/>
          </a:p>
        </p:txBody>
      </p:sp>
      <p:sp>
        <p:nvSpPr>
          <p:cNvPr id="1679399112" name="Card 5040"/>
          <p:cNvSpPr/>
          <p:nvPr/>
        </p:nvSpPr>
        <p:spPr bwMode="auto">
          <a:xfrm>
            <a:off x="6440424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 ECTS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≈ 25 საათი შრომა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111838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188732093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როგორ არის აწყობილი სწავლება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1669088452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926032320" name="TextBox 5041"/>
          <p:cNvSpPr/>
          <p:nvPr/>
        </p:nvSpPr>
        <p:spPr bwMode="auto">
          <a:xfrm>
            <a:off x="1216151" y="120700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საგანმანათლებლო პროგრამა</a:t>
            </a:r>
            <a:r>
              <a:rPr lang="ka-GE" sz="16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 შედგება </a:t>
            </a:r>
            <a:r>
              <a:rPr lang="ka-GE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სასწავლო კურსებისგან</a:t>
            </a:r>
            <a:r>
              <a:rPr lang="ka-GE" sz="16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1205428599" name="Card 5042"/>
          <p:cNvSpPr/>
          <p:nvPr/>
        </p:nvSpPr>
        <p:spPr bwMode="auto">
          <a:xfrm>
            <a:off x="1216151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საგანმანათლებლო პროგრამა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კურსების ერთობლიობა, რომელიც სწავლის შედეგებამდე მიგიყვანთ</a:t>
            </a:r>
            <a:endParaRPr/>
          </a:p>
        </p:txBody>
      </p:sp>
      <p:sp>
        <p:nvSpPr>
          <p:cNvPr id="1254226279" name="Arrow 5043"/>
          <p:cNvSpPr/>
          <p:nvPr/>
        </p:nvSpPr>
        <p:spPr bwMode="auto">
          <a:xfrm>
            <a:off x="3508248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4780111" name="Card 5044"/>
          <p:cNvSpPr/>
          <p:nvPr/>
        </p:nvSpPr>
        <p:spPr bwMode="auto">
          <a:xfrm>
            <a:off x="3919728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სასწავლო კურსი</a:t>
            </a: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საგანი)</a:t>
            </a: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ლექცია, სემინარი, ლაბორატორია; თითოეულს აქვს ECTS კრედიტები</a:t>
            </a:r>
            <a:endParaRPr/>
          </a:p>
        </p:txBody>
      </p:sp>
      <p:sp>
        <p:nvSpPr>
          <p:cNvPr id="1409541868" name="Arrow 5045"/>
          <p:cNvSpPr/>
          <p:nvPr/>
        </p:nvSpPr>
        <p:spPr bwMode="auto">
          <a:xfrm>
            <a:off x="6211824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289553390" name="Card 5046"/>
          <p:cNvSpPr/>
          <p:nvPr/>
        </p:nvSpPr>
        <p:spPr bwMode="auto">
          <a:xfrm>
            <a:off x="6623304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სილაბუსი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კურსის „ხელშეკრულება“: რას ისწავლით და როგორ შეგაფასებენ</a:t>
            </a:r>
            <a:endParaRPr/>
          </a:p>
        </p:txBody>
      </p:sp>
      <p:sp>
        <p:nvSpPr>
          <p:cNvPr id="1541381065" name="TextBox 5047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ყოველ კურსს თავისი სილაბუსი აქვს — მას ლექტორისგან ან სასწავლო სისტემიდან მიიღებთ.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705081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332262269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სილაბუსი: რას ვეძებთ მასში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141427854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208322633" name="TextBox 5048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სასწავლო კურსის აღწერას ჰქვია სილაბუსი. მასში მოძებნეთ:</a:t>
            </a:r>
            <a:endParaRPr/>
          </a:p>
        </p:txBody>
      </p:sp>
      <p:sp>
        <p:nvSpPr>
          <p:cNvPr id="44304242" name="Badge 5049"/>
          <p:cNvSpPr/>
          <p:nvPr/>
        </p:nvSpPr>
        <p:spPr bwMode="auto">
          <a:xfrm>
            <a:off x="1216151" y="17922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250613430" name="TextBox 5050"/>
          <p:cNvSpPr/>
          <p:nvPr/>
        </p:nvSpPr>
        <p:spPr bwMode="auto">
          <a:xfrm>
            <a:off x="1673352" y="17556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სწავლის შედეგები — რას შეძლებთ კურსის ბოლოს</a:t>
            </a:r>
            <a:endParaRPr/>
          </a:p>
        </p:txBody>
      </p:sp>
      <p:sp>
        <p:nvSpPr>
          <p:cNvPr id="1982651309" name="Badge 5051"/>
          <p:cNvSpPr/>
          <p:nvPr/>
        </p:nvSpPr>
        <p:spPr bwMode="auto">
          <a:xfrm>
            <a:off x="1216151" y="229514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672482762" name="TextBox 5052"/>
          <p:cNvSpPr/>
          <p:nvPr/>
        </p:nvSpPr>
        <p:spPr bwMode="auto">
          <a:xfrm>
            <a:off x="1673352" y="225856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წინაპირობები — რა უნდა იცოდეთ დაწყებამდე</a:t>
            </a:r>
            <a:endParaRPr/>
          </a:p>
        </p:txBody>
      </p:sp>
      <p:sp>
        <p:nvSpPr>
          <p:cNvPr id="1086286830" name="Badge 5053"/>
          <p:cNvSpPr/>
          <p:nvPr/>
        </p:nvSpPr>
        <p:spPr bwMode="auto">
          <a:xfrm>
            <a:off x="1216151" y="279806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391100860" name="TextBox 5054"/>
          <p:cNvSpPr/>
          <p:nvPr/>
        </p:nvSpPr>
        <p:spPr bwMode="auto">
          <a:xfrm>
            <a:off x="1673352" y="276148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შეფასების კომპონენტები და მათი წონა</a:t>
            </a:r>
            <a:endParaRPr/>
          </a:p>
        </p:txBody>
      </p:sp>
      <p:sp>
        <p:nvSpPr>
          <p:cNvPr id="52867974" name="Badge 5055"/>
          <p:cNvSpPr/>
          <p:nvPr/>
        </p:nvSpPr>
        <p:spPr bwMode="auto">
          <a:xfrm>
            <a:off x="1216151" y="330098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308123656" name="TextBox 5056"/>
          <p:cNvSpPr/>
          <p:nvPr/>
        </p:nvSpPr>
        <p:spPr bwMode="auto">
          <a:xfrm>
            <a:off x="1673352" y="326440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გამოცდების მინიმალური ზღვარი</a:t>
            </a:r>
            <a:endParaRPr/>
          </a:p>
        </p:txBody>
      </p:sp>
      <p:sp>
        <p:nvSpPr>
          <p:cNvPr id="1880247175" name="Badge 5057"/>
          <p:cNvSpPr/>
          <p:nvPr/>
        </p:nvSpPr>
        <p:spPr bwMode="auto">
          <a:xfrm>
            <a:off x="1216151" y="380390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699512668" name="TextBox 5058"/>
          <p:cNvSpPr/>
          <p:nvPr/>
        </p:nvSpPr>
        <p:spPr bwMode="auto">
          <a:xfrm>
            <a:off x="1673352" y="376732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დასწრების წესი</a:t>
            </a:r>
            <a:endParaRPr/>
          </a:p>
        </p:txBody>
      </p:sp>
      <p:sp>
        <p:nvSpPr>
          <p:cNvPr id="750342261" name="Badge 5059"/>
          <p:cNvSpPr/>
          <p:nvPr/>
        </p:nvSpPr>
        <p:spPr bwMode="auto">
          <a:xfrm>
            <a:off x="1216151" y="43068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39618129" name="TextBox 5060"/>
          <p:cNvSpPr/>
          <p:nvPr/>
        </p:nvSpPr>
        <p:spPr bwMode="auto">
          <a:xfrm>
            <a:off x="1673352" y="42702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ლიტერატურა და ლექტორის კონტაქტი</a:t>
            </a:r>
            <a:endParaRPr/>
          </a:p>
        </p:txBody>
      </p:sp>
      <p:sp>
        <p:nvSpPr>
          <p:cNvPr id="546863096" name="Card 5061"/>
          <p:cNvSpPr/>
          <p:nvPr/>
        </p:nvSpPr>
        <p:spPr bwMode="auto">
          <a:xfrm>
            <a:off x="6245352" y="1755648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228600" tIns="228600" rIns="228600" bIns="22860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2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რჩევა</a:t>
            </a: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სილაბუსი პირველ კვირაშივე წაიკითხეთ.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სემესტრის ბოლოს სიურპრიზები აღარ დაგხვდებათ.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52402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215972" y="285748"/>
            <a:ext cx="7668659" cy="9398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ka-GE" sz="4000" b="1">
                <a:latin typeface="BPG WEB 001 Caps"/>
                <a:cs typeface="BPG Web 002"/>
              </a:rPr>
              <a:t>კომპიუტერული მეცნიერება</a:t>
            </a:r>
            <a:endParaRPr lang="en-US" sz="4000" b="1">
              <a:latin typeface="BPG WEB 001 Caps"/>
              <a:cs typeface="BPG Web 002"/>
            </a:endParaRPr>
          </a:p>
        </p:txBody>
      </p:sp>
      <p:sp>
        <p:nvSpPr>
          <p:cNvPr id="194056589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2065835110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38507014" name="TextBox 12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47990713" name="Rectangle 2"/>
          <p:cNvSpPr/>
          <p:nvPr/>
        </p:nvSpPr>
        <p:spPr bwMode="auto">
          <a:xfrm>
            <a:off x="1274461" y="1440418"/>
            <a:ext cx="718373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a-GE" sz="3000">
                <a:latin typeface="Calibri"/>
                <a:ea typeface="Calibri"/>
                <a:cs typeface="Calibri"/>
              </a:rPr>
              <a:t>სასწავლო კურსები</a:t>
            </a:r>
            <a:r>
              <a:rPr lang="en-US" sz="3000">
                <a:latin typeface="Calibri"/>
                <a:ea typeface="Calibri"/>
                <a:cs typeface="Calibri"/>
              </a:rPr>
              <a:t> </a:t>
            </a:r>
            <a:r>
              <a:rPr lang="ka-GE" sz="3000">
                <a:latin typeface="Calibri"/>
                <a:ea typeface="Calibri"/>
                <a:cs typeface="Calibri"/>
              </a:rPr>
              <a:t>უნდა აირჩიოთ </a:t>
            </a:r>
            <a:r>
              <a:rPr lang="ka-GE" sz="3000" b="1" u="sng">
                <a:latin typeface="Calibri"/>
                <a:ea typeface="Calibri"/>
                <a:cs typeface="Calibri"/>
              </a:rPr>
              <a:t>თავად</a:t>
            </a:r>
            <a:endParaRPr lang="en-US" sz="3000" b="1" u="sng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3000" b="1" u="sng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ka-GE" sz="3000" b="1" u="sng">
                <a:latin typeface="Calibri"/>
                <a:ea typeface="Calibri"/>
                <a:cs typeface="Calibri"/>
              </a:rPr>
              <a:t>არჩევანის თავისუფლება</a:t>
            </a:r>
            <a:r>
              <a:rPr lang="ka-GE" sz="3000">
                <a:latin typeface="Calibri"/>
                <a:ea typeface="Calibri"/>
                <a:cs typeface="Calibri"/>
              </a:rPr>
              <a:t> არის დიდი ფუფუნება, რასაც </a:t>
            </a:r>
            <a:r>
              <a:rPr lang="ka-GE" sz="3000" b="1" u="sng">
                <a:latin typeface="Calibri"/>
                <a:ea typeface="Calibri"/>
                <a:cs typeface="Calibri"/>
              </a:rPr>
              <a:t>გამოწვევებიც</a:t>
            </a:r>
            <a:r>
              <a:rPr lang="ka-GE" sz="3000">
                <a:latin typeface="Calibri"/>
                <a:ea typeface="Calibri"/>
                <a:cs typeface="Calibri"/>
              </a:rPr>
              <a:t> ახლავს თან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9823213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88916552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შეფასების სისტემა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1653087614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829720756" name="TextBox 5062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100-ქულიანი სისტემა</a:t>
            </a:r>
            <a:endParaRPr/>
          </a:p>
        </p:txBody>
      </p:sp>
      <p:sp>
        <p:nvSpPr>
          <p:cNvPr id="1760910282" name="Grade 5063"/>
          <p:cNvSpPr/>
          <p:nvPr/>
        </p:nvSpPr>
        <p:spPr bwMode="auto">
          <a:xfrm>
            <a:off x="1216151" y="1664208"/>
            <a:ext cx="1050253" cy="868680"/>
          </a:xfrm>
          <a:prstGeom prst="rect">
            <a:avLst/>
          </a:prstGeom>
          <a:solidFill>
            <a:srgbClr val="C32D2E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0–40</a:t>
            </a:r>
            <a:endParaRPr/>
          </a:p>
        </p:txBody>
      </p:sp>
      <p:sp>
        <p:nvSpPr>
          <p:cNvPr id="1269163411" name="Grade 5064"/>
          <p:cNvSpPr/>
          <p:nvPr/>
        </p:nvSpPr>
        <p:spPr bwMode="auto">
          <a:xfrm>
            <a:off x="2302981" y="1664208"/>
            <a:ext cx="1050253" cy="868680"/>
          </a:xfrm>
          <a:prstGeom prst="rect">
            <a:avLst/>
          </a:prstGeom>
          <a:solidFill>
            <a:srgbClr val="E0752D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41–50</a:t>
            </a:r>
            <a:endParaRPr/>
          </a:p>
        </p:txBody>
      </p:sp>
      <p:sp>
        <p:nvSpPr>
          <p:cNvPr id="315665766" name="Grade 5065"/>
          <p:cNvSpPr/>
          <p:nvPr/>
        </p:nvSpPr>
        <p:spPr bwMode="auto">
          <a:xfrm>
            <a:off x="3389811" y="1664208"/>
            <a:ext cx="1050253" cy="868680"/>
          </a:xfrm>
          <a:prstGeom prst="rect">
            <a:avLst/>
          </a:prstGeom>
          <a:solidFill>
            <a:srgbClr val="D9A520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51–60</a:t>
            </a:r>
            <a:endParaRPr/>
          </a:p>
        </p:txBody>
      </p:sp>
      <p:sp>
        <p:nvSpPr>
          <p:cNvPr id="69404569" name="Grade 5066"/>
          <p:cNvSpPr/>
          <p:nvPr/>
        </p:nvSpPr>
        <p:spPr bwMode="auto">
          <a:xfrm>
            <a:off x="4476641" y="1664208"/>
            <a:ext cx="1050253" cy="868680"/>
          </a:xfrm>
          <a:prstGeom prst="rect">
            <a:avLst/>
          </a:prstGeom>
          <a:solidFill>
            <a:srgbClr val="B5B53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61–70</a:t>
            </a:r>
            <a:endParaRPr/>
          </a:p>
        </p:txBody>
      </p:sp>
      <p:sp>
        <p:nvSpPr>
          <p:cNvPr id="1177959954" name="Grade 5067"/>
          <p:cNvSpPr/>
          <p:nvPr/>
        </p:nvSpPr>
        <p:spPr bwMode="auto">
          <a:xfrm>
            <a:off x="5563470" y="1664208"/>
            <a:ext cx="1050253" cy="868680"/>
          </a:xfrm>
          <a:prstGeom prst="rect">
            <a:avLst/>
          </a:prstGeom>
          <a:solidFill>
            <a:srgbClr val="84AA33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71–80</a:t>
            </a:r>
            <a:endParaRPr/>
          </a:p>
        </p:txBody>
      </p:sp>
      <p:sp>
        <p:nvSpPr>
          <p:cNvPr id="416090774" name="Grade 5068"/>
          <p:cNvSpPr/>
          <p:nvPr/>
        </p:nvSpPr>
        <p:spPr bwMode="auto">
          <a:xfrm>
            <a:off x="6650300" y="1664208"/>
            <a:ext cx="1050253" cy="868680"/>
          </a:xfrm>
          <a:prstGeom prst="rect">
            <a:avLst/>
          </a:prstGeom>
          <a:solidFill>
            <a:srgbClr val="4E9A4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81–90</a:t>
            </a:r>
            <a:endParaRPr/>
          </a:p>
        </p:txBody>
      </p:sp>
      <p:sp>
        <p:nvSpPr>
          <p:cNvPr id="212040773" name="Grade 5069"/>
          <p:cNvSpPr/>
          <p:nvPr/>
        </p:nvSpPr>
        <p:spPr bwMode="auto">
          <a:xfrm>
            <a:off x="7737130" y="1664208"/>
            <a:ext cx="1050253" cy="8686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91–100</a:t>
            </a:r>
            <a:endParaRPr/>
          </a:p>
        </p:txBody>
      </p:sp>
      <p:sp>
        <p:nvSpPr>
          <p:cNvPr id="288254245" name="Card 5070"/>
          <p:cNvSpPr/>
          <p:nvPr/>
        </p:nvSpPr>
        <p:spPr bwMode="auto">
          <a:xfrm>
            <a:off x="1216151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a-GE" sz="1800" b="1" i="0">
                <a:solidFill>
                  <a:srgbClr val="84AA33"/>
                </a:solidFill>
                <a:latin typeface="Calibri"/>
                <a:ea typeface="Calibri"/>
                <a:cs typeface="Calibri"/>
              </a:rPr>
              <a:t>51+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 ჩათვლილია</a:t>
            </a:r>
            <a:endParaRPr/>
          </a:p>
        </p:txBody>
      </p:sp>
      <p:sp>
        <p:nvSpPr>
          <p:cNvPr id="1322071783" name="Card 5071"/>
          <p:cNvSpPr/>
          <p:nvPr/>
        </p:nvSpPr>
        <p:spPr bwMode="auto">
          <a:xfrm>
            <a:off x="3828288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a-GE" sz="1800" b="1" i="0">
                <a:solidFill>
                  <a:srgbClr val="E0752D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დამატებით გამოცდაზე გასვლის უფლება</a:t>
            </a:r>
            <a:endParaRPr/>
          </a:p>
        </p:txBody>
      </p:sp>
      <p:sp>
        <p:nvSpPr>
          <p:cNvPr id="2018523887" name="Card 5072"/>
          <p:cNvSpPr/>
          <p:nvPr/>
        </p:nvSpPr>
        <p:spPr bwMode="auto">
          <a:xfrm>
            <a:off x="6440424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a-GE" sz="18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 ხელახლა უნდა გაიაროთ</a:t>
            </a:r>
            <a:endParaRPr/>
          </a:p>
        </p:txBody>
      </p:sp>
      <p:sp>
        <p:nvSpPr>
          <p:cNvPr id="154672431" name="TextBox 5073"/>
          <p:cNvSpPr/>
          <p:nvPr/>
        </p:nvSpPr>
        <p:spPr bwMode="auto">
          <a:xfrm>
            <a:off x="1216151" y="3950208"/>
            <a:ext cx="76078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საბოლოო ქულა = მიმდინარე აქტივობები + შუალედური + დასკვნითი გამოცდა. თითოეულის წონა და მინიმალური ზღვარი სილაბუსშია — ზღვარს ვერ გადალახავთ, ჯამი არ გიშველით.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360038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577494657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პირველი სემესტრის კურსები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1246871322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011688283" name="TextBox 5074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სად მიგიყვანთ ეს ორი კურსი:</a:t>
            </a:r>
            <a:endParaRPr/>
          </a:p>
        </p:txBody>
      </p:sp>
      <p:sp>
        <p:nvSpPr>
          <p:cNvPr id="1737363369" name="Card 5075"/>
          <p:cNvSpPr/>
          <p:nvPr/>
        </p:nvSpPr>
        <p:spPr bwMode="auto">
          <a:xfrm>
            <a:off x="1216151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კალკულუსი I</a:t>
            </a:r>
            <a:endParaRPr/>
          </a:p>
        </p:txBody>
      </p:sp>
      <p:sp>
        <p:nvSpPr>
          <p:cNvPr id="2002476235" name="Arrow 5076"/>
          <p:cNvSpPr/>
          <p:nvPr/>
        </p:nvSpPr>
        <p:spPr bwMode="auto">
          <a:xfrm>
            <a:off x="3538728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227019567" name="Card 5077"/>
          <p:cNvSpPr/>
          <p:nvPr/>
        </p:nvSpPr>
        <p:spPr bwMode="auto">
          <a:xfrm>
            <a:off x="3904487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კალკულუსი II</a:t>
            </a:r>
            <a:endParaRPr/>
          </a:p>
        </p:txBody>
      </p:sp>
      <p:sp>
        <p:nvSpPr>
          <p:cNvPr id="1780512944" name="Arrow 5078"/>
          <p:cNvSpPr/>
          <p:nvPr/>
        </p:nvSpPr>
        <p:spPr bwMode="auto">
          <a:xfrm>
            <a:off x="6227063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006994348" name="Card 5079"/>
          <p:cNvSpPr/>
          <p:nvPr/>
        </p:nvSpPr>
        <p:spPr bwMode="auto">
          <a:xfrm>
            <a:off x="6592823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წრფივი ალგებრა</a:t>
            </a:r>
            <a:endParaRPr/>
          </a:p>
        </p:txBody>
      </p:sp>
      <p:sp>
        <p:nvSpPr>
          <p:cNvPr id="369720693" name="Card 5080"/>
          <p:cNvSpPr/>
          <p:nvPr/>
        </p:nvSpPr>
        <p:spPr bwMode="auto">
          <a:xfrm>
            <a:off x="1216151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შესავალი დაპროგრამებაში</a:t>
            </a:r>
            <a:endParaRPr/>
          </a:p>
        </p:txBody>
      </p:sp>
      <p:sp>
        <p:nvSpPr>
          <p:cNvPr id="1635928399" name="Arrow 5081"/>
          <p:cNvSpPr/>
          <p:nvPr/>
        </p:nvSpPr>
        <p:spPr bwMode="auto">
          <a:xfrm>
            <a:off x="3538728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899059548" name="Card 5082"/>
          <p:cNvSpPr/>
          <p:nvPr/>
        </p:nvSpPr>
        <p:spPr bwMode="auto">
          <a:xfrm>
            <a:off x="3904487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ობიექტზე ორიენტირებული დაპროგრამება</a:t>
            </a:r>
            <a:endParaRPr/>
          </a:p>
        </p:txBody>
      </p:sp>
      <p:sp>
        <p:nvSpPr>
          <p:cNvPr id="57092594" name="Arrow 5083"/>
          <p:cNvSpPr/>
          <p:nvPr/>
        </p:nvSpPr>
        <p:spPr bwMode="auto">
          <a:xfrm>
            <a:off x="6227063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75139002" name="Card 5084"/>
          <p:cNvSpPr/>
          <p:nvPr/>
        </p:nvSpPr>
        <p:spPr bwMode="auto">
          <a:xfrm>
            <a:off x="6592823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დაპროგრამების ენები</a:t>
            </a:r>
            <a:endParaRPr/>
          </a:p>
        </p:txBody>
      </p:sp>
      <p:sp>
        <p:nvSpPr>
          <p:cNvPr id="2110130802" name="Card 5085"/>
          <p:cNvSpPr/>
          <p:nvPr/>
        </p:nvSpPr>
        <p:spPr bwMode="auto">
          <a:xfrm>
            <a:off x="1216151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კალკულუსი I + დაპროგრამება</a:t>
            </a:r>
            <a:endParaRPr/>
          </a:p>
        </p:txBody>
      </p:sp>
      <p:sp>
        <p:nvSpPr>
          <p:cNvPr id="618721729" name="Arrow 5086"/>
          <p:cNvSpPr/>
          <p:nvPr/>
        </p:nvSpPr>
        <p:spPr bwMode="auto">
          <a:xfrm>
            <a:off x="3538728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915088418" name="Card 5087"/>
          <p:cNvSpPr/>
          <p:nvPr/>
        </p:nvSpPr>
        <p:spPr bwMode="auto">
          <a:xfrm>
            <a:off x="3904487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გამოთვლების მათემატიკური საფუძვლები</a:t>
            </a:r>
            <a:endParaRPr/>
          </a:p>
        </p:txBody>
      </p:sp>
      <p:sp>
        <p:nvSpPr>
          <p:cNvPr id="2079098353" name="Arrow 5088"/>
          <p:cNvSpPr/>
          <p:nvPr/>
        </p:nvSpPr>
        <p:spPr bwMode="auto">
          <a:xfrm>
            <a:off x="6227063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680293724" name="Card 5089"/>
          <p:cNvSpPr/>
          <p:nvPr/>
        </p:nvSpPr>
        <p:spPr bwMode="auto">
          <a:xfrm>
            <a:off x="6592823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გამოთვლითი სირთულე</a:t>
            </a:r>
            <a:endParaRPr/>
          </a:p>
        </p:txBody>
      </p:sp>
      <p:sp>
        <p:nvSpPr>
          <p:cNvPr id="886028863" name="TextBox 5090"/>
          <p:cNvSpPr/>
          <p:nvPr/>
        </p:nvSpPr>
        <p:spPr bwMode="auto">
          <a:xfrm>
            <a:off x="1216151" y="436168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ეს კურსები წინაპირობებია: ჩავარდნა მთელ ჯაჭვს ერთი სემესტრით აყოვნებს.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2129958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42542466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ამ კვირის 5 ნაბიჯი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1091454467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847064791" name="Badge 5091"/>
          <p:cNvSpPr/>
          <p:nvPr/>
        </p:nvSpPr>
        <p:spPr bwMode="auto">
          <a:xfrm>
            <a:off x="1216151" y="1252728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733403514" name="TextBox 5092"/>
          <p:cNvSpPr/>
          <p:nvPr/>
        </p:nvSpPr>
        <p:spPr bwMode="auto">
          <a:xfrm>
            <a:off x="1856232" y="1207008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გაააქტიურეთ უნივერსიტეტის ელფოსტა და სასწავლო სისტემის ანგარიში</a:t>
            </a:r>
            <a:endParaRPr/>
          </a:p>
        </p:txBody>
      </p:sp>
      <p:sp>
        <p:nvSpPr>
          <p:cNvPr id="667763110" name="Badge 5093"/>
          <p:cNvSpPr/>
          <p:nvPr/>
        </p:nvSpPr>
        <p:spPr bwMode="auto">
          <a:xfrm>
            <a:off x="1216151" y="1947671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1130859149" name="TextBox 5094"/>
          <p:cNvSpPr/>
          <p:nvPr/>
        </p:nvSpPr>
        <p:spPr bwMode="auto">
          <a:xfrm>
            <a:off x="1856232" y="1901952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დარეგისტრირდით პირველი სემესტრის კურსებზე — ვადებს მიჰყევით</a:t>
            </a:r>
            <a:endParaRPr/>
          </a:p>
        </p:txBody>
      </p:sp>
      <p:sp>
        <p:nvSpPr>
          <p:cNvPr id="1028517506" name="Badge 5095"/>
          <p:cNvSpPr/>
          <p:nvPr/>
        </p:nvSpPr>
        <p:spPr bwMode="auto">
          <a:xfrm>
            <a:off x="1216151" y="2642615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724597862" name="TextBox 5096"/>
          <p:cNvSpPr/>
          <p:nvPr/>
        </p:nvSpPr>
        <p:spPr bwMode="auto">
          <a:xfrm>
            <a:off x="1856232" y="2596896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წაიკითხეთ თითოეული კურსის სილაბუსი</a:t>
            </a:r>
            <a:endParaRPr/>
          </a:p>
        </p:txBody>
      </p:sp>
      <p:sp>
        <p:nvSpPr>
          <p:cNvPr id="759982196" name="Badge 5097"/>
          <p:cNvSpPr/>
          <p:nvPr/>
        </p:nvSpPr>
        <p:spPr bwMode="auto">
          <a:xfrm>
            <a:off x="1216151" y="3337560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728120824" name="TextBox 5098"/>
          <p:cNvSpPr/>
          <p:nvPr/>
        </p:nvSpPr>
        <p:spPr bwMode="auto">
          <a:xfrm>
            <a:off x="1856232" y="32918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შეადგინეთ კვირის განრიგი: ლექციები + დამოუკიდებელი მუშაობა</a:t>
            </a:r>
            <a:endParaRPr/>
          </a:p>
        </p:txBody>
      </p:sp>
      <p:sp>
        <p:nvSpPr>
          <p:cNvPr id="1596491375" name="Badge 5099"/>
          <p:cNvSpPr/>
          <p:nvPr/>
        </p:nvSpPr>
        <p:spPr bwMode="auto">
          <a:xfrm>
            <a:off x="1216151" y="4032504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1421025608" name="TextBox 5100"/>
          <p:cNvSpPr/>
          <p:nvPr/>
        </p:nvSpPr>
        <p:spPr bwMode="auto">
          <a:xfrm>
            <a:off x="1856232" y="3986784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გაიცანით თქვენი კოორდინატორი — ოთახი 207</a:t>
            </a:r>
            <a:endParaRPr/>
          </a:p>
        </p:txBody>
      </p:sp>
      <p:sp>
        <p:nvSpPr>
          <p:cNvPr id="461718201" name="Card 5101"/>
          <p:cNvSpPr/>
          <p:nvPr/>
        </p:nvSpPr>
        <p:spPr bwMode="auto">
          <a:xfrm>
            <a:off x="6382512" y="1207008"/>
            <a:ext cx="2441448" cy="342900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3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≈ 40 სთ</a:t>
            </a:r>
            <a:endParaRPr/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კვირაში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30 ECTS სემესტრში ≈ 750 საათი შრომა. სწავლა სრული განაკვეთის სამუშაოა.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1036457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9082066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600" b="1">
                <a:latin typeface="BPG WEB 001 Caps"/>
                <a:cs typeface="BPG Web 002"/>
              </a:rPr>
              <a:t>AI და აკადემიური კეთილსინდისიერება</a:t>
            </a:r>
            <a:endParaRPr lang="en-US" sz="2600" b="1">
              <a:latin typeface="BPG WEB 001 Caps"/>
              <a:cs typeface="BPG Web 002"/>
            </a:endParaRPr>
          </a:p>
        </p:txBody>
      </p:sp>
      <p:sp>
        <p:nvSpPr>
          <p:cNvPr id="1013123477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286713258" name="Card 5102"/>
          <p:cNvSpPr/>
          <p:nvPr/>
        </p:nvSpPr>
        <p:spPr bwMode="auto">
          <a:xfrm>
            <a:off x="1216151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EEF3E3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ka-GE" sz="1500" b="1" i="0">
                <a:solidFill>
                  <a:srgbClr val="2E7D4F"/>
                </a:solidFill>
                <a:latin typeface="Calibri"/>
                <a:ea typeface="Calibri"/>
                <a:cs typeface="Calibri"/>
              </a:rPr>
              <a:t>✓  შეიძლება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ახსნა სთხოვოთ, როცა თემა ვერ გაიგეთ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საკუთარ კოდში შეცდომა მოძებნოთ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სავარჯიშოდ დამატებითი ამოცანები მიიღოთ</a:t>
            </a:r>
            <a:endParaRPr/>
          </a:p>
        </p:txBody>
      </p:sp>
      <p:sp>
        <p:nvSpPr>
          <p:cNvPr id="418409264" name="Card 5103"/>
          <p:cNvSpPr/>
          <p:nvPr/>
        </p:nvSpPr>
        <p:spPr bwMode="auto">
          <a:xfrm>
            <a:off x="5157216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F8E6E2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ka-GE" sz="15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✗  არ შეიძლება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ჩააბაროთ დავალება, რომელიც AI-მ დაწერა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გამოიყენოთ კოდი, რომელიც არ გესმით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სხვისი ნაშრომი საკუთარად წარადგინოთ</a:t>
            </a:r>
            <a:endParaRPr/>
          </a:p>
        </p:txBody>
      </p:sp>
      <p:sp>
        <p:nvSpPr>
          <p:cNvPr id="189891289" name="Card 5104"/>
          <p:cNvSpPr/>
          <p:nvPr/>
        </p:nvSpPr>
        <p:spPr bwMode="auto">
          <a:xfrm>
            <a:off x="1216151" y="3813048"/>
            <a:ext cx="7607808" cy="82296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მარტივი წესი: </a:t>
            </a:r>
            <a:r>
              <a:rPr lang="ka-GE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თუ ვერ ახსნი, შენი არ არის.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კონკრეტული წესები თითოეული კურსის სილაბუსშია.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84803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8472495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რას გთავაზობთ პროგრამა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575816778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813330314" name="Card 5105"/>
          <p:cNvSpPr/>
          <p:nvPr/>
        </p:nvSpPr>
        <p:spPr bwMode="auto">
          <a:xfrm>
            <a:off x="1216151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611023335" name="Badge 5106"/>
          <p:cNvSpPr/>
          <p:nvPr/>
        </p:nvSpPr>
        <p:spPr bwMode="auto">
          <a:xfrm>
            <a:off x="1380744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310744579" name="TextBox 5107"/>
          <p:cNvSpPr/>
          <p:nvPr/>
        </p:nvSpPr>
        <p:spPr bwMode="auto">
          <a:xfrm>
            <a:off x="1380744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გამოთვლითი ცენტრი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ლაბორატორიები და აღჭურვილობა პრაქტიკული მუშაობისთვის</a:t>
            </a:r>
            <a:endParaRPr/>
          </a:p>
        </p:txBody>
      </p:sp>
      <p:sp>
        <p:nvSpPr>
          <p:cNvPr id="608208068" name="Card 5108"/>
          <p:cNvSpPr/>
          <p:nvPr/>
        </p:nvSpPr>
        <p:spPr bwMode="auto">
          <a:xfrm>
            <a:off x="3828288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358421376" name="Badge 5109"/>
          <p:cNvSpPr/>
          <p:nvPr/>
        </p:nvSpPr>
        <p:spPr bwMode="auto">
          <a:xfrm>
            <a:off x="3992880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952197783" name="TextBox 5110"/>
          <p:cNvSpPr/>
          <p:nvPr/>
        </p:nvSpPr>
        <p:spPr bwMode="auto">
          <a:xfrm>
            <a:off x="3992880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ABET სტანდარტი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პროგრამა ემზადება საერთაშორისო ABET CAC აკრედიტაციისთვის</a:t>
            </a:r>
            <a:endParaRPr/>
          </a:p>
        </p:txBody>
      </p:sp>
      <p:sp>
        <p:nvSpPr>
          <p:cNvPr id="596304438" name="Card 5111"/>
          <p:cNvSpPr/>
          <p:nvPr/>
        </p:nvSpPr>
        <p:spPr bwMode="auto">
          <a:xfrm>
            <a:off x="6440424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398423542" name="Badge 5112"/>
          <p:cNvSpPr/>
          <p:nvPr/>
        </p:nvSpPr>
        <p:spPr bwMode="auto">
          <a:xfrm>
            <a:off x="6605016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666117050" name="TextBox 5113"/>
          <p:cNvSpPr/>
          <p:nvPr/>
        </p:nvSpPr>
        <p:spPr bwMode="auto">
          <a:xfrm>
            <a:off x="6605016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Erasmus+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სემესტრი პარტნიორ ევროპულ უნივერსიტეტში</a:t>
            </a:r>
            <a:endParaRPr/>
          </a:p>
        </p:txBody>
      </p:sp>
      <p:sp>
        <p:nvSpPr>
          <p:cNvPr id="1767309546" name="Card 5114"/>
          <p:cNvSpPr/>
          <p:nvPr/>
        </p:nvSpPr>
        <p:spPr bwMode="auto">
          <a:xfrm>
            <a:off x="1216151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2056784038" name="Badge 5115"/>
          <p:cNvSpPr/>
          <p:nvPr/>
        </p:nvSpPr>
        <p:spPr bwMode="auto">
          <a:xfrm>
            <a:off x="1380744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77594092" name="TextBox 5116"/>
          <p:cNvSpPr/>
          <p:nvPr/>
        </p:nvSpPr>
        <p:spPr bwMode="auto">
          <a:xfrm>
            <a:off x="1380744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სტაჟირება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პრაქტიკა კომპანიებში უფროს კურსებზე</a:t>
            </a:r>
            <a:endParaRPr/>
          </a:p>
        </p:txBody>
      </p:sp>
      <p:sp>
        <p:nvSpPr>
          <p:cNvPr id="2024997619" name="Card 5117"/>
          <p:cNvSpPr/>
          <p:nvPr/>
        </p:nvSpPr>
        <p:spPr bwMode="auto">
          <a:xfrm>
            <a:off x="3828288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423366549" name="Badge 5118"/>
          <p:cNvSpPr/>
          <p:nvPr/>
        </p:nvSpPr>
        <p:spPr bwMode="auto">
          <a:xfrm>
            <a:off x="3992880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267857451" name="TextBox 5119"/>
          <p:cNvSpPr/>
          <p:nvPr/>
        </p:nvSpPr>
        <p:spPr bwMode="auto">
          <a:xfrm>
            <a:off x="3992880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კლუბები და ოლიმპიადები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პროგრამირების შეჯიბრები, ჰაკათონები, პროექტები</a:t>
            </a:r>
            <a:endParaRPr/>
          </a:p>
        </p:txBody>
      </p:sp>
      <p:sp>
        <p:nvSpPr>
          <p:cNvPr id="1635323560" name="Card 5120"/>
          <p:cNvSpPr/>
          <p:nvPr/>
        </p:nvSpPr>
        <p:spPr bwMode="auto">
          <a:xfrm>
            <a:off x="6440424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185342814" name="Badge 5121"/>
          <p:cNvSpPr/>
          <p:nvPr/>
        </p:nvSpPr>
        <p:spPr bwMode="auto">
          <a:xfrm>
            <a:off x="6605016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6</a:t>
            </a:r>
            <a:endParaRPr/>
          </a:p>
        </p:txBody>
      </p:sp>
      <p:sp>
        <p:nvSpPr>
          <p:cNvPr id="660922886" name="TextBox 5122"/>
          <p:cNvSpPr/>
          <p:nvPr/>
        </p:nvSpPr>
        <p:spPr bwMode="auto">
          <a:xfrm>
            <a:off x="6605016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კვლევა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ჩაერთეთ ლექტორების კვლევით პროექტებში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2266767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62897371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ვის მივმართოთ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813731185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899249587" name="TextBox 5123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შეკითხვები დაუსვით — ამისთვის ვართ აქ.</a:t>
            </a:r>
            <a:endParaRPr/>
          </a:p>
        </p:txBody>
      </p:sp>
      <p:sp>
        <p:nvSpPr>
          <p:cNvPr id="335079793" name="Card 5124"/>
          <p:cNvSpPr/>
          <p:nvPr/>
        </p:nvSpPr>
        <p:spPr bwMode="auto">
          <a:xfrm>
            <a:off x="1216151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1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პროგრამის კოორდინატორი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ანა ჭრელაშვილი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ოთახი 207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რეგისტრაცია, კურსების არჩევა, ადმინისტრაციული საკითხები</a:t>
            </a:r>
            <a:endParaRPr/>
          </a:p>
        </p:txBody>
      </p:sp>
      <p:sp>
        <p:nvSpPr>
          <p:cNvPr id="1759195856" name="Card 5125"/>
          <p:cNvSpPr/>
          <p:nvPr/>
        </p:nvSpPr>
        <p:spPr bwMode="auto">
          <a:xfrm>
            <a:off x="3828288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1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პროგრამის ხელმძღვანელი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ერეკლე მაღრაძე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ტექნოლოგიების სკოლა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აკადემიური მიმართულება, სპეციალიზაცია, კარიერა</a:t>
            </a:r>
            <a:endParaRPr/>
          </a:p>
        </p:txBody>
      </p:sp>
      <p:sp>
        <p:nvSpPr>
          <p:cNvPr id="51354794" name="Card 5126"/>
          <p:cNvSpPr/>
          <p:nvPr/>
        </p:nvSpPr>
        <p:spPr bwMode="auto">
          <a:xfrm>
            <a:off x="6440424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1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ლექტორები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საკონსულტაციო საათები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იხ. სილაბუსში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კურსის შინაარსი, დავალებები, შეფასება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88980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35546309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800" b="1">
                <a:latin typeface="BPG WEB 001 Caps"/>
                <a:cs typeface="BPG Web 002"/>
              </a:rPr>
              <a:t>5 რჩევა პირველი სემესტრისთვის</a:t>
            </a:r>
            <a:endParaRPr lang="en-US" sz="2800" b="1">
              <a:latin typeface="BPG WEB 001 Caps"/>
              <a:cs typeface="BPG Web 002"/>
            </a:endParaRPr>
          </a:p>
        </p:txBody>
      </p:sp>
      <p:sp>
        <p:nvSpPr>
          <p:cNvPr id="840945230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98932493" name="Card 5127"/>
          <p:cNvSpPr/>
          <p:nvPr/>
        </p:nvSpPr>
        <p:spPr bwMode="auto">
          <a:xfrm>
            <a:off x="1216151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დაესწარით ყველა ლექციას პირველი კვირიდან</a:t>
            </a:r>
            <a:endParaRPr/>
          </a:p>
        </p:txBody>
      </p:sp>
      <p:sp>
        <p:nvSpPr>
          <p:cNvPr id="888370326" name="Card 5128"/>
          <p:cNvSpPr/>
          <p:nvPr/>
        </p:nvSpPr>
        <p:spPr bwMode="auto">
          <a:xfrm>
            <a:off x="2765145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დავალებას ბოლო ღამისთვის ნუ გადადებთ</a:t>
            </a:r>
            <a:endParaRPr/>
          </a:p>
        </p:txBody>
      </p:sp>
      <p:sp>
        <p:nvSpPr>
          <p:cNvPr id="1529240851" name="Card 5129"/>
          <p:cNvSpPr/>
          <p:nvPr/>
        </p:nvSpPr>
        <p:spPr bwMode="auto">
          <a:xfrm>
            <a:off x="4314139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იკითხეთ — სულელური შეკითხვა არ არსებობს</a:t>
            </a:r>
            <a:endParaRPr/>
          </a:p>
        </p:txBody>
      </p:sp>
      <p:sp>
        <p:nvSpPr>
          <p:cNvPr id="2027395654" name="Card 5130"/>
          <p:cNvSpPr/>
          <p:nvPr/>
        </p:nvSpPr>
        <p:spPr bwMode="auto">
          <a:xfrm>
            <a:off x="5863132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იპოვეთ სასწავლო ჯგუფი</a:t>
            </a:r>
            <a:endParaRPr/>
          </a:p>
        </p:txBody>
      </p:sp>
      <p:sp>
        <p:nvSpPr>
          <p:cNvPr id="1425505068" name="Card 5131"/>
          <p:cNvSpPr/>
          <p:nvPr/>
        </p:nvSpPr>
        <p:spPr bwMode="auto">
          <a:xfrm>
            <a:off x="7412126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წერეთ კოდი ყოველდღე, თუნდაც ცოტა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98313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4000" b="1">
                <a:latin typeface="BPG WEB 001 Caps"/>
                <a:cs typeface="BPG Web 002"/>
              </a:rPr>
              <a:t>საუკეთესო რჩევა</a:t>
            </a:r>
            <a:endParaRPr lang="en-US" sz="4000" b="1">
              <a:latin typeface="BPG WEB 001 Caps"/>
              <a:cs typeface="BPG Web 002"/>
            </a:endParaRPr>
          </a:p>
        </p:txBody>
      </p:sp>
      <p:sp>
        <p:nvSpPr>
          <p:cNvPr id="2096597623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4266216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37885844" name="TextBox 2"/>
          <p:cNvSpPr txBox="1"/>
          <p:nvPr/>
        </p:nvSpPr>
        <p:spPr bwMode="auto">
          <a:xfrm>
            <a:off x="1250428" y="2543456"/>
            <a:ext cx="708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4000"/>
              <a:t>არასდროს შეწყვიტო სწავლა!</a:t>
            </a:r>
            <a:endParaRPr lang="en-US" sz="4000"/>
          </a:p>
        </p:txBody>
      </p:sp>
      <p:sp>
        <p:nvSpPr>
          <p:cNvPr id="718976208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Solstice">
      <a:fillStyleLst>
        <a:solidFill>
          <a:schemeClr val="phClr"/>
        </a:solidFill>
        <a:gradFill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/>
        </a:gradFill>
        <a:gradFill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algn="tl" flip="xy" sx="90000" sy="90000" tx="0" ty="0"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ხელოვნური ინტელექტი</dc:title>
  <dc:creator>amigo</dc:creator>
  <cp:lastModifiedBy/>
  <cp:revision>737</cp:revision>
  <dcterms:created xsi:type="dcterms:W3CDTF">2016-09-13T18:38:05Z</dcterms:created>
  <dcterms:modified xsi:type="dcterms:W3CDTF">2026-09-24T07:23:02Z</dcterms:modified>
</cp:coreProperties>
</file>