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37" d="100"/>
          <a:sy n="137" d="100"/>
        </p:scale>
        <p:origin x="786" y="102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20917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242953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8F575FF-52D4-4730-8717-35E97D7F905E}" type="datetimeFigureOut">
              <a:rPr lang="en-US"/>
              <a:t>9/23/2025</a:t>
            </a:fld>
            <a:endParaRPr lang="en-US"/>
          </a:p>
        </p:txBody>
      </p:sp>
      <p:sp>
        <p:nvSpPr>
          <p:cNvPr id="109406912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0823261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298126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821008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F6F37C4-3687-400D-BA5B-00C7165BEF3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366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923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5876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C32DDE-2193-BC7C-FA35-9E44373E50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9CA8A3-9448-FF19-3A3C-F14AA051BB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16C0B5-0693-E23F-F0B1-7441662BAF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A0DC0D-9C32-FEFE-0E63-35B98189A4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0DCA3-6034-8D28-5882-5F142B2450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401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5378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7237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63FEF7-5026-C824-54A6-9ED5AEFA17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666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4014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779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E3ADF-77D0-D5D6-51F9-AE124DCF03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745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2393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6970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C07ECF-D3F5-8764-9694-C9AFEF2EB4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8EC36C-8677-F262-FB1D-5D52CFCB60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929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0981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224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748442-A899-1B5C-1F78-C46911243A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A932F3-048C-4C57-7249-B9669409CF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99E885-158C-0672-6997-695768884C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96839E-5F0B-487C-6589-2C98F5615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363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8476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182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698B67-1094-93A9-7B85-8DCB71C9B1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AFBFD8-D99A-AFC9-5F80-D054EB6482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712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4741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306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43DBBD-1B7B-598A-77F0-903C055FEA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92464" name="Title 13"/>
          <p:cNvSpPr>
            <a:spLocks noGrp="1"/>
          </p:cNvSpPr>
          <p:nvPr>
            <p:ph type="ctrTitle"/>
          </p:nvPr>
        </p:nvSpPr>
        <p:spPr bwMode="auto"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20749949" name="Subtitle 21"/>
          <p:cNvSpPr>
            <a:spLocks noGrp="1"/>
          </p:cNvSpPr>
          <p:nvPr>
            <p:ph type="subTitle" idx="1"/>
          </p:nvPr>
        </p:nvSpPr>
        <p:spPr bwMode="auto"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31903996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928219521" name="Footer Placeholder 1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352548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594281578" name="Oval 7"/>
          <p:cNvSpPr/>
          <p:nvPr/>
        </p:nvSpPr>
        <p:spPr bwMode="auto">
          <a:xfrm>
            <a:off x="921433" y="1060352"/>
            <a:ext cx="210312" cy="157734"/>
          </a:xfrm>
          <a:prstGeom prst="ellipse">
            <a:avLst/>
          </a:prstGeom>
          <a:gradFill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/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53698599" name="Oval 8"/>
          <p:cNvSpPr/>
          <p:nvPr/>
        </p:nvSpPr>
        <p:spPr bwMode="auto"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6833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974050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19609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8082599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0298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19895" name="Rectangle 6"/>
          <p:cNvSpPr/>
          <p:nvPr/>
        </p:nvSpPr>
        <p:spPr bwMode="auto"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5865868" name="Title 1"/>
          <p:cNvSpPr>
            <a:spLocks noGrp="1"/>
          </p:cNvSpPr>
          <p:nvPr>
            <p:ph type="title"/>
          </p:nvPr>
        </p:nvSpPr>
        <p:spPr bwMode="auto"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797346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55857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20839250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93763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965055467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77375799" name="Oval 7"/>
          <p:cNvSpPr/>
          <p:nvPr/>
        </p:nvSpPr>
        <p:spPr bwMode="auto">
          <a:xfrm>
            <a:off x="2172321" y="2110992"/>
            <a:ext cx="210312" cy="157734"/>
          </a:xfrm>
          <a:prstGeom prst="ellipse">
            <a:avLst/>
          </a:prstGeom>
          <a:gradFill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/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61152464" name="Oval 8"/>
          <p:cNvSpPr/>
          <p:nvPr/>
        </p:nvSpPr>
        <p:spPr bwMode="auto"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956496" name="Title 1"/>
          <p:cNvSpPr>
            <a:spLocks noGrp="1"/>
          </p:cNvSpPr>
          <p:nvPr>
            <p:ph type="title"/>
          </p:nvPr>
        </p:nvSpPr>
        <p:spPr bwMode="auto">
          <a:xfrm>
            <a:off x="1435608" y="205740"/>
            <a:ext cx="7498080" cy="85725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365428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96694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35658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584541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24039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526182" name="Title 1"/>
          <p:cNvSpPr>
            <a:spLocks noGrp="1"/>
          </p:cNvSpPr>
          <p:nvPr>
            <p:ph type="title"/>
          </p:nvPr>
        </p:nvSpPr>
        <p:spPr bwMode="auto"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094031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6209"/>
            <a:ext cx="4023360" cy="480060"/>
          </a:xfrm>
          <a:prstGeom prst="rect">
            <a:avLst/>
          </a:prstGeo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9776588" name="Text Placeholder 3"/>
          <p:cNvSpPr>
            <a:spLocks noGrp="1"/>
          </p:cNvSpPr>
          <p:nvPr>
            <p:ph type="body" sz="half" idx="3"/>
          </p:nvPr>
        </p:nvSpPr>
        <p:spPr bwMode="auto">
          <a:xfrm>
            <a:off x="4663440" y="246209"/>
            <a:ext cx="4023360" cy="480060"/>
          </a:xfrm>
          <a:prstGeom prst="rect">
            <a:avLst/>
          </a:prstGeo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10286430" name="Content Placeholder 4"/>
          <p:cNvSpPr>
            <a:spLocks noGrp="1"/>
          </p:cNvSpPr>
          <p:nvPr>
            <p:ph sz="quarter" idx="2"/>
          </p:nvPr>
        </p:nvSpPr>
        <p:spPr bwMode="auto">
          <a:xfrm>
            <a:off x="457200" y="727002"/>
            <a:ext cx="4023360" cy="3086100"/>
          </a:xfrm>
          <a:prstGeom prst="rect">
            <a:avLst/>
          </a:prstGeo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437651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63440" y="727002"/>
            <a:ext cx="4023360" cy="3086100"/>
          </a:xfrm>
          <a:prstGeom prst="rect">
            <a:avLst/>
          </a:prstGeo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7960873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68935716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443147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561827" name="Title 1"/>
          <p:cNvSpPr>
            <a:spLocks noGrp="1"/>
          </p:cNvSpPr>
          <p:nvPr>
            <p:ph type="title"/>
          </p:nvPr>
        </p:nvSpPr>
        <p:spPr bwMode="auto">
          <a:xfrm>
            <a:off x="1435608" y="205740"/>
            <a:ext cx="7498080" cy="857250"/>
          </a:xfrm>
        </p:spPr>
        <p:txBody>
          <a:bodyPr anchor="ctr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637965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51229850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536784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340724" name="Rectangle 4"/>
          <p:cNvSpPr/>
          <p:nvPr/>
        </p:nvSpPr>
        <p:spPr bwMode="auto"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7188610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86934138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289793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323989373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974635" name="Title 1"/>
          <p:cNvSpPr>
            <a:spLocks noGrp="1"/>
          </p:cNvSpPr>
          <p:nvPr>
            <p:ph type="title"/>
          </p:nvPr>
        </p:nvSpPr>
        <p:spPr bwMode="auto">
          <a:xfrm>
            <a:off x="457200" y="162583"/>
            <a:ext cx="3810000" cy="871538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47903185" name="Text Placeholder 2"/>
          <p:cNvSpPr>
            <a:spLocks noGrp="1"/>
          </p:cNvSpPr>
          <p:nvPr>
            <p:ph type="body" idx="2"/>
          </p:nvPr>
        </p:nvSpPr>
        <p:spPr bwMode="auto"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1998527" name="Content Placeholder 3"/>
          <p:cNvSpPr>
            <a:spLocks noGrp="1"/>
          </p:cNvSpPr>
          <p:nvPr>
            <p:ph sz="half" idx="1"/>
          </p:nvPr>
        </p:nvSpPr>
        <p:spPr bwMode="auto">
          <a:xfrm>
            <a:off x="457200" y="1600201"/>
            <a:ext cx="8153399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69067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43505257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76769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956455" name="Title 1"/>
          <p:cNvSpPr>
            <a:spLocks noGrp="1"/>
          </p:cNvSpPr>
          <p:nvPr>
            <p:ph type="title"/>
          </p:nvPr>
        </p:nvSpPr>
        <p:spPr bwMode="auto"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421151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8842745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7326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459903670" name="Rectangle 7"/>
          <p:cNvSpPr/>
          <p:nvPr/>
        </p:nvSpPr>
        <p:spPr bwMode="auto"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</p:spPr>
        <p:txBody>
          <a:bodyPr lIns="91440" tIns="274320" rtlCol="0" anchor="t">
            <a:normAutofit/>
          </a:bodyPr>
          <a:lstStyle/>
          <a:p>
            <a:pPr marL="0" indent="-283464" algn="l" rtl="0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570530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747826984" name="Flowchart: Process 8"/>
          <p:cNvSpPr/>
          <p:nvPr/>
        </p:nvSpPr>
        <p:spPr bwMode="auto"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25652343" name="Flowchart: Process 9"/>
          <p:cNvSpPr/>
          <p:nvPr/>
        </p:nvSpPr>
        <p:spPr bwMode="auto">
          <a:xfrm rot="2103353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105703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5493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5555763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60053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5799339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55385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9873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858000" y="205980"/>
            <a:ext cx="1828800" cy="4388644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3595124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143000" y="205980"/>
            <a:ext cx="55626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55416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5413571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16357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156969" name="Pie 6"/>
          <p:cNvSpPr/>
          <p:nvPr/>
        </p:nvSpPr>
        <p:spPr bwMode="auto"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59649719" name="Oval 7"/>
          <p:cNvSpPr/>
          <p:nvPr/>
        </p:nvSpPr>
        <p:spPr bwMode="auto"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21230374" name="Donut 10"/>
          <p:cNvSpPr/>
          <p:nvPr/>
        </p:nvSpPr>
        <p:spPr bwMode="auto">
          <a:xfrm rot="2315675">
            <a:off x="182882" y="791308"/>
            <a:ext cx="1125717" cy="826968"/>
          </a:xfrm>
          <a:prstGeom prst="donut">
            <a:avLst>
              <a:gd name="adj" fmla="val 11833"/>
            </a:avLst>
          </a:prstGeom>
          <a:gradFill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/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10841" name="Rectangle 11"/>
          <p:cNvSpPr/>
          <p:nvPr/>
        </p:nvSpPr>
        <p:spPr bwMode="auto">
          <a:xfrm>
            <a:off x="1012874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70442775" name="Title Placeholder 4"/>
          <p:cNvSpPr>
            <a:spLocks noGrp="1"/>
          </p:cNvSpPr>
          <p:nvPr>
            <p:ph type="title"/>
          </p:nvPr>
        </p:nvSpPr>
        <p:spPr bwMode="auto">
          <a:xfrm>
            <a:off x="1435608" y="205979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45993202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48535349" name="Date Placeholder 23"/>
          <p:cNvSpPr>
            <a:spLocks noGrp="1"/>
          </p:cNvSpPr>
          <p:nvPr>
            <p:ph type="dt" sz="half" idx="2"/>
          </p:nvPr>
        </p:nvSpPr>
        <p:spPr bwMode="auto"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407667694" name="Footer Placeholder 9"/>
          <p:cNvSpPr>
            <a:spLocks noGrp="1"/>
          </p:cNvSpPr>
          <p:nvPr>
            <p:ph type="ftr" sz="quarter" idx="3"/>
          </p:nvPr>
        </p:nvSpPr>
        <p:spPr bwMode="auto"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2954427" name="Slide Number Placeholder 21"/>
          <p:cNvSpPr>
            <a:spLocks noGrp="1"/>
          </p:cNvSpPr>
          <p:nvPr>
            <p:ph type="sldNum" sz="quarter" idx="4"/>
          </p:nvPr>
        </p:nvSpPr>
        <p:spPr bwMode="auto"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356584024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>
        <a:spcBef>
          <a:spcPts val="0"/>
        </a:spcBef>
        <a:buNone/>
        <a:defRPr sz="4300">
          <a:solidFill>
            <a:schemeClr val="tx2">
              <a:satMod val="130000"/>
            </a:schemeClr>
          </a:solidFill>
          <a:latin typeface="+mj-lt"/>
          <a:ea typeface="+mj-ea"/>
          <a:cs typeface="+mj-cs"/>
        </a:defRPr>
      </a:lvl1pPr>
    </p:titleStyle>
    <p:bodyStyle>
      <a:lvl1pPr marL="365760" indent="-283464" algn="l" rtl="0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>
        <a:lnSpc>
          <a:spcPct val="100000"/>
        </a:lnSpc>
        <a:spcBef>
          <a:spcPts val="0"/>
        </a:spcBef>
        <a:buClr>
          <a:schemeClr val="accent2"/>
        </a:buClr>
        <a:buFont typeface="Wingdings 2"/>
        <a:buChar char="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>
        <a:lnSpc>
          <a:spcPct val="100000"/>
        </a:lnSpc>
        <a:spcBef>
          <a:spcPts val="0"/>
        </a:spcBef>
        <a:buClr>
          <a:schemeClr val="accent3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>
        <a:lnSpc>
          <a:spcPct val="100000"/>
        </a:lnSpc>
        <a:spcBef>
          <a:spcPts val="0"/>
        </a:spcBef>
        <a:buClr>
          <a:schemeClr val="accent4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508759" indent="-182880" algn="l" rtl="0">
        <a:lnSpc>
          <a:spcPct val="100000"/>
        </a:lnSpc>
        <a:spcBef>
          <a:spcPts val="0"/>
        </a:spcBef>
        <a:buClr>
          <a:schemeClr val="accent5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150725" name="Subtitle 2"/>
          <p:cNvSpPr txBox="1"/>
          <p:nvPr/>
        </p:nvSpPr>
        <p:spPr bwMode="auto">
          <a:xfrm>
            <a:off x="1215972" y="4721298"/>
            <a:ext cx="2365428" cy="365052"/>
          </a:xfrm>
          <a:prstGeom prst="rect">
            <a:avLst/>
          </a:prstGeom>
        </p:spPr>
        <p:txBody>
          <a:bodyPr tIns="0">
            <a:normAutofit fontScale="92500"/>
          </a:bodyPr>
          <a:lstStyle>
            <a:lvl1pPr marL="27432" indent="0" algn="l"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>
                <a:latin typeface="BPG Web 002"/>
                <a:cs typeface="BPG Web 002"/>
              </a:rPr>
              <a:t>202</a:t>
            </a:r>
            <a:r>
              <a:rPr lang="ka-GE" sz="1400">
                <a:latin typeface="BPG Web 002"/>
                <a:cs typeface="BPG Web 002"/>
              </a:rPr>
              <a:t>6 წლის 23 სექტემბერი</a:t>
            </a:r>
            <a:endParaRPr lang="en-US" sz="1400">
              <a:latin typeface="BPG Web 002"/>
              <a:cs typeface="BPG Web 002"/>
            </a:endParaRPr>
          </a:p>
        </p:txBody>
      </p:sp>
      <p:sp>
        <p:nvSpPr>
          <p:cNvPr id="1297829129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113794553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pic>
        <p:nvPicPr>
          <p:cNvPr id="747811356" name="Picture 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467600" y="2876550"/>
            <a:ext cx="1368118" cy="1368118"/>
          </a:xfrm>
          <a:prstGeom prst="rect">
            <a:avLst/>
          </a:prstGeom>
        </p:spPr>
      </p:pic>
      <p:sp>
        <p:nvSpPr>
          <p:cNvPr id="1913129288" name="TextBox 14"/>
          <p:cNvSpPr txBox="1"/>
          <p:nvPr/>
        </p:nvSpPr>
        <p:spPr bwMode="auto">
          <a:xfrm>
            <a:off x="6402613" y="4331313"/>
            <a:ext cx="2712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a-GE" sz="1600">
                <a:latin typeface="BPG Web 002 Caps"/>
                <a:cs typeface="BPG Web 002 Caps"/>
              </a:rPr>
              <a:t>ტექნოლოგიის სკოლა</a:t>
            </a:r>
            <a:endParaRPr lang="en-US" sz="1600">
              <a:latin typeface="BPG Web 002 Caps"/>
              <a:cs typeface="BPG Web 002 Caps"/>
            </a:endParaRPr>
          </a:p>
        </p:txBody>
      </p:sp>
      <p:sp>
        <p:nvSpPr>
          <p:cNvPr id="1084494151" name="TextBox 15"/>
          <p:cNvSpPr txBox="1"/>
          <p:nvPr/>
        </p:nvSpPr>
        <p:spPr bwMode="auto">
          <a:xfrm>
            <a:off x="3429000" y="4685265"/>
            <a:ext cx="5406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ka-GE" sz="1200">
                <a:latin typeface="BPG Web 002 Caps"/>
                <a:cs typeface="BPG Web 002 Caps"/>
              </a:rPr>
              <a:t>ბიზნესის ტექნოლოგიისა და განათლების ფაკულტეტი</a:t>
            </a:r>
            <a:endParaRPr lang="en-US" sz="1200">
              <a:latin typeface="BPG Web 002 Caps"/>
              <a:cs typeface="BPG Web 002 Caps"/>
            </a:endParaRPr>
          </a:p>
        </p:txBody>
      </p:sp>
      <p:sp>
        <p:nvSpPr>
          <p:cNvPr id="1267620003" name="Rectangle 2"/>
          <p:cNvSpPr/>
          <p:nvPr/>
        </p:nvSpPr>
        <p:spPr bwMode="auto">
          <a:xfrm>
            <a:off x="1274461" y="1440418"/>
            <a:ext cx="36023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a-GE" sz="3000">
                <a:latin typeface="BPG WEB 001 Caps"/>
              </a:rPr>
              <a:t>პაატა გოგიშვილი</a:t>
            </a:r>
            <a:endParaRPr lang="en-US" sz="3000">
              <a:latin typeface="BPG WEB 001 Caps"/>
            </a:endParaRPr>
          </a:p>
        </p:txBody>
      </p:sp>
      <p:sp>
        <p:nvSpPr>
          <p:cNvPr id="285512898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4000" b="1">
                <a:latin typeface="BPG WEB 001 Caps"/>
                <a:cs typeface="BPG Web 002"/>
              </a:rPr>
              <a:t>კომპიუტერული ინჟინერია</a:t>
            </a:r>
            <a:endParaRPr lang="en-US" sz="4000" b="1">
              <a:latin typeface="BPG WEB 001 Caps"/>
              <a:cs typeface="BPG Web 002"/>
            </a:endParaRPr>
          </a:p>
        </p:txBody>
      </p:sp>
      <p:sp>
        <p:nvSpPr>
          <p:cNvPr id="773679353" name="TextBox 16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50158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2126237820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დღევანდელი შეხვედრა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536175658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2093688108" name="TextBox 5001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დღეს ოთხ კითხვას ვუპასუხებთ:</a:t>
            </a:r>
            <a:endParaRPr/>
          </a:p>
        </p:txBody>
      </p:sp>
      <p:sp>
        <p:nvSpPr>
          <p:cNvPr id="323777955" name="Card 5002"/>
          <p:cNvSpPr/>
          <p:nvPr/>
        </p:nvSpPr>
        <p:spPr bwMode="auto">
          <a:xfrm>
            <a:off x="1216151" y="17556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835192913" name="Badge 5003"/>
          <p:cNvSpPr/>
          <p:nvPr/>
        </p:nvSpPr>
        <p:spPr bwMode="auto">
          <a:xfrm>
            <a:off x="1399032" y="21396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660533851" name="TextBox 5004"/>
          <p:cNvSpPr/>
          <p:nvPr/>
        </p:nvSpPr>
        <p:spPr bwMode="auto">
          <a:xfrm>
            <a:off x="2084832" y="19385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რა არის კომპიუტერული ინჟინერია?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დარგი და კარიერული გზები</a:t>
            </a:r>
            <a:endParaRPr/>
          </a:p>
        </p:txBody>
      </p:sp>
      <p:sp>
        <p:nvSpPr>
          <p:cNvPr id="760793045" name="Card 5005"/>
          <p:cNvSpPr/>
          <p:nvPr/>
        </p:nvSpPr>
        <p:spPr bwMode="auto">
          <a:xfrm>
            <a:off x="5157216" y="17556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391374298" name="Badge 5006"/>
          <p:cNvSpPr/>
          <p:nvPr/>
        </p:nvSpPr>
        <p:spPr bwMode="auto">
          <a:xfrm>
            <a:off x="5340096" y="21396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539231412" name="TextBox 5007"/>
          <p:cNvSpPr/>
          <p:nvPr/>
        </p:nvSpPr>
        <p:spPr bwMode="auto">
          <a:xfrm>
            <a:off x="6025896" y="19385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როგორ არის აწყობილი პროგრამა?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4 წელი, კურსები, სილაბუსი, შეფასება</a:t>
            </a:r>
            <a:endParaRPr/>
          </a:p>
        </p:txBody>
      </p:sp>
      <p:sp>
        <p:nvSpPr>
          <p:cNvPr id="1019756973" name="Card 5008"/>
          <p:cNvSpPr/>
          <p:nvPr/>
        </p:nvSpPr>
        <p:spPr bwMode="auto">
          <a:xfrm>
            <a:off x="1216151" y="33558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438051398" name="Badge 5009"/>
          <p:cNvSpPr/>
          <p:nvPr/>
        </p:nvSpPr>
        <p:spPr bwMode="auto">
          <a:xfrm>
            <a:off x="1399032" y="37398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310517475" name="TextBox 5010"/>
          <p:cNvSpPr/>
          <p:nvPr/>
        </p:nvSpPr>
        <p:spPr bwMode="auto">
          <a:xfrm>
            <a:off x="2084832" y="35387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რა უნდა გავაკეთო ამ კვირაში?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პირველი ნაბიჯები და წესები</a:t>
            </a:r>
            <a:endParaRPr/>
          </a:p>
        </p:txBody>
      </p:sp>
      <p:sp>
        <p:nvSpPr>
          <p:cNvPr id="128686447" name="Card 5011"/>
          <p:cNvSpPr/>
          <p:nvPr/>
        </p:nvSpPr>
        <p:spPr bwMode="auto">
          <a:xfrm>
            <a:off x="5157216" y="33558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399056287" name="Badge 5012"/>
          <p:cNvSpPr/>
          <p:nvPr/>
        </p:nvSpPr>
        <p:spPr bwMode="auto">
          <a:xfrm>
            <a:off x="5340096" y="37398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315310080" name="TextBox 5013"/>
          <p:cNvSpPr/>
          <p:nvPr/>
        </p:nvSpPr>
        <p:spPr bwMode="auto">
          <a:xfrm>
            <a:off x="6025896" y="35387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ვის მივმართო?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კონტაქტები და რჩევები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087318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359669202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2800" b="1">
                <a:latin typeface="BPG WEB 001 Caps"/>
                <a:cs typeface="BPG Web 002"/>
              </a:rPr>
              <a:t>რა არის კომპიუტერული ინჟინერია?</a:t>
            </a:r>
            <a:endParaRPr lang="en-US" sz="2800" b="1">
              <a:latin typeface="BPG WEB 001 Caps"/>
              <a:cs typeface="BPG Web 002"/>
            </a:endParaRPr>
          </a:p>
        </p:txBody>
      </p:sp>
      <p:sp>
        <p:nvSpPr>
          <p:cNvPr id="288422729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4561211" name="Venn 5014"/>
          <p:cNvSpPr/>
          <p:nvPr/>
        </p:nvSpPr>
        <p:spPr bwMode="auto">
          <a:xfrm>
            <a:off x="1216151" y="1344168"/>
            <a:ext cx="2286000" cy="228600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922813506" name="Venn 5015"/>
          <p:cNvSpPr/>
          <p:nvPr/>
        </p:nvSpPr>
        <p:spPr bwMode="auto">
          <a:xfrm>
            <a:off x="2633472" y="1344168"/>
            <a:ext cx="2286000" cy="22860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910997619" name="Venn 5016"/>
          <p:cNvSpPr/>
          <p:nvPr/>
        </p:nvSpPr>
        <p:spPr bwMode="auto">
          <a:xfrm>
            <a:off x="2633472" y="1847088"/>
            <a:ext cx="868680" cy="1280160"/>
          </a:xfrm>
          <a:prstGeom prst="ellipse">
            <a:avLst/>
          </a:prstGeom>
          <a:solidFill>
            <a:srgbClr val="4F271C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</a:t>
            </a:r>
            <a:endParaRPr/>
          </a:p>
        </p:txBody>
      </p:sp>
      <p:sp>
        <p:nvSpPr>
          <p:cNvPr id="1498110079" name="TextBox 5017"/>
          <p:cNvSpPr/>
          <p:nvPr/>
        </p:nvSpPr>
        <p:spPr bwMode="auto">
          <a:xfrm>
            <a:off x="1399032" y="216712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აპარატურა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Hardware</a:t>
            </a:r>
            <a:endParaRPr/>
          </a:p>
        </p:txBody>
      </p:sp>
      <p:sp>
        <p:nvSpPr>
          <p:cNvPr id="892631729" name="TextBox 5018"/>
          <p:cNvSpPr/>
          <p:nvPr/>
        </p:nvSpPr>
        <p:spPr bwMode="auto">
          <a:xfrm>
            <a:off x="3547872" y="2167128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პროგრამა</a:t>
            </a:r>
            <a:endParaRPr/>
          </a:p>
          <a:p>
            <a:pPr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3E6D8"/>
                </a:solidFill>
                <a:latin typeface="Calibri"/>
                <a:ea typeface="Calibri"/>
                <a:cs typeface="Calibri"/>
              </a:rPr>
              <a:t>Software</a:t>
            </a:r>
            <a:endParaRPr/>
          </a:p>
        </p:txBody>
      </p:sp>
      <p:sp>
        <p:nvSpPr>
          <p:cNvPr id="1908968001" name="TextBox 5019"/>
          <p:cNvSpPr/>
          <p:nvPr/>
        </p:nvSpPr>
        <p:spPr bwMode="auto">
          <a:xfrm>
            <a:off x="1216151" y="376732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კომპიუტერული ინჟინერი ქმნის სისტემებს, სადაც კოდი ფიზიკურ სამყაროს ხვდება.</a:t>
            </a:r>
            <a:endParaRPr/>
          </a:p>
        </p:txBody>
      </p:sp>
      <p:sp>
        <p:nvSpPr>
          <p:cNvPr id="1866613346" name="Card 5020"/>
          <p:cNvSpPr/>
          <p:nvPr/>
        </p:nvSpPr>
        <p:spPr bwMode="auto">
          <a:xfrm>
            <a:off x="5285232" y="1344168"/>
            <a:ext cx="3538728" cy="13716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კომპიუტერული მეცნიერება (CS)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ალგორითმები, პროგრამული სისტემები, მონაცემები, თეორია</a:t>
            </a:r>
            <a:endParaRPr/>
          </a:p>
        </p:txBody>
      </p:sp>
      <p:sp>
        <p:nvSpPr>
          <p:cNvPr id="1928708038" name="Card 5021"/>
          <p:cNvSpPr/>
          <p:nvPr/>
        </p:nvSpPr>
        <p:spPr bwMode="auto">
          <a:xfrm>
            <a:off x="5285232" y="2898648"/>
            <a:ext cx="3538728" cy="17830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კომპიუტერული ინჟინერია (CE)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დაპროგრამება და ალგორითმები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ელექტრული წრედები და ელექტრონიკა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ციფრული ლოგიკა და კომპიუტერის არქიტექტურა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ჩაშენებული სისტემები და ქსელები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36544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541810545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2600" b="1">
                <a:latin typeface="BPG WEB 001 Caps"/>
                <a:cs typeface="BPG Web 002"/>
              </a:rPr>
              <a:t>სად მუშაობენ კომპიუტერული ინჟინრები</a:t>
            </a:r>
            <a:endParaRPr lang="en-US" sz="2600" b="1">
              <a:latin typeface="BPG WEB 001 Caps"/>
              <a:cs typeface="BPG Web 002"/>
            </a:endParaRPr>
          </a:p>
        </p:txBody>
      </p:sp>
      <p:sp>
        <p:nvSpPr>
          <p:cNvPr id="1199481860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324893066" name="Card 5022"/>
          <p:cNvSpPr/>
          <p:nvPr/>
        </p:nvSpPr>
        <p:spPr bwMode="auto">
          <a:xfrm>
            <a:off x="1216151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ჩაშენებული სისტემები და IoT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ჭკვიანი მოწყობილობები, ავტომობილები, სამედიცინო ტექნიკა</a:t>
            </a:r>
            <a:endParaRPr/>
          </a:p>
        </p:txBody>
      </p:sp>
      <p:sp>
        <p:nvSpPr>
          <p:cNvPr id="1384543897" name="Card 5023"/>
          <p:cNvSpPr/>
          <p:nvPr/>
        </p:nvSpPr>
        <p:spPr bwMode="auto">
          <a:xfrm>
            <a:off x="3828288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კომპიუტერული ქსელები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ქსელის ინჟინერია, ღრუბლოვანი ინფრასტრუქტურა</a:t>
            </a:r>
            <a:endParaRPr/>
          </a:p>
        </p:txBody>
      </p:sp>
      <p:sp>
        <p:nvSpPr>
          <p:cNvPr id="1861367949" name="Card 5024"/>
          <p:cNvSpPr/>
          <p:nvPr/>
        </p:nvSpPr>
        <p:spPr bwMode="auto">
          <a:xfrm>
            <a:off x="6440424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კიბერუსაფრთხოება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სისტემებისა და მოწყობილობების დაცვა</a:t>
            </a:r>
            <a:endParaRPr/>
          </a:p>
        </p:txBody>
      </p:sp>
      <p:sp>
        <p:nvSpPr>
          <p:cNvPr id="1527929805" name="Card 5025"/>
          <p:cNvSpPr/>
          <p:nvPr/>
        </p:nvSpPr>
        <p:spPr bwMode="auto">
          <a:xfrm>
            <a:off x="1216151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AI მოწყობილობებზე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Edge AI, რობოტიკა, კომპიუტერული ხედვა</a:t>
            </a:r>
            <a:endParaRPr/>
          </a:p>
        </p:txBody>
      </p:sp>
      <p:sp>
        <p:nvSpPr>
          <p:cNvPr id="1845580072" name="Card 5026"/>
          <p:cNvSpPr/>
          <p:nvPr/>
        </p:nvSpPr>
        <p:spPr bwMode="auto">
          <a:xfrm>
            <a:off x="3828288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პროგრამული ინჟინერია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სისტემური და აპლიკაციური პროგრამირება</a:t>
            </a:r>
            <a:endParaRPr/>
          </a:p>
        </p:txBody>
      </p:sp>
      <p:sp>
        <p:nvSpPr>
          <p:cNvPr id="278609295" name="Card 5027"/>
          <p:cNvSpPr/>
          <p:nvPr/>
        </p:nvSpPr>
        <p:spPr bwMode="auto">
          <a:xfrm>
            <a:off x="6440424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აპარატურის დიზაინი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ციფრული სქემები, FPGA, მიკროპროცესორები</a:t>
            </a:r>
            <a:endParaRPr/>
          </a:p>
        </p:txBody>
      </p:sp>
      <p:sp>
        <p:nvSpPr>
          <p:cNvPr id="2065518924" name="TextBox 5028"/>
          <p:cNvSpPr/>
          <p:nvPr/>
        </p:nvSpPr>
        <p:spPr bwMode="auto">
          <a:xfrm>
            <a:off x="1216151" y="431596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1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და, რა თქმა უნდა, მაგისტრატურა და კვლევა — საქართველოში და მის ფარგლებს გარეთ.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623811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64683387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პროგრამის რუკა: 4 წელი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1524108349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339266440" name="Line 5029"/>
          <p:cNvSpPr/>
          <p:nvPr/>
        </p:nvSpPr>
        <p:spPr bwMode="auto">
          <a:xfrm>
            <a:off x="1490472" y="1600200"/>
            <a:ext cx="7059168" cy="54864"/>
          </a:xfrm>
          <a:prstGeom prst="rect">
            <a:avLst/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374983541" name="Badge 5030"/>
          <p:cNvSpPr/>
          <p:nvPr/>
        </p:nvSpPr>
        <p:spPr bwMode="auto">
          <a:xfrm>
            <a:off x="1749933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</a:t>
            </a:r>
            <a:endParaRPr/>
          </a:p>
        </p:txBody>
      </p:sp>
      <p:sp>
        <p:nvSpPr>
          <p:cNvPr id="290745584" name="TextBox 5031"/>
          <p:cNvSpPr/>
          <p:nvPr/>
        </p:nvSpPr>
        <p:spPr bwMode="auto">
          <a:xfrm>
            <a:off x="1216151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 კურსი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საფუძვლები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მათემატიკა, ფიზიკა, დაპროგრამება</a:t>
            </a:r>
            <a:endParaRPr/>
          </a:p>
        </p:txBody>
      </p:sp>
      <p:sp>
        <p:nvSpPr>
          <p:cNvPr id="1350692130" name="Badge 5032"/>
          <p:cNvSpPr/>
          <p:nvPr/>
        </p:nvSpPr>
        <p:spPr bwMode="auto">
          <a:xfrm>
            <a:off x="3686175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</a:t>
            </a:r>
            <a:endParaRPr/>
          </a:p>
        </p:txBody>
      </p:sp>
      <p:sp>
        <p:nvSpPr>
          <p:cNvPr id="471251216" name="TextBox 5033"/>
          <p:cNvSpPr/>
          <p:nvPr/>
        </p:nvSpPr>
        <p:spPr bwMode="auto">
          <a:xfrm>
            <a:off x="3152394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II კურსი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ინჟინერიის ბირთვი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წრედები, ციფრული ლოგიკა, მონაცემთა სტრუქტურები</a:t>
            </a:r>
            <a:endParaRPr/>
          </a:p>
        </p:txBody>
      </p:sp>
      <p:sp>
        <p:nvSpPr>
          <p:cNvPr id="702016202" name="Badge 5034"/>
          <p:cNvSpPr/>
          <p:nvPr/>
        </p:nvSpPr>
        <p:spPr bwMode="auto">
          <a:xfrm>
            <a:off x="5622417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III</a:t>
            </a:r>
            <a:endParaRPr/>
          </a:p>
        </p:txBody>
      </p:sp>
      <p:sp>
        <p:nvSpPr>
          <p:cNvPr id="462770946" name="TextBox 5035"/>
          <p:cNvSpPr/>
          <p:nvPr/>
        </p:nvSpPr>
        <p:spPr bwMode="auto">
          <a:xfrm>
            <a:off x="5088636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III კურსი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სისტემები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არქიტექტურა, ოპერაციული სისტემები, ქსელები</a:t>
            </a:r>
            <a:endParaRPr/>
          </a:p>
        </p:txBody>
      </p:sp>
      <p:sp>
        <p:nvSpPr>
          <p:cNvPr id="1268217404" name="Badge 5036"/>
          <p:cNvSpPr/>
          <p:nvPr/>
        </p:nvSpPr>
        <p:spPr bwMode="auto">
          <a:xfrm>
            <a:off x="7558659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IV</a:t>
            </a:r>
            <a:endParaRPr/>
          </a:p>
        </p:txBody>
      </p:sp>
      <p:sp>
        <p:nvSpPr>
          <p:cNvPr id="2130369554" name="TextBox 5037"/>
          <p:cNvSpPr/>
          <p:nvPr/>
        </p:nvSpPr>
        <p:spPr bwMode="auto">
          <a:xfrm>
            <a:off x="7024878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IV კურსი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სპეციალიზაცია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არჩევითი კურსები და საბაკალავრო პროექტი</a:t>
            </a:r>
            <a:endParaRPr/>
          </a:p>
        </p:txBody>
      </p:sp>
      <p:sp>
        <p:nvSpPr>
          <p:cNvPr id="1709574067" name="Card 5038"/>
          <p:cNvSpPr/>
          <p:nvPr/>
        </p:nvSpPr>
        <p:spPr bwMode="auto">
          <a:xfrm>
            <a:off x="1216151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242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ECTS კრედიტი</a:t>
            </a:r>
            <a:endParaRPr/>
          </a:p>
        </p:txBody>
      </p:sp>
      <p:sp>
        <p:nvSpPr>
          <p:cNvPr id="499321722" name="Card 5039"/>
          <p:cNvSpPr/>
          <p:nvPr/>
        </p:nvSpPr>
        <p:spPr bwMode="auto">
          <a:xfrm>
            <a:off x="3828288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8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სემესტრი</a:t>
            </a:r>
            <a:endParaRPr/>
          </a:p>
        </p:txBody>
      </p:sp>
      <p:sp>
        <p:nvSpPr>
          <p:cNvPr id="1849743467" name="Card 5040"/>
          <p:cNvSpPr/>
          <p:nvPr/>
        </p:nvSpPr>
        <p:spPr bwMode="auto">
          <a:xfrm>
            <a:off x="6440424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 ECTS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≈ 25 საათი შრომა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6615313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92762379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000" b="1">
                <a:latin typeface="BPG WEB 001 Caps"/>
                <a:cs typeface="BPG Web 002"/>
              </a:rPr>
              <a:t>როგორ არის აწყობილი სწავლება</a:t>
            </a:r>
            <a:endParaRPr lang="en-US" sz="3000" b="1">
              <a:latin typeface="BPG WEB 001 Caps"/>
              <a:cs typeface="BPG Web 002"/>
            </a:endParaRPr>
          </a:p>
        </p:txBody>
      </p:sp>
      <p:sp>
        <p:nvSpPr>
          <p:cNvPr id="301918429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273927706" name="TextBox 5041"/>
          <p:cNvSpPr/>
          <p:nvPr/>
        </p:nvSpPr>
        <p:spPr bwMode="auto">
          <a:xfrm>
            <a:off x="1216151" y="120700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საგანმანათლებლო პროგრამა</a:t>
            </a:r>
            <a:r>
              <a:rPr lang="ka-GE" sz="16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 შედგება </a:t>
            </a:r>
            <a:r>
              <a:rPr lang="ka-GE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სასწავლო კურსებისგან</a:t>
            </a:r>
            <a:r>
              <a:rPr lang="ka-GE" sz="16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sp>
        <p:nvSpPr>
          <p:cNvPr id="1218147274" name="Card 5042"/>
          <p:cNvSpPr/>
          <p:nvPr/>
        </p:nvSpPr>
        <p:spPr bwMode="auto">
          <a:xfrm>
            <a:off x="1216151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საგანმანათლებლო პროგრამა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კურსების ერთობლიობა, რომელიც სწავლის შედეგებამდე მიგიყვანთ</a:t>
            </a:r>
            <a:endParaRPr/>
          </a:p>
        </p:txBody>
      </p:sp>
      <p:sp>
        <p:nvSpPr>
          <p:cNvPr id="1133654193" name="Arrow 5043"/>
          <p:cNvSpPr/>
          <p:nvPr/>
        </p:nvSpPr>
        <p:spPr bwMode="auto">
          <a:xfrm>
            <a:off x="3508248" y="2852928"/>
            <a:ext cx="32004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837015547" name="Card 5044"/>
          <p:cNvSpPr/>
          <p:nvPr/>
        </p:nvSpPr>
        <p:spPr bwMode="auto">
          <a:xfrm>
            <a:off x="3919728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სასწავლო კურსი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ლექცია, სემინარი, ლაბორატორია; თითოეულს აქვს ECTS კრედიტები</a:t>
            </a:r>
            <a:endParaRPr/>
          </a:p>
        </p:txBody>
      </p:sp>
      <p:sp>
        <p:nvSpPr>
          <p:cNvPr id="1041900503" name="Arrow 5045"/>
          <p:cNvSpPr/>
          <p:nvPr/>
        </p:nvSpPr>
        <p:spPr bwMode="auto">
          <a:xfrm>
            <a:off x="6211824" y="2852928"/>
            <a:ext cx="32004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489525539" name="Card 5046"/>
          <p:cNvSpPr/>
          <p:nvPr/>
        </p:nvSpPr>
        <p:spPr bwMode="auto">
          <a:xfrm>
            <a:off x="6623304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სილაბუსი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კურსის „ხელშეკრულება“: რას ისწავლით და როგორ შეგაფასებენ</a:t>
            </a:r>
            <a:endParaRPr/>
          </a:p>
        </p:txBody>
      </p:sp>
      <p:sp>
        <p:nvSpPr>
          <p:cNvPr id="1968158481" name="TextBox 5047"/>
          <p:cNvSpPr/>
          <p:nvPr/>
        </p:nvSpPr>
        <p:spPr bwMode="auto">
          <a:xfrm>
            <a:off x="1216151" y="431596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0" i="1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ყოველ კურსს თავისი სილაბუსი აქვს — მას ლექტორისგან ან სასწავლო სისტემიდან მიიღებთ.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752885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572148155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000" b="1">
                <a:latin typeface="BPG WEB 001 Caps"/>
                <a:cs typeface="BPG Web 002"/>
              </a:rPr>
              <a:t>სილაბუსი: რას ვეძებთ მასში</a:t>
            </a:r>
            <a:endParaRPr lang="en-US" sz="3000" b="1">
              <a:latin typeface="BPG WEB 001 Caps"/>
              <a:cs typeface="BPG Web 002"/>
            </a:endParaRPr>
          </a:p>
        </p:txBody>
      </p:sp>
      <p:sp>
        <p:nvSpPr>
          <p:cNvPr id="1318909012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668227220" name="TextBox 5048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სასწავლო კურსის აღწერას ჰქვია სილაბუსი. მასში მოძებნეთ:</a:t>
            </a:r>
            <a:endParaRPr/>
          </a:p>
        </p:txBody>
      </p:sp>
      <p:sp>
        <p:nvSpPr>
          <p:cNvPr id="745812911" name="Badge 5049"/>
          <p:cNvSpPr/>
          <p:nvPr/>
        </p:nvSpPr>
        <p:spPr bwMode="auto">
          <a:xfrm>
            <a:off x="1216151" y="179222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235748204" name="TextBox 5050"/>
          <p:cNvSpPr/>
          <p:nvPr/>
        </p:nvSpPr>
        <p:spPr bwMode="auto">
          <a:xfrm>
            <a:off x="1673352" y="17556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სწავლის შედეგები — რას შეძლებთ კურსის ბოლოს</a:t>
            </a:r>
            <a:endParaRPr/>
          </a:p>
        </p:txBody>
      </p:sp>
      <p:sp>
        <p:nvSpPr>
          <p:cNvPr id="1225192158" name="Badge 5051"/>
          <p:cNvSpPr/>
          <p:nvPr/>
        </p:nvSpPr>
        <p:spPr bwMode="auto">
          <a:xfrm>
            <a:off x="1216151" y="229514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404924780" name="TextBox 5052"/>
          <p:cNvSpPr/>
          <p:nvPr/>
        </p:nvSpPr>
        <p:spPr bwMode="auto">
          <a:xfrm>
            <a:off x="1673352" y="225856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წინაპირობები — რა უნდა იცოდეთ დაწყებამდე</a:t>
            </a:r>
            <a:endParaRPr/>
          </a:p>
        </p:txBody>
      </p:sp>
      <p:sp>
        <p:nvSpPr>
          <p:cNvPr id="92442812" name="Badge 5053"/>
          <p:cNvSpPr/>
          <p:nvPr/>
        </p:nvSpPr>
        <p:spPr bwMode="auto">
          <a:xfrm>
            <a:off x="1216151" y="279806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567203264" name="TextBox 5054"/>
          <p:cNvSpPr/>
          <p:nvPr/>
        </p:nvSpPr>
        <p:spPr bwMode="auto">
          <a:xfrm>
            <a:off x="1673352" y="276148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შეფასების კომპონენტები და მათი წონა</a:t>
            </a:r>
            <a:endParaRPr/>
          </a:p>
        </p:txBody>
      </p:sp>
      <p:sp>
        <p:nvSpPr>
          <p:cNvPr id="2091625623" name="Badge 5055"/>
          <p:cNvSpPr/>
          <p:nvPr/>
        </p:nvSpPr>
        <p:spPr bwMode="auto">
          <a:xfrm>
            <a:off x="1216151" y="330098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825696890" name="TextBox 5056"/>
          <p:cNvSpPr/>
          <p:nvPr/>
        </p:nvSpPr>
        <p:spPr bwMode="auto">
          <a:xfrm>
            <a:off x="1673352" y="326440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გამოცდების მინიმალური ზღვარი</a:t>
            </a:r>
            <a:endParaRPr/>
          </a:p>
        </p:txBody>
      </p:sp>
      <p:sp>
        <p:nvSpPr>
          <p:cNvPr id="19703989" name="Badge 5057"/>
          <p:cNvSpPr/>
          <p:nvPr/>
        </p:nvSpPr>
        <p:spPr bwMode="auto">
          <a:xfrm>
            <a:off x="1216151" y="380390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812519175" name="TextBox 5058"/>
          <p:cNvSpPr/>
          <p:nvPr/>
        </p:nvSpPr>
        <p:spPr bwMode="auto">
          <a:xfrm>
            <a:off x="1673352" y="376732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დასწრების წესი</a:t>
            </a:r>
            <a:endParaRPr/>
          </a:p>
        </p:txBody>
      </p:sp>
      <p:sp>
        <p:nvSpPr>
          <p:cNvPr id="1994887515" name="Badge 5059"/>
          <p:cNvSpPr/>
          <p:nvPr/>
        </p:nvSpPr>
        <p:spPr bwMode="auto">
          <a:xfrm>
            <a:off x="1216151" y="430682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522421874" name="TextBox 5060"/>
          <p:cNvSpPr/>
          <p:nvPr/>
        </p:nvSpPr>
        <p:spPr bwMode="auto">
          <a:xfrm>
            <a:off x="1673352" y="42702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ლიტერატურა და ლექტორის კონტაქტი</a:t>
            </a:r>
            <a:endParaRPr/>
          </a:p>
        </p:txBody>
      </p:sp>
      <p:sp>
        <p:nvSpPr>
          <p:cNvPr id="1846731430" name="Card 5061"/>
          <p:cNvSpPr/>
          <p:nvPr/>
        </p:nvSpPr>
        <p:spPr bwMode="auto">
          <a:xfrm>
            <a:off x="6245352" y="1755648"/>
            <a:ext cx="2578608" cy="292608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228600" tIns="228600" rIns="228600" bIns="22860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2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რჩევა</a:t>
            </a: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სილაბუსი პირველ კვირაშივე წაიკითხეთ.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სემესტრის ბოლოს სიურპრიზები აღარ დაგხვდებათ.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674454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4000" b="1">
                <a:latin typeface="BPG WEB 001 Caps"/>
                <a:cs typeface="BPG Web 002"/>
              </a:rPr>
              <a:t>კომპიუტერული ინჟინერია</a:t>
            </a:r>
            <a:endParaRPr lang="en-US" sz="4000" b="1">
              <a:latin typeface="BPG WEB 001 Caps"/>
              <a:cs typeface="BPG Web 002"/>
            </a:endParaRPr>
          </a:p>
        </p:txBody>
      </p:sp>
      <p:sp>
        <p:nvSpPr>
          <p:cNvPr id="81388761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535231936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18873711" name="TextBox 12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913618277" name="Rectangle 2"/>
          <p:cNvSpPr/>
          <p:nvPr/>
        </p:nvSpPr>
        <p:spPr bwMode="auto">
          <a:xfrm>
            <a:off x="1274461" y="1440418"/>
            <a:ext cx="718373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a-GE" sz="3000">
                <a:latin typeface="Calibri"/>
                <a:ea typeface="Calibri"/>
                <a:cs typeface="Calibri"/>
              </a:rPr>
              <a:t>სასწავლო კურსები</a:t>
            </a:r>
            <a:r>
              <a:rPr lang="en-US" sz="3000">
                <a:latin typeface="Calibri"/>
                <a:ea typeface="Calibri"/>
                <a:cs typeface="Calibri"/>
              </a:rPr>
              <a:t> </a:t>
            </a:r>
            <a:r>
              <a:rPr lang="ka-GE" sz="3000">
                <a:latin typeface="Calibri"/>
                <a:ea typeface="Calibri"/>
                <a:cs typeface="Calibri"/>
              </a:rPr>
              <a:t>უნდა აირჩიოთ </a:t>
            </a:r>
            <a:r>
              <a:rPr lang="ka-GE" sz="3000" b="1" u="sng">
                <a:latin typeface="Calibri"/>
                <a:ea typeface="Calibri"/>
                <a:cs typeface="Calibri"/>
              </a:rPr>
              <a:t>თავად</a:t>
            </a:r>
            <a:endParaRPr lang="en-US" sz="3000" b="1" u="sng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3000" b="1" u="sng"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ka-GE" sz="3000" b="1" u="sng">
                <a:latin typeface="Calibri"/>
                <a:ea typeface="Calibri"/>
                <a:cs typeface="Calibri"/>
              </a:rPr>
              <a:t>არჩევანის თავისუფლება</a:t>
            </a:r>
            <a:r>
              <a:rPr lang="ka-GE" sz="3000">
                <a:latin typeface="Calibri"/>
                <a:ea typeface="Calibri"/>
                <a:cs typeface="Calibri"/>
              </a:rPr>
              <a:t> არის დიდი ფუფუნება, რასაც </a:t>
            </a:r>
            <a:r>
              <a:rPr lang="ka-GE" sz="3000" b="1" u="sng">
                <a:latin typeface="Calibri"/>
                <a:ea typeface="Calibri"/>
                <a:cs typeface="Calibri"/>
              </a:rPr>
              <a:t>გამოწვევებიც</a:t>
            </a:r>
            <a:r>
              <a:rPr lang="ka-GE" sz="3000">
                <a:latin typeface="Calibri"/>
                <a:ea typeface="Calibri"/>
                <a:cs typeface="Calibri"/>
              </a:rPr>
              <a:t> ახლავს თან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384430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751096853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შეფასების სისტემა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578952852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300326959" name="TextBox 5062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100-ქულიანი სისტემა</a:t>
            </a:r>
            <a:endParaRPr/>
          </a:p>
        </p:txBody>
      </p:sp>
      <p:sp>
        <p:nvSpPr>
          <p:cNvPr id="1050352928" name="Grade 5063"/>
          <p:cNvSpPr/>
          <p:nvPr/>
        </p:nvSpPr>
        <p:spPr bwMode="auto">
          <a:xfrm>
            <a:off x="1216151" y="1664208"/>
            <a:ext cx="1050253" cy="868680"/>
          </a:xfrm>
          <a:prstGeom prst="rect">
            <a:avLst/>
          </a:prstGeom>
          <a:solidFill>
            <a:srgbClr val="C32D2E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0–40</a:t>
            </a:r>
            <a:endParaRPr/>
          </a:p>
        </p:txBody>
      </p:sp>
      <p:sp>
        <p:nvSpPr>
          <p:cNvPr id="873846518" name="Grade 5064"/>
          <p:cNvSpPr/>
          <p:nvPr/>
        </p:nvSpPr>
        <p:spPr bwMode="auto">
          <a:xfrm>
            <a:off x="2302981" y="1664208"/>
            <a:ext cx="1050253" cy="868680"/>
          </a:xfrm>
          <a:prstGeom prst="rect">
            <a:avLst/>
          </a:prstGeom>
          <a:solidFill>
            <a:srgbClr val="E0752D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FX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41–50</a:t>
            </a:r>
            <a:endParaRPr/>
          </a:p>
        </p:txBody>
      </p:sp>
      <p:sp>
        <p:nvSpPr>
          <p:cNvPr id="1553428247" name="Grade 5065"/>
          <p:cNvSpPr/>
          <p:nvPr/>
        </p:nvSpPr>
        <p:spPr bwMode="auto">
          <a:xfrm>
            <a:off x="3389811" y="1664208"/>
            <a:ext cx="1050253" cy="868680"/>
          </a:xfrm>
          <a:prstGeom prst="rect">
            <a:avLst/>
          </a:prstGeom>
          <a:solidFill>
            <a:srgbClr val="D9A520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51–60</a:t>
            </a:r>
            <a:endParaRPr/>
          </a:p>
        </p:txBody>
      </p:sp>
      <p:sp>
        <p:nvSpPr>
          <p:cNvPr id="999180087" name="Grade 5066"/>
          <p:cNvSpPr/>
          <p:nvPr/>
        </p:nvSpPr>
        <p:spPr bwMode="auto">
          <a:xfrm>
            <a:off x="4476641" y="1664208"/>
            <a:ext cx="1050253" cy="868680"/>
          </a:xfrm>
          <a:prstGeom prst="rect">
            <a:avLst/>
          </a:prstGeom>
          <a:solidFill>
            <a:srgbClr val="B5B53A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61–70</a:t>
            </a:r>
            <a:endParaRPr/>
          </a:p>
        </p:txBody>
      </p:sp>
      <p:sp>
        <p:nvSpPr>
          <p:cNvPr id="1067166017" name="Grade 5067"/>
          <p:cNvSpPr/>
          <p:nvPr/>
        </p:nvSpPr>
        <p:spPr bwMode="auto">
          <a:xfrm>
            <a:off x="5563470" y="1664208"/>
            <a:ext cx="1050253" cy="868680"/>
          </a:xfrm>
          <a:prstGeom prst="rect">
            <a:avLst/>
          </a:prstGeom>
          <a:solidFill>
            <a:srgbClr val="84AA33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71–80</a:t>
            </a:r>
            <a:endParaRPr/>
          </a:p>
        </p:txBody>
      </p:sp>
      <p:sp>
        <p:nvSpPr>
          <p:cNvPr id="1042949080" name="Grade 5068"/>
          <p:cNvSpPr/>
          <p:nvPr/>
        </p:nvSpPr>
        <p:spPr bwMode="auto">
          <a:xfrm>
            <a:off x="6650300" y="1664208"/>
            <a:ext cx="1050253" cy="868680"/>
          </a:xfrm>
          <a:prstGeom prst="rect">
            <a:avLst/>
          </a:prstGeom>
          <a:solidFill>
            <a:srgbClr val="4E9A4A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81–90</a:t>
            </a:r>
            <a:endParaRPr/>
          </a:p>
        </p:txBody>
      </p:sp>
      <p:sp>
        <p:nvSpPr>
          <p:cNvPr id="1721236628" name="Grade 5069"/>
          <p:cNvSpPr/>
          <p:nvPr/>
        </p:nvSpPr>
        <p:spPr bwMode="auto">
          <a:xfrm>
            <a:off x="7737130" y="1664208"/>
            <a:ext cx="1050253" cy="8686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91–100</a:t>
            </a:r>
            <a:endParaRPr/>
          </a:p>
        </p:txBody>
      </p:sp>
      <p:sp>
        <p:nvSpPr>
          <p:cNvPr id="368120724" name="Card 5070"/>
          <p:cNvSpPr/>
          <p:nvPr/>
        </p:nvSpPr>
        <p:spPr bwMode="auto">
          <a:xfrm>
            <a:off x="1216151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a-GE" sz="1800" b="1" i="0">
                <a:solidFill>
                  <a:srgbClr val="84AA33"/>
                </a:solidFill>
                <a:latin typeface="Calibri"/>
                <a:ea typeface="Calibri"/>
                <a:cs typeface="Calibri"/>
              </a:rPr>
              <a:t>51+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კურსი ჩათვლილია</a:t>
            </a:r>
            <a:endParaRPr/>
          </a:p>
        </p:txBody>
      </p:sp>
      <p:sp>
        <p:nvSpPr>
          <p:cNvPr id="1728629091" name="Card 5071"/>
          <p:cNvSpPr/>
          <p:nvPr/>
        </p:nvSpPr>
        <p:spPr bwMode="auto">
          <a:xfrm>
            <a:off x="3828288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a-GE" sz="1800" b="1" i="0">
                <a:solidFill>
                  <a:srgbClr val="E0752D"/>
                </a:solidFill>
                <a:latin typeface="Calibri"/>
                <a:ea typeface="Calibri"/>
                <a:cs typeface="Calibri"/>
              </a:rPr>
              <a:t>FX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დამატებით გამოცდაზე გასვლის უფლება</a:t>
            </a:r>
            <a:endParaRPr/>
          </a:p>
        </p:txBody>
      </p:sp>
      <p:sp>
        <p:nvSpPr>
          <p:cNvPr id="1313255311" name="Card 5072"/>
          <p:cNvSpPr/>
          <p:nvPr/>
        </p:nvSpPr>
        <p:spPr bwMode="auto">
          <a:xfrm>
            <a:off x="6440424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a-GE" sz="1800" b="1" i="0">
                <a:solidFill>
                  <a:srgbClr val="C32D2E"/>
                </a:solidFill>
                <a:latin typeface="Calibri"/>
                <a:ea typeface="Calibri"/>
                <a:cs typeface="Calibri"/>
              </a:rPr>
              <a:t>F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კურსი ხელახლა უნდა გაიაროთ</a:t>
            </a:r>
            <a:endParaRPr/>
          </a:p>
        </p:txBody>
      </p:sp>
      <p:sp>
        <p:nvSpPr>
          <p:cNvPr id="846319624" name="TextBox 5073"/>
          <p:cNvSpPr/>
          <p:nvPr/>
        </p:nvSpPr>
        <p:spPr bwMode="auto">
          <a:xfrm>
            <a:off x="1216151" y="3950208"/>
            <a:ext cx="760780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საბოლოო ქულა = მიმდინარე აქტივობები + შუალედური + დასკვნითი გამოცდა. თითოეულის წონა და მინიმალური ზღვარი სილაბუსშია — ზღვარს ვერ გადალახავთ, ჯამი არ გიშველით.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497810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535073959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000" b="1">
                <a:latin typeface="BPG WEB 001 Caps"/>
                <a:cs typeface="BPG Web 002"/>
              </a:rPr>
              <a:t>პირველი სემესტრის კურსები</a:t>
            </a:r>
            <a:endParaRPr lang="en-US" sz="3000" b="1">
              <a:latin typeface="BPG WEB 001 Caps"/>
              <a:cs typeface="BPG Web 002"/>
            </a:endParaRPr>
          </a:p>
        </p:txBody>
      </p:sp>
      <p:sp>
        <p:nvSpPr>
          <p:cNvPr id="104472029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348065394" name="TextBox 5074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სად მიგიყვანთ ეს სამი კურსი:</a:t>
            </a:r>
            <a:endParaRPr/>
          </a:p>
        </p:txBody>
      </p:sp>
      <p:sp>
        <p:nvSpPr>
          <p:cNvPr id="1398505764" name="Card 5075"/>
          <p:cNvSpPr/>
          <p:nvPr/>
        </p:nvSpPr>
        <p:spPr bwMode="auto">
          <a:xfrm>
            <a:off x="1216151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კალკულუსი I</a:t>
            </a:r>
            <a:endParaRPr/>
          </a:p>
        </p:txBody>
      </p:sp>
      <p:sp>
        <p:nvSpPr>
          <p:cNvPr id="337687577" name="Arrow 5076"/>
          <p:cNvSpPr/>
          <p:nvPr/>
        </p:nvSpPr>
        <p:spPr bwMode="auto">
          <a:xfrm>
            <a:off x="3538728" y="190195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834216906" name="Card 5077"/>
          <p:cNvSpPr/>
          <p:nvPr/>
        </p:nvSpPr>
        <p:spPr bwMode="auto">
          <a:xfrm>
            <a:off x="3904487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კალკულუსი II</a:t>
            </a:r>
            <a:endParaRPr/>
          </a:p>
        </p:txBody>
      </p:sp>
      <p:sp>
        <p:nvSpPr>
          <p:cNvPr id="907785398" name="Arrow 5078"/>
          <p:cNvSpPr/>
          <p:nvPr/>
        </p:nvSpPr>
        <p:spPr bwMode="auto">
          <a:xfrm>
            <a:off x="6227063" y="190195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940808195" name="Card 5079"/>
          <p:cNvSpPr/>
          <p:nvPr/>
        </p:nvSpPr>
        <p:spPr bwMode="auto">
          <a:xfrm>
            <a:off x="6592823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სიგნალები და სისტემები</a:t>
            </a:r>
            <a:endParaRPr/>
          </a:p>
        </p:txBody>
      </p:sp>
      <p:sp>
        <p:nvSpPr>
          <p:cNvPr id="1282915672" name="Card 5080"/>
          <p:cNvSpPr/>
          <p:nvPr/>
        </p:nvSpPr>
        <p:spPr bwMode="auto">
          <a:xfrm>
            <a:off x="1216151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შესავალი დაპროგრამებაში</a:t>
            </a:r>
            <a:endParaRPr/>
          </a:p>
        </p:txBody>
      </p:sp>
      <p:sp>
        <p:nvSpPr>
          <p:cNvPr id="1492510391" name="Arrow 5081"/>
          <p:cNvSpPr/>
          <p:nvPr/>
        </p:nvSpPr>
        <p:spPr bwMode="auto">
          <a:xfrm>
            <a:off x="3538728" y="277063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474142111" name="Card 5082"/>
          <p:cNvSpPr/>
          <p:nvPr/>
        </p:nvSpPr>
        <p:spPr bwMode="auto">
          <a:xfrm>
            <a:off x="3904487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მონაცემთა სტრუქტურები</a:t>
            </a:r>
            <a:endParaRPr/>
          </a:p>
        </p:txBody>
      </p:sp>
      <p:sp>
        <p:nvSpPr>
          <p:cNvPr id="1063633729" name="Arrow 5083"/>
          <p:cNvSpPr/>
          <p:nvPr/>
        </p:nvSpPr>
        <p:spPr bwMode="auto">
          <a:xfrm>
            <a:off x="6227063" y="277063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032254885" name="Card 5084"/>
          <p:cNvSpPr/>
          <p:nvPr/>
        </p:nvSpPr>
        <p:spPr bwMode="auto">
          <a:xfrm>
            <a:off x="6592823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ოპერაციული სისტემები</a:t>
            </a:r>
            <a:endParaRPr/>
          </a:p>
        </p:txBody>
      </p:sp>
      <p:sp>
        <p:nvSpPr>
          <p:cNvPr id="1142132176" name="Card 5085"/>
          <p:cNvSpPr/>
          <p:nvPr/>
        </p:nvSpPr>
        <p:spPr bwMode="auto">
          <a:xfrm>
            <a:off x="1216151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ფიზიკის საფუძვლები I</a:t>
            </a:r>
            <a:endParaRPr/>
          </a:p>
        </p:txBody>
      </p:sp>
      <p:sp>
        <p:nvSpPr>
          <p:cNvPr id="666592833" name="Arrow 5086"/>
          <p:cNvSpPr/>
          <p:nvPr/>
        </p:nvSpPr>
        <p:spPr bwMode="auto">
          <a:xfrm>
            <a:off x="3538728" y="363931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350969170" name="Card 5087"/>
          <p:cNvSpPr/>
          <p:nvPr/>
        </p:nvSpPr>
        <p:spPr bwMode="auto">
          <a:xfrm>
            <a:off x="3904487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ელექტრული წრედები</a:t>
            </a:r>
            <a:endParaRPr/>
          </a:p>
        </p:txBody>
      </p:sp>
      <p:sp>
        <p:nvSpPr>
          <p:cNvPr id="1930263136" name="Arrow 5088"/>
          <p:cNvSpPr/>
          <p:nvPr/>
        </p:nvSpPr>
        <p:spPr bwMode="auto">
          <a:xfrm>
            <a:off x="6227063" y="363931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436752673" name="Card 5089"/>
          <p:cNvSpPr/>
          <p:nvPr/>
        </p:nvSpPr>
        <p:spPr bwMode="auto">
          <a:xfrm>
            <a:off x="6592823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ციფრული ლოგიკა</a:t>
            </a:r>
            <a:endParaRPr/>
          </a:p>
        </p:txBody>
      </p:sp>
      <p:sp>
        <p:nvSpPr>
          <p:cNvPr id="610759359" name="TextBox 5090"/>
          <p:cNvSpPr/>
          <p:nvPr/>
        </p:nvSpPr>
        <p:spPr bwMode="auto">
          <a:xfrm>
            <a:off x="1216151" y="436168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ეს კურსები წინაპირობებია: ჩავარდნა მთელ ჯაჭვს ერთი სემესტრით აყოვნებს.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1076934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26164977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ამ კვირის 5 ნაბიჯი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854064239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043500700" name="Badge 5091"/>
          <p:cNvSpPr/>
          <p:nvPr/>
        </p:nvSpPr>
        <p:spPr bwMode="auto">
          <a:xfrm>
            <a:off x="1216151" y="1252728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636689933" name="TextBox 5092"/>
          <p:cNvSpPr/>
          <p:nvPr/>
        </p:nvSpPr>
        <p:spPr bwMode="auto">
          <a:xfrm>
            <a:off x="1856232" y="1207008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გაააქტიურეთ უნივერსიტეტის ელფოსტა და სასწავლო სისტემის ანგარიში</a:t>
            </a:r>
            <a:endParaRPr/>
          </a:p>
        </p:txBody>
      </p:sp>
      <p:sp>
        <p:nvSpPr>
          <p:cNvPr id="958468910" name="Badge 5093"/>
          <p:cNvSpPr/>
          <p:nvPr/>
        </p:nvSpPr>
        <p:spPr bwMode="auto">
          <a:xfrm>
            <a:off x="1216151" y="1947671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2026967491" name="TextBox 5094"/>
          <p:cNvSpPr/>
          <p:nvPr/>
        </p:nvSpPr>
        <p:spPr bwMode="auto">
          <a:xfrm>
            <a:off x="1856232" y="1901952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დარეგისტრირდით პირველი სემესტრის კურსებზე — ვადებს მიჰყევით</a:t>
            </a:r>
            <a:endParaRPr/>
          </a:p>
        </p:txBody>
      </p:sp>
      <p:sp>
        <p:nvSpPr>
          <p:cNvPr id="1141090151" name="Badge 5095"/>
          <p:cNvSpPr/>
          <p:nvPr/>
        </p:nvSpPr>
        <p:spPr bwMode="auto">
          <a:xfrm>
            <a:off x="1216151" y="2642615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1206432308" name="TextBox 5096"/>
          <p:cNvSpPr/>
          <p:nvPr/>
        </p:nvSpPr>
        <p:spPr bwMode="auto">
          <a:xfrm>
            <a:off x="1856232" y="2596896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წაიკითხეთ თითოეული კურსის სილაბუსი</a:t>
            </a:r>
            <a:endParaRPr/>
          </a:p>
        </p:txBody>
      </p:sp>
      <p:sp>
        <p:nvSpPr>
          <p:cNvPr id="2088577814" name="Badge 5097"/>
          <p:cNvSpPr/>
          <p:nvPr/>
        </p:nvSpPr>
        <p:spPr bwMode="auto">
          <a:xfrm>
            <a:off x="1216151" y="3337560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645986477" name="TextBox 5098"/>
          <p:cNvSpPr/>
          <p:nvPr/>
        </p:nvSpPr>
        <p:spPr bwMode="auto">
          <a:xfrm>
            <a:off x="1856232" y="329184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შეადგინეთ კვირის განრიგი: ლექციები + დამოუკიდებელი მუშაობა</a:t>
            </a:r>
            <a:endParaRPr/>
          </a:p>
        </p:txBody>
      </p:sp>
      <p:sp>
        <p:nvSpPr>
          <p:cNvPr id="1371361841" name="Badge 5099"/>
          <p:cNvSpPr/>
          <p:nvPr/>
        </p:nvSpPr>
        <p:spPr bwMode="auto">
          <a:xfrm>
            <a:off x="1216151" y="4032504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877105378" name="TextBox 5100"/>
          <p:cNvSpPr/>
          <p:nvPr/>
        </p:nvSpPr>
        <p:spPr bwMode="auto">
          <a:xfrm>
            <a:off x="1856232" y="3986784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გაიცანით თქვენი კოორდინატორი — ოთახი 207</a:t>
            </a:r>
            <a:endParaRPr/>
          </a:p>
        </p:txBody>
      </p:sp>
      <p:sp>
        <p:nvSpPr>
          <p:cNvPr id="117499935" name="Card 5101"/>
          <p:cNvSpPr/>
          <p:nvPr/>
        </p:nvSpPr>
        <p:spPr bwMode="auto">
          <a:xfrm>
            <a:off x="6382512" y="1207008"/>
            <a:ext cx="2441448" cy="342900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3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≈ 40 სთ</a:t>
            </a:r>
            <a:endParaRPr/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a-GE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კვირაში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30 ECTS სემესტრში ≈ 750 საათი შრომა. სწავლა სრული განაკვეთის სამუშაოა.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799747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512142713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2600" b="1">
                <a:latin typeface="BPG WEB 001 Caps"/>
                <a:cs typeface="BPG Web 002"/>
              </a:rPr>
              <a:t>AI და აკადემიური კეთილსინდისიერება</a:t>
            </a:r>
            <a:endParaRPr lang="en-US" sz="2600" b="1">
              <a:latin typeface="BPG WEB 001 Caps"/>
              <a:cs typeface="BPG Web 002"/>
            </a:endParaRPr>
          </a:p>
        </p:txBody>
      </p:sp>
      <p:sp>
        <p:nvSpPr>
          <p:cNvPr id="2031895986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076756100" name="Card 5102"/>
          <p:cNvSpPr/>
          <p:nvPr/>
        </p:nvSpPr>
        <p:spPr bwMode="auto">
          <a:xfrm>
            <a:off x="1216151" y="1207008"/>
            <a:ext cx="3666744" cy="2377440"/>
          </a:xfrm>
          <a:prstGeom prst="roundRect">
            <a:avLst>
              <a:gd name="adj" fmla="val 8000"/>
            </a:avLst>
          </a:prstGeom>
          <a:solidFill>
            <a:srgbClr val="EEF3E3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ka-GE" sz="1500" b="1" i="0">
                <a:solidFill>
                  <a:srgbClr val="2E7D4F"/>
                </a:solidFill>
                <a:latin typeface="Calibri"/>
                <a:ea typeface="Calibri"/>
                <a:cs typeface="Calibri"/>
              </a:rPr>
              <a:t>✓  შეიძლება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ახსნა სთხოვოთ, როცა თემა ვერ გაიგეთ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საკუთარ კოდში შეცდომა მოძებნოთ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სავარჯიშოდ დამატებითი ამოცანები მიიღოთ</a:t>
            </a:r>
            <a:endParaRPr/>
          </a:p>
        </p:txBody>
      </p:sp>
      <p:sp>
        <p:nvSpPr>
          <p:cNvPr id="877886446" name="Card 5103"/>
          <p:cNvSpPr/>
          <p:nvPr/>
        </p:nvSpPr>
        <p:spPr bwMode="auto">
          <a:xfrm>
            <a:off x="5157216" y="1207008"/>
            <a:ext cx="3666744" cy="2377440"/>
          </a:xfrm>
          <a:prstGeom prst="roundRect">
            <a:avLst>
              <a:gd name="adj" fmla="val 8000"/>
            </a:avLst>
          </a:prstGeom>
          <a:solidFill>
            <a:srgbClr val="F8E6E2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ka-GE" sz="1500" b="1" i="0">
                <a:solidFill>
                  <a:srgbClr val="C32D2E"/>
                </a:solidFill>
                <a:latin typeface="Calibri"/>
                <a:ea typeface="Calibri"/>
                <a:cs typeface="Calibri"/>
              </a:rPr>
              <a:t>✗  არ შეიძლება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ჩააბაროთ დავალება, რომელიც AI-მ დაწერა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გამოიყენოთ კოდი, რომელიც არ გესმით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სხვისი ნაშრომი საკუთარად წარადგინოთ</a:t>
            </a:r>
            <a:endParaRPr/>
          </a:p>
        </p:txBody>
      </p:sp>
      <p:sp>
        <p:nvSpPr>
          <p:cNvPr id="899055561" name="Card 5104"/>
          <p:cNvSpPr/>
          <p:nvPr/>
        </p:nvSpPr>
        <p:spPr bwMode="auto">
          <a:xfrm>
            <a:off x="1216151" y="3813048"/>
            <a:ext cx="7607808" cy="82296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4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მარტივი წესი: </a:t>
            </a:r>
            <a:r>
              <a:rPr lang="ka-GE"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თუ ვერ ახსნი, შენი არ არის.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კონკრეტული წესები თითოეული კურსის სილაბუსშია.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021907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403013252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000" b="1">
                <a:latin typeface="BPG WEB 001 Caps"/>
                <a:cs typeface="BPG Web 002"/>
              </a:rPr>
              <a:t>რას გთავაზობთ პროგრამა</a:t>
            </a:r>
            <a:endParaRPr lang="en-US" sz="3000" b="1">
              <a:latin typeface="BPG WEB 001 Caps"/>
              <a:cs typeface="BPG Web 002"/>
            </a:endParaRPr>
          </a:p>
        </p:txBody>
      </p:sp>
      <p:sp>
        <p:nvSpPr>
          <p:cNvPr id="1722076210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598920698" name="Card 5105"/>
          <p:cNvSpPr/>
          <p:nvPr/>
        </p:nvSpPr>
        <p:spPr bwMode="auto">
          <a:xfrm>
            <a:off x="1216151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2013131916" name="Badge 5106"/>
          <p:cNvSpPr/>
          <p:nvPr/>
        </p:nvSpPr>
        <p:spPr bwMode="auto">
          <a:xfrm>
            <a:off x="1380744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001660813" name="TextBox 5107"/>
          <p:cNvSpPr/>
          <p:nvPr/>
        </p:nvSpPr>
        <p:spPr bwMode="auto">
          <a:xfrm>
            <a:off x="1380744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გამოთვლითი ცენტრი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ლაბორატორიები და აღჭურვილობა პრაქტიკული მუშაობისთვის</a:t>
            </a:r>
            <a:endParaRPr/>
          </a:p>
        </p:txBody>
      </p:sp>
      <p:sp>
        <p:nvSpPr>
          <p:cNvPr id="518766454" name="Card 5108"/>
          <p:cNvSpPr/>
          <p:nvPr/>
        </p:nvSpPr>
        <p:spPr bwMode="auto">
          <a:xfrm>
            <a:off x="3828288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062559216" name="Badge 5109"/>
          <p:cNvSpPr/>
          <p:nvPr/>
        </p:nvSpPr>
        <p:spPr bwMode="auto">
          <a:xfrm>
            <a:off x="3992880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309340170" name="TextBox 5110"/>
          <p:cNvSpPr/>
          <p:nvPr/>
        </p:nvSpPr>
        <p:spPr bwMode="auto">
          <a:xfrm>
            <a:off x="3992880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ABET სტანდარტი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პროგრამა ემზადება საერთაშორისო ABET EAC აკრედიტაციისთვის</a:t>
            </a:r>
            <a:endParaRPr/>
          </a:p>
        </p:txBody>
      </p:sp>
      <p:sp>
        <p:nvSpPr>
          <p:cNvPr id="1848190191" name="Card 5111"/>
          <p:cNvSpPr/>
          <p:nvPr/>
        </p:nvSpPr>
        <p:spPr bwMode="auto">
          <a:xfrm>
            <a:off x="6440424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581015872" name="Badge 5112"/>
          <p:cNvSpPr/>
          <p:nvPr/>
        </p:nvSpPr>
        <p:spPr bwMode="auto">
          <a:xfrm>
            <a:off x="6605016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1274002721" name="TextBox 5113"/>
          <p:cNvSpPr/>
          <p:nvPr/>
        </p:nvSpPr>
        <p:spPr bwMode="auto">
          <a:xfrm>
            <a:off x="6605016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Erasmus+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სემესტრი პარტნიორ ევროპულ უნივერსიტეტში</a:t>
            </a:r>
            <a:endParaRPr/>
          </a:p>
        </p:txBody>
      </p:sp>
      <p:sp>
        <p:nvSpPr>
          <p:cNvPr id="781239672" name="Card 5114"/>
          <p:cNvSpPr/>
          <p:nvPr/>
        </p:nvSpPr>
        <p:spPr bwMode="auto">
          <a:xfrm>
            <a:off x="1216151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679283920" name="Badge 5115"/>
          <p:cNvSpPr/>
          <p:nvPr/>
        </p:nvSpPr>
        <p:spPr bwMode="auto">
          <a:xfrm>
            <a:off x="1380744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394572941" name="TextBox 5116"/>
          <p:cNvSpPr/>
          <p:nvPr/>
        </p:nvSpPr>
        <p:spPr bwMode="auto">
          <a:xfrm>
            <a:off x="1380744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სტაჟირება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პრაქტიკა კომპანიებში უფროს კურსებზე</a:t>
            </a:r>
            <a:endParaRPr/>
          </a:p>
        </p:txBody>
      </p:sp>
      <p:sp>
        <p:nvSpPr>
          <p:cNvPr id="1328423195" name="Card 5117"/>
          <p:cNvSpPr/>
          <p:nvPr/>
        </p:nvSpPr>
        <p:spPr bwMode="auto">
          <a:xfrm>
            <a:off x="3828288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319328560" name="Badge 5118"/>
          <p:cNvSpPr/>
          <p:nvPr/>
        </p:nvSpPr>
        <p:spPr bwMode="auto">
          <a:xfrm>
            <a:off x="3992880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575082504" name="TextBox 5119"/>
          <p:cNvSpPr/>
          <p:nvPr/>
        </p:nvSpPr>
        <p:spPr bwMode="auto">
          <a:xfrm>
            <a:off x="3992880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კლუბები და ოლიმპიადები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პროგრამირების შეჯიბრები, ჰაკათონები, პროექტები</a:t>
            </a:r>
            <a:endParaRPr/>
          </a:p>
        </p:txBody>
      </p:sp>
      <p:sp>
        <p:nvSpPr>
          <p:cNvPr id="21142387" name="Card 5120"/>
          <p:cNvSpPr/>
          <p:nvPr/>
        </p:nvSpPr>
        <p:spPr bwMode="auto">
          <a:xfrm>
            <a:off x="6440424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ka-GE"/>
          </a:p>
        </p:txBody>
      </p:sp>
      <p:sp>
        <p:nvSpPr>
          <p:cNvPr id="1134758766" name="Badge 5121"/>
          <p:cNvSpPr/>
          <p:nvPr/>
        </p:nvSpPr>
        <p:spPr bwMode="auto">
          <a:xfrm>
            <a:off x="6605016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6</a:t>
            </a:r>
            <a:endParaRPr/>
          </a:p>
        </p:txBody>
      </p:sp>
      <p:sp>
        <p:nvSpPr>
          <p:cNvPr id="1586856925" name="TextBox 5122"/>
          <p:cNvSpPr/>
          <p:nvPr/>
        </p:nvSpPr>
        <p:spPr bwMode="auto">
          <a:xfrm>
            <a:off x="6605016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ka-GE" sz="13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კვლევა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ჩაერთეთ ლექტორების კვლევით პროექტებში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9386774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220830694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3200" b="1">
                <a:latin typeface="BPG WEB 001 Caps"/>
                <a:cs typeface="BPG Web 002"/>
              </a:rPr>
              <a:t>ვის მივმართოთ</a:t>
            </a:r>
            <a:endParaRPr lang="en-US" sz="3200" b="1">
              <a:latin typeface="BPG WEB 001 Caps"/>
              <a:cs typeface="BPG Web 002"/>
            </a:endParaRPr>
          </a:p>
        </p:txBody>
      </p:sp>
      <p:sp>
        <p:nvSpPr>
          <p:cNvPr id="1625857016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1773255647" name="TextBox 5123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შეკითხვები დაუსვით — ამისთვის ვართ აქ.</a:t>
            </a:r>
            <a:endParaRPr/>
          </a:p>
        </p:txBody>
      </p:sp>
      <p:sp>
        <p:nvSpPr>
          <p:cNvPr id="791130504" name="Card 5124"/>
          <p:cNvSpPr/>
          <p:nvPr/>
        </p:nvSpPr>
        <p:spPr bwMode="auto">
          <a:xfrm>
            <a:off x="1216151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1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პროგრამის კოორდინატორი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ანა ჭრელაშვილი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ოთახი 207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რეგისტრაცია, კურსების არჩევა, ადმინისტრაციული საკითხები</a:t>
            </a:r>
            <a:endParaRPr/>
          </a:p>
        </p:txBody>
      </p:sp>
      <p:sp>
        <p:nvSpPr>
          <p:cNvPr id="410434494" name="Card 5125"/>
          <p:cNvSpPr/>
          <p:nvPr/>
        </p:nvSpPr>
        <p:spPr bwMode="auto">
          <a:xfrm>
            <a:off x="3828288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1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პროგრამის ხელმძღვანელი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პაატა გოგიშვილი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ტექნოლოგიების სკოლა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აკადემიური მიმართულება, სპეციალიზაცია, კარიერა</a:t>
            </a:r>
            <a:endParaRPr/>
          </a:p>
        </p:txBody>
      </p:sp>
      <p:sp>
        <p:nvSpPr>
          <p:cNvPr id="27607168" name="Card 5126"/>
          <p:cNvSpPr/>
          <p:nvPr/>
        </p:nvSpPr>
        <p:spPr bwMode="auto">
          <a:xfrm>
            <a:off x="6440424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ka-GE" sz="11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ლექტორები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ka-GE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საკონსულტაციო საათები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იხ. სილაბუსში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1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კურსის შინაარსი, დავალებები, შეფასება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298167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108172475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2800" b="1">
                <a:latin typeface="BPG WEB 001 Caps"/>
                <a:cs typeface="BPG Web 002"/>
              </a:rPr>
              <a:t>5 რჩევა პირველი სემესტრისთვის</a:t>
            </a:r>
            <a:endParaRPr lang="en-US" sz="2800" b="1">
              <a:latin typeface="BPG WEB 001 Caps"/>
              <a:cs typeface="BPG Web 002"/>
            </a:endParaRPr>
          </a:p>
        </p:txBody>
      </p:sp>
      <p:sp>
        <p:nvSpPr>
          <p:cNvPr id="1616863885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  <p:sp>
        <p:nvSpPr>
          <p:cNvPr id="546210565" name="Card 5127"/>
          <p:cNvSpPr/>
          <p:nvPr/>
        </p:nvSpPr>
        <p:spPr bwMode="auto">
          <a:xfrm>
            <a:off x="1216151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დაესწარით ყველა ლექციას პირველი კვირიდან</a:t>
            </a:r>
            <a:endParaRPr/>
          </a:p>
        </p:txBody>
      </p:sp>
      <p:sp>
        <p:nvSpPr>
          <p:cNvPr id="1129275998" name="Card 5128"/>
          <p:cNvSpPr/>
          <p:nvPr/>
        </p:nvSpPr>
        <p:spPr bwMode="auto">
          <a:xfrm>
            <a:off x="2765145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დავალებას ბოლო ღამისთვის ნუ გადადებთ</a:t>
            </a:r>
            <a:endParaRPr/>
          </a:p>
        </p:txBody>
      </p:sp>
      <p:sp>
        <p:nvSpPr>
          <p:cNvPr id="1893819323" name="Card 5129"/>
          <p:cNvSpPr/>
          <p:nvPr/>
        </p:nvSpPr>
        <p:spPr bwMode="auto">
          <a:xfrm>
            <a:off x="4314139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იკითხეთ — სულელური შეკითხვა არ არსებობს</a:t>
            </a:r>
            <a:endParaRPr/>
          </a:p>
        </p:txBody>
      </p:sp>
      <p:sp>
        <p:nvSpPr>
          <p:cNvPr id="954204081" name="Card 5130"/>
          <p:cNvSpPr/>
          <p:nvPr/>
        </p:nvSpPr>
        <p:spPr bwMode="auto">
          <a:xfrm>
            <a:off x="5863132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იპოვეთ სასწავლო ჯგუფი</a:t>
            </a:r>
            <a:endParaRPr/>
          </a:p>
        </p:txBody>
      </p:sp>
      <p:sp>
        <p:nvSpPr>
          <p:cNvPr id="780150638" name="Card 5131"/>
          <p:cNvSpPr/>
          <p:nvPr/>
        </p:nvSpPr>
        <p:spPr bwMode="auto">
          <a:xfrm>
            <a:off x="7412126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ka-GE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a-GE" sz="125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წერეთ კოდი ყოველდღე, თუნდაც ცოტა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82992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a-GE" sz="4000" b="1">
                <a:latin typeface="BPG WEB 001 Caps"/>
                <a:cs typeface="BPG Web 002"/>
              </a:rPr>
              <a:t>საუკეთესო რჩევა</a:t>
            </a:r>
            <a:endParaRPr lang="en-US" sz="4000" b="1">
              <a:latin typeface="BPG WEB 001 Caps"/>
              <a:cs typeface="BPG Web 002"/>
            </a:endParaRPr>
          </a:p>
        </p:txBody>
      </p:sp>
      <p:sp>
        <p:nvSpPr>
          <p:cNvPr id="1226058681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15844488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699179545" name="TextBox 2"/>
          <p:cNvSpPr txBox="1"/>
          <p:nvPr/>
        </p:nvSpPr>
        <p:spPr bwMode="auto">
          <a:xfrm>
            <a:off x="1250428" y="2543456"/>
            <a:ext cx="708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4000"/>
              <a:t>არასდროს შეწყვიტო სწავლა!</a:t>
            </a:r>
            <a:endParaRPr lang="en-US" sz="4000"/>
          </a:p>
        </p:txBody>
      </p:sp>
      <p:sp>
        <p:nvSpPr>
          <p:cNvPr id="920401031" name="TextBox 10"/>
          <p:cNvSpPr txBox="1"/>
          <p:nvPr/>
        </p:nvSpPr>
        <p:spPr bwMode="auto">
          <a:xfrm rot="5400000">
            <a:off x="-1371644" y="2836591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a-GE" sz="1500">
                <a:solidFill>
                  <a:schemeClr val="accent5"/>
                </a:solidFill>
                <a:latin typeface="BPG Web 002 Caps"/>
                <a:cs typeface="BPG Web 002 Caps"/>
              </a:rPr>
              <a:t>ილიას სახელმწიფო უნივერსიტეტი</a:t>
            </a:r>
            <a:endParaRPr lang="en-US" sz="1500">
              <a:solidFill>
                <a:schemeClr val="accent5"/>
              </a:solidFill>
              <a:latin typeface="BPG Web 002 Caps"/>
              <a:cs typeface="BPG Web 002 Cap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Solstice">
      <a:fillStyleLst>
        <a:solidFill>
          <a:schemeClr val="phClr"/>
        </a:solidFill>
        <a:gradFill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/>
        </a:gradFill>
        <a:gradFill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/>
        </a:gradFill>
        <a:blipFill rotWithShape="1">
          <a:blip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algn="tl" flip="xy" sx="90000" sy="90000" tx="0" ty="0"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ხელოვნური ინტელექტი</dc:title>
  <dc:creator>amigo</dc:creator>
  <cp:lastModifiedBy/>
  <cp:revision>736</cp:revision>
  <dcterms:created xsi:type="dcterms:W3CDTF">2016-09-13T18:38:05Z</dcterms:created>
  <dcterms:modified xsi:type="dcterms:W3CDTF">2026-09-23T10:20:21Z</dcterms:modified>
</cp:coreProperties>
</file>